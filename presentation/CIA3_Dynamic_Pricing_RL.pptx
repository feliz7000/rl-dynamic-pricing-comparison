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not the method: same pricing problem, four RL algorithms, which sets better prices and why. Everything in the project exists to answer that fairly and measurably.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beats: problem, MDP, the counterfactual demand model, the four algorithms, the live race, results, training behaviour, caveats. About 12-15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pricing = re-setting a price repeatedly as demand, traffic and competitors change. A human does it by rules of thumb and re-prices rarely; an RL agent does it by trial, reward and correction, every period.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Alibaba's supply-chain team deployed RL pricing on Tmall.com from July 2018. Three ideas carry into our project: pricing as an MDP; DRCR as the reward instead of raw revenue; and the DQN vs DDPG field test. Scaled to manual = 1.00, DDPG scored 6.07 and DQN 5.03 over a 30-day phase.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keeps the paper's states, action and reward fixed and swaps only the algorithm. This codebase turns that written comparison into a measured one: a real environment, four trained agents, held-out products, three seeds, and a dashboard where every number traces back to a checkpoint.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35 numbers in five groups, all known before the price is set. Action: a new price within plus or minus 25 percent of the entering price. Reward: 100 times DRCR. Each product has 15 months: 3 warm-up, 12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records what sold at the one price the seller charged. An RL agent proposes prices nobody charged, so something must predict what would have sold. That something is the demand model, and it is the environment's physics. Every policy, including the seller's own path, is scored through the same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is a fixed-effects log-log elasticity regression, demeaned within product. A pooled fit gave a positive price coefficient because products priced high for unrelated reasons also sold well; demeaning removed that confound. Layer two is a shallow gradient-boosted residual, capped at three standard deviations so it can bend the curve but never flip it. Guard rails stop agents from exploiting the model off-distribution.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dataset is Kaggle's Retail Price Optimization, derived from Olist: one row per product-month with price, units, freight, score, three competitor prices, lag price. The sandbox had no internet, so results today use a schema-identical synthetic panel generated from an explicit elasticity law. Swapping in the real CSV needs no code changes.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Gymnasium environment. Reset picks a product and loads three warm-up months. Each step: observe, act, decode to a price, guard, ask the demand model, compute RCR and the reward, roll the agent's own history forward, load the next real month. Training episodes may bootstrap past month 15; evaluation never does.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DQN never outputs a price directly; it scores the 11 moves and picks the best. Two stabilisers: replay buffer and a target network. Mention the scheduling handicap honestly before someone asks why it is below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networks: the actor maps state to one price, the critic scores state-price pairs, and the actor is nudged in whatever direction the critic says raises the score. The hand-scheduled noise is the weakness SAC was chosen to remove.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PPO learns a distribution over prices and improves it by a bounded amount after each fresh batch. Two implementation details: actor and critic have separate optimisers and separate gradient clipping; clipping them together silently crushes the policy gradient. Slower to learn, by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SAC is DDPG's off-policy actor-critic with three upgrades: entropy in the objective, twin critics with the minimum, and a learned temperature. Nothing is scheduled by hand. It won on both mean and stability.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Section 6 table, now with the measured column. Read across: type, action space, on/off policy, how it explores, its strength, its limitation, and what it actually scored.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DRCR number means nothing alone, so three references are scored through the identical environment. Everything that could bias the comparison is held equal. Each algorithm also had to learn a standard Gymnasium task with the same code before touching this environment; that separates a broken learner from a broken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seeds times 15,000 steps, evaluated on the 20 held-out products. Test DRCR is the trained reward; revenue vs seller is the intuitive version through the same demand model. The two agree on the ranking. DQN is below the do-nothing baseline on this budget.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mean test DRCR with error bars across seeds. Right: the per-seed spread. SAC's three seeds land within 0.002 of each other; DQN's range from 0.0005 to 0.058, which is the exploration-schedule problem showing up as variance.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rolling reward, dominated by product-level shocks. Right: the running mean since step zero, where the noise averages out. SAC and DDPG converge on top by about 3,000 steps; PPO climbs steadily from minus one and has not plateaued at 15,000; DQN stays below zero.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docs/index.html, Simulate tab. Left: held-out products ranked by uplift vs the seller. Press Play: each month the four agents re-price; the dashed line is what the seller charged; hollow dots are guard hits; the scoreboard updates. Below, the race chart shows cumulative revenue gained vs the seller — above zero is beating the human.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line is a policy's simulated revenue minus what the seller's own prices earn through the same model, accumulated month by month. SAC, PPO and DDPG climb to roughly six to seven thousand above the seller over twelve months; DQN slips below.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What-if tab. Pick a product and month, drag the price: units fall, revenue moves, DRCR updates. The markers show where the seller priced and where each agent priced that month. This is the single best way to explain the counterfactual model — and why the agents raise prices: for most products revenue keeps rising with price up to the guard.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claims the data supports, and one that it does not. Continuous beats bucketed; entropy-regularised exploration is more stable than a hand-scheduled noise process; PPO is competitive but slower. What it does not show: that raising prices to the guard would work on a real market — that depends on the true elasticity, and the paper's field test is the evidence for that, not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honest limitations. Say them yourself; they are much cheaper to own than to be asked about.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value per hour. The 50k run is one command and fixes the DQN confound. The real CSV needs no code changes. More seeds tighten the intervals. Per-category elasticity and a richer traffic proxy are modelling improvements; offline RL is the methodological step the paper's cold-start problem points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shared problem, four learners, one fair protocol, one measured answer. SAC best and steadiest; continuous beats bucketed; PPO robust but slow; everything reproducible from one script and visible in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how can you score a price never charged (the demand model, same for every policy); why do agents raise prices (inelastic fitted demand); why is DQN below baseline (buckets plus the unfinished epsilon schedule); why is PPO behind SAC (sample efficiency, still climbing); how do you know the RL code is right (CartPole and Pendulum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a:t>
            </a:r>
          </a:p>
        </p:txBody>
      </p:sp>
      <p:sp>
        <p:nvSpPr>
          <p:cNvPr id="5" name="TextBox 4"/>
          <p:cNvSpPr txBox="1"/>
          <p:nvPr/>
        </p:nvSpPr>
        <p:spPr>
          <a:xfrm>
            <a:off x="548640" y="1828800"/>
            <a:ext cx="11094415" cy="36576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E1A339"/>
                </a:solidFill>
                <a:latin typeface="Consolas"/>
              </a:rPr>
              <a:t>CSEAM731 · REINFORCEMENT LEARNING · CIA-3</a:t>
            </a:r>
          </a:p>
        </p:txBody>
      </p:sp>
      <p:sp>
        <p:nvSpPr>
          <p:cNvPr id="6" name="TextBox 5"/>
          <p:cNvSpPr txBox="1"/>
          <p:nvPr/>
        </p:nvSpPr>
        <p:spPr>
          <a:xfrm>
            <a:off x="548640" y="2194560"/>
            <a:ext cx="11094415" cy="914400"/>
          </a:xfrm>
          <a:prstGeom prst="rect">
            <a:avLst/>
          </a:prstGeom>
          <a:noFill/>
        </p:spPr>
        <p:txBody>
          <a:bodyPr wrap="square" anchor="t" lIns="45720" rIns="45720" tIns="27432" bIns="27432">
            <a:spAutoFit/>
          </a:bodyPr>
          <a:lstStyle/>
          <a:p>
            <a:pPr algn="l">
              <a:lnSpc>
                <a:spcPct val="115000"/>
              </a:lnSpc>
              <a:spcAft>
                <a:spcPts val="600"/>
              </a:spcAft>
            </a:pPr>
            <a:r>
              <a:rPr sz="4000" b="0" i="0">
                <a:solidFill>
                  <a:srgbClr val="EDEAE1"/>
                </a:solidFill>
                <a:latin typeface="Georgia"/>
              </a:rPr>
              <a:t>Dynamic Pricing with Reinforcement Learning</a:t>
            </a:r>
          </a:p>
        </p:txBody>
      </p:sp>
      <p:sp>
        <p:nvSpPr>
          <p:cNvPr id="7" name="TextBox 6"/>
          <p:cNvSpPr txBox="1"/>
          <p:nvPr/>
        </p:nvSpPr>
        <p:spPr>
          <a:xfrm>
            <a:off x="548640" y="315468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8C97A3"/>
                </a:solidFill>
                <a:latin typeface="Calibri"/>
              </a:rPr>
              <a:t>DQN · DDPG · PPO · SAC on one shared pricing MDP — a measured comparison</a:t>
            </a:r>
          </a:p>
        </p:txBody>
      </p:sp>
      <p:sp>
        <p:nvSpPr>
          <p:cNvPr id="8" name="Rectangle 7"/>
          <p:cNvSpPr/>
          <p:nvPr/>
        </p:nvSpPr>
        <p:spPr>
          <a:xfrm>
            <a:off x="548640" y="4160520"/>
            <a:ext cx="1097280" cy="2800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343400"/>
            <a:ext cx="11094415" cy="109728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Based on Liu et al. (2019), “Dynamic Pricing on E-commerce Platform with Deep Reinforcement Learning: A Field Experiment” (arXiv:1912.02572)</a:t>
            </a:r>
          </a:p>
          <a:p>
            <a:pPr algn="l">
              <a:lnSpc>
                <a:spcPct val="115000"/>
              </a:lnSpc>
              <a:spcAft>
                <a:spcPts val="600"/>
              </a:spcAft>
            </a:pPr>
            <a:r>
              <a:rPr sz="1300" b="0" i="0">
                <a:solidFill>
                  <a:srgbClr val="8C97A3"/>
                </a:solidFill>
                <a:latin typeface="Calibri"/>
              </a:rPr>
              <a:t>Code, data pipeline, trained agents and interactive dashboard: github.com/Feliz7000/rl-dynamic-pricing-comparison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AGENDA</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What we will cover</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a:t>
            </a:r>
          </a:p>
        </p:txBody>
      </p:sp>
      <p:sp>
        <p:nvSpPr>
          <p:cNvPr id="8" name="TextBox 7"/>
          <p:cNvSpPr txBox="1"/>
          <p:nvPr/>
        </p:nvSpPr>
        <p:spPr>
          <a:xfrm>
            <a:off x="548640" y="146304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1</a:t>
            </a:r>
          </a:p>
        </p:txBody>
      </p:sp>
      <p:sp>
        <p:nvSpPr>
          <p:cNvPr id="9" name="TextBox 8"/>
          <p:cNvSpPr txBox="1"/>
          <p:nvPr/>
        </p:nvSpPr>
        <p:spPr>
          <a:xfrm>
            <a:off x="1097280" y="148132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The problem and the source paper</a:t>
            </a:r>
          </a:p>
        </p:txBody>
      </p:sp>
      <p:sp>
        <p:nvSpPr>
          <p:cNvPr id="10" name="TextBox 9"/>
          <p:cNvSpPr txBox="1"/>
          <p:nvPr/>
        </p:nvSpPr>
        <p:spPr>
          <a:xfrm>
            <a:off x="1097280" y="187452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Why dynamic pricing, what Alibaba field-tested on Tmall</a:t>
            </a:r>
          </a:p>
        </p:txBody>
      </p:sp>
      <p:sp>
        <p:nvSpPr>
          <p:cNvPr id="11" name="TextBox 10"/>
          <p:cNvSpPr txBox="1"/>
          <p:nvPr/>
        </p:nvSpPr>
        <p:spPr>
          <a:xfrm>
            <a:off x="6233007" y="146304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2</a:t>
            </a:r>
          </a:p>
        </p:txBody>
      </p:sp>
      <p:sp>
        <p:nvSpPr>
          <p:cNvPr id="12" name="TextBox 11"/>
          <p:cNvSpPr txBox="1"/>
          <p:nvPr/>
        </p:nvSpPr>
        <p:spPr>
          <a:xfrm>
            <a:off x="6781647" y="148132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One shared MDP</a:t>
            </a:r>
          </a:p>
        </p:txBody>
      </p:sp>
      <p:sp>
        <p:nvSpPr>
          <p:cNvPr id="13" name="TextBox 12"/>
          <p:cNvSpPr txBox="1"/>
          <p:nvPr/>
        </p:nvSpPr>
        <p:spPr>
          <a:xfrm>
            <a:off x="6781647" y="187452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State, action and reward every algorithm sees</a:t>
            </a:r>
          </a:p>
        </p:txBody>
      </p:sp>
      <p:sp>
        <p:nvSpPr>
          <p:cNvPr id="14" name="TextBox 13"/>
          <p:cNvSpPr txBox="1"/>
          <p:nvPr/>
        </p:nvSpPr>
        <p:spPr>
          <a:xfrm>
            <a:off x="548640" y="269748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3</a:t>
            </a:r>
          </a:p>
        </p:txBody>
      </p:sp>
      <p:sp>
        <p:nvSpPr>
          <p:cNvPr id="15" name="TextBox 14"/>
          <p:cNvSpPr txBox="1"/>
          <p:nvPr/>
        </p:nvSpPr>
        <p:spPr>
          <a:xfrm>
            <a:off x="1097280" y="271576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The hard part: a demand model</a:t>
            </a:r>
          </a:p>
        </p:txBody>
      </p:sp>
      <p:sp>
        <p:nvSpPr>
          <p:cNvPr id="16" name="TextBox 15"/>
          <p:cNvSpPr txBox="1"/>
          <p:nvPr/>
        </p:nvSpPr>
        <p:spPr>
          <a:xfrm>
            <a:off x="1097280" y="310896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How to score a price nobody ever charged</a:t>
            </a:r>
          </a:p>
        </p:txBody>
      </p:sp>
      <p:sp>
        <p:nvSpPr>
          <p:cNvPr id="17" name="TextBox 16"/>
          <p:cNvSpPr txBox="1"/>
          <p:nvPr/>
        </p:nvSpPr>
        <p:spPr>
          <a:xfrm>
            <a:off x="6233007" y="269748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4</a:t>
            </a:r>
          </a:p>
        </p:txBody>
      </p:sp>
      <p:sp>
        <p:nvSpPr>
          <p:cNvPr id="18" name="TextBox 17"/>
          <p:cNvSpPr txBox="1"/>
          <p:nvPr/>
        </p:nvSpPr>
        <p:spPr>
          <a:xfrm>
            <a:off x="6781647" y="271576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Four algorithms</a:t>
            </a:r>
          </a:p>
        </p:txBody>
      </p:sp>
      <p:sp>
        <p:nvSpPr>
          <p:cNvPr id="19" name="TextBox 18"/>
          <p:cNvSpPr txBox="1"/>
          <p:nvPr/>
        </p:nvSpPr>
        <p:spPr>
          <a:xfrm>
            <a:off x="6781647" y="310896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DQN, DDPG, PPO, SAC — what each does differently</a:t>
            </a:r>
          </a:p>
        </p:txBody>
      </p:sp>
      <p:sp>
        <p:nvSpPr>
          <p:cNvPr id="20" name="TextBox 19"/>
          <p:cNvSpPr txBox="1"/>
          <p:nvPr/>
        </p:nvSpPr>
        <p:spPr>
          <a:xfrm>
            <a:off x="548640" y="393192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5</a:t>
            </a:r>
          </a:p>
        </p:txBody>
      </p:sp>
      <p:sp>
        <p:nvSpPr>
          <p:cNvPr id="21" name="TextBox 20"/>
          <p:cNvSpPr txBox="1"/>
          <p:nvPr/>
        </p:nvSpPr>
        <p:spPr>
          <a:xfrm>
            <a:off x="1097280" y="395020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Fair-comparison protocol</a:t>
            </a:r>
          </a:p>
        </p:txBody>
      </p:sp>
      <p:sp>
        <p:nvSpPr>
          <p:cNvPr id="22" name="TextBox 21"/>
          <p:cNvSpPr txBox="1"/>
          <p:nvPr/>
        </p:nvSpPr>
        <p:spPr>
          <a:xfrm>
            <a:off x="1097280" y="434340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Baselines, budgets, seeds, held-out products</a:t>
            </a:r>
          </a:p>
        </p:txBody>
      </p:sp>
      <p:sp>
        <p:nvSpPr>
          <p:cNvPr id="23" name="TextBox 22"/>
          <p:cNvSpPr txBox="1"/>
          <p:nvPr/>
        </p:nvSpPr>
        <p:spPr>
          <a:xfrm>
            <a:off x="6233007" y="393192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6</a:t>
            </a:r>
          </a:p>
        </p:txBody>
      </p:sp>
      <p:sp>
        <p:nvSpPr>
          <p:cNvPr id="24" name="TextBox 23"/>
          <p:cNvSpPr txBox="1"/>
          <p:nvPr/>
        </p:nvSpPr>
        <p:spPr>
          <a:xfrm>
            <a:off x="6781647" y="395020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Results and the live race</a:t>
            </a:r>
          </a:p>
        </p:txBody>
      </p:sp>
      <p:sp>
        <p:nvSpPr>
          <p:cNvPr id="25" name="TextBox 24"/>
          <p:cNvSpPr txBox="1"/>
          <p:nvPr/>
        </p:nvSpPr>
        <p:spPr>
          <a:xfrm>
            <a:off x="6781647" y="434340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Measured DRCR, revenue vs. the seller, dashboard</a:t>
            </a:r>
          </a:p>
        </p:txBody>
      </p:sp>
      <p:sp>
        <p:nvSpPr>
          <p:cNvPr id="26" name="TextBox 25"/>
          <p:cNvSpPr txBox="1"/>
          <p:nvPr/>
        </p:nvSpPr>
        <p:spPr>
          <a:xfrm>
            <a:off x="548640" y="5166360"/>
            <a:ext cx="548640" cy="54864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1A339"/>
                </a:solidFill>
                <a:latin typeface="Georgia"/>
              </a:rPr>
              <a:t>7</a:t>
            </a:r>
          </a:p>
        </p:txBody>
      </p:sp>
      <p:sp>
        <p:nvSpPr>
          <p:cNvPr id="27" name="TextBox 26"/>
          <p:cNvSpPr txBox="1"/>
          <p:nvPr/>
        </p:nvSpPr>
        <p:spPr>
          <a:xfrm>
            <a:off x="1097280" y="5184648"/>
            <a:ext cx="4861407" cy="45720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Caveats and next steps</a:t>
            </a:r>
          </a:p>
        </p:txBody>
      </p:sp>
      <p:sp>
        <p:nvSpPr>
          <p:cNvPr id="28" name="TextBox 27"/>
          <p:cNvSpPr txBox="1"/>
          <p:nvPr/>
        </p:nvSpPr>
        <p:spPr>
          <a:xfrm>
            <a:off x="1097280" y="5577840"/>
            <a:ext cx="4861407" cy="548640"/>
          </a:xfrm>
          <a:prstGeom prst="rect">
            <a:avLst/>
          </a:prstGeom>
          <a:noFill/>
        </p:spPr>
        <p:txBody>
          <a:bodyPr wrap="square" anchor="t" lIns="45720" rIns="45720" tIns="27432" bIns="27432">
            <a:spAutoFit/>
          </a:bodyPr>
          <a:lstStyle/>
          <a:p>
            <a:pPr algn="l">
              <a:lnSpc>
                <a:spcPct val="115000"/>
              </a:lnSpc>
              <a:spcAft>
                <a:spcPts val="600"/>
              </a:spcAft>
            </a:pPr>
            <a:r>
              <a:rPr sz="1300" b="0" i="0">
                <a:solidFill>
                  <a:srgbClr val="8C97A3"/>
                </a:solidFill>
                <a:latin typeface="Calibri"/>
              </a:rPr>
              <a:t>What the numbers do and do not show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1 · THE PROBLEM</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Prices should move with the market</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3</a:t>
            </a:r>
          </a:p>
        </p:txBody>
      </p:sp>
      <p:sp>
        <p:nvSpPr>
          <p:cNvPr id="8" name="Rectangle 7"/>
          <p:cNvSpPr/>
          <p:nvPr/>
        </p:nvSpPr>
        <p:spPr>
          <a:xfrm>
            <a:off x="548640" y="1463040"/>
            <a:ext cx="3566160" cy="219456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54864" cy="219456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554480"/>
            <a:ext cx="329184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STATIC PRICING</a:t>
            </a:r>
          </a:p>
        </p:txBody>
      </p:sp>
      <p:sp>
        <p:nvSpPr>
          <p:cNvPr id="11" name="TextBox 10"/>
          <p:cNvSpPr txBox="1"/>
          <p:nvPr/>
        </p:nvSpPr>
        <p:spPr>
          <a:xfrm>
            <a:off x="685800" y="1920240"/>
            <a:ext cx="3291840" cy="1645920"/>
          </a:xfrm>
          <a:prstGeom prst="rect">
            <a:avLst/>
          </a:prstGeom>
          <a:noFill/>
        </p:spPr>
        <p:txBody>
          <a:bodyPr wrap="square" lIns="45720" rIns="45720">
            <a:spAutoFit/>
          </a:bodyPr>
          <a:lstStyle/>
          <a:p>
            <a:pPr>
              <a:lnSpc>
                <a:spcPct val="112000"/>
              </a:lnSpc>
              <a:spcAft>
                <a:spcPts val="400"/>
              </a:spcAft>
            </a:pPr>
            <a:r>
              <a:rPr sz="1300">
                <a:solidFill>
                  <a:srgbClr val="E1A339"/>
                </a:solidFill>
                <a:latin typeface="Calibri"/>
              </a:rPr>
              <a:t>• </a:t>
            </a:r>
            <a:r>
              <a:rPr sz="1300" b="0" i="0">
                <a:solidFill>
                  <a:srgbClr val="EDEAE1"/>
                </a:solidFill>
                <a:latin typeface="Calibri"/>
              </a:rPr>
              <a:t>One price, set once, held for weeks</a:t>
            </a:r>
          </a:p>
          <a:p>
            <a:pPr>
              <a:lnSpc>
                <a:spcPct val="112000"/>
              </a:lnSpc>
              <a:spcAft>
                <a:spcPts val="400"/>
              </a:spcAft>
            </a:pPr>
            <a:r>
              <a:rPr sz="1300">
                <a:solidFill>
                  <a:srgbClr val="E1A339"/>
                </a:solidFill>
                <a:latin typeface="Calibri"/>
              </a:rPr>
              <a:t>• </a:t>
            </a:r>
            <a:r>
              <a:rPr sz="1300" b="0" i="0">
                <a:solidFill>
                  <a:srgbClr val="EDEAE1"/>
                </a:solidFill>
                <a:latin typeface="Calibri"/>
              </a:rPr>
              <a:t>Blind to traffic swings, seasonality, competitor moves</a:t>
            </a:r>
          </a:p>
          <a:p>
            <a:pPr>
              <a:lnSpc>
                <a:spcPct val="112000"/>
              </a:lnSpc>
              <a:spcAft>
                <a:spcPts val="400"/>
              </a:spcAft>
            </a:pPr>
            <a:r>
              <a:rPr sz="1300">
                <a:solidFill>
                  <a:srgbClr val="E1A339"/>
                </a:solidFill>
                <a:latin typeface="Calibri"/>
              </a:rPr>
              <a:t>• </a:t>
            </a:r>
            <a:r>
              <a:rPr sz="1300" b="0" i="0">
                <a:solidFill>
                  <a:srgbClr val="EDEAE1"/>
                </a:solidFill>
                <a:latin typeface="Calibri"/>
              </a:rPr>
              <a:t>Leaves revenue on the table in both directions</a:t>
            </a:r>
          </a:p>
        </p:txBody>
      </p:sp>
      <p:sp>
        <p:nvSpPr>
          <p:cNvPr id="12" name="Rectangle 11"/>
          <p:cNvSpPr/>
          <p:nvPr/>
        </p:nvSpPr>
        <p:spPr>
          <a:xfrm>
            <a:off x="4343400" y="1463040"/>
            <a:ext cx="3566160" cy="219456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463040"/>
            <a:ext cx="54864" cy="219456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554480"/>
            <a:ext cx="329184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DYNAMIC PRICING</a:t>
            </a:r>
          </a:p>
        </p:txBody>
      </p:sp>
      <p:sp>
        <p:nvSpPr>
          <p:cNvPr id="15" name="TextBox 14"/>
          <p:cNvSpPr txBox="1"/>
          <p:nvPr/>
        </p:nvSpPr>
        <p:spPr>
          <a:xfrm>
            <a:off x="4480560" y="1920240"/>
            <a:ext cx="3291840" cy="1645920"/>
          </a:xfrm>
          <a:prstGeom prst="rect">
            <a:avLst/>
          </a:prstGeom>
          <a:noFill/>
        </p:spPr>
        <p:txBody>
          <a:bodyPr wrap="square" lIns="45720" rIns="45720">
            <a:spAutoFit/>
          </a:bodyPr>
          <a:lstStyle/>
          <a:p>
            <a:pPr>
              <a:lnSpc>
                <a:spcPct val="112000"/>
              </a:lnSpc>
              <a:spcAft>
                <a:spcPts val="400"/>
              </a:spcAft>
            </a:pPr>
            <a:r>
              <a:rPr sz="1300">
                <a:solidFill>
                  <a:srgbClr val="E1A339"/>
                </a:solidFill>
                <a:latin typeface="Calibri"/>
              </a:rPr>
              <a:t>• </a:t>
            </a:r>
            <a:r>
              <a:rPr sz="1300" b="0" i="0">
                <a:solidFill>
                  <a:srgbClr val="EDEAE1"/>
                </a:solidFill>
                <a:latin typeface="Calibri"/>
              </a:rPr>
              <a:t>Re-price every period from what you observe now</a:t>
            </a:r>
          </a:p>
          <a:p>
            <a:pPr>
              <a:lnSpc>
                <a:spcPct val="112000"/>
              </a:lnSpc>
              <a:spcAft>
                <a:spcPts val="400"/>
              </a:spcAft>
            </a:pPr>
            <a:r>
              <a:rPr sz="1300">
                <a:solidFill>
                  <a:srgbClr val="E1A339"/>
                </a:solidFill>
                <a:latin typeface="Calibri"/>
              </a:rPr>
              <a:t>• </a:t>
            </a:r>
            <a:r>
              <a:rPr sz="1300" b="0" i="0">
                <a:solidFill>
                  <a:srgbClr val="EDEAE1"/>
                </a:solidFill>
                <a:latin typeface="Calibri"/>
              </a:rPr>
              <a:t>Needs a policy: state → price</a:t>
            </a:r>
          </a:p>
          <a:p>
            <a:pPr>
              <a:lnSpc>
                <a:spcPct val="112000"/>
              </a:lnSpc>
              <a:spcAft>
                <a:spcPts val="400"/>
              </a:spcAft>
            </a:pPr>
            <a:r>
              <a:rPr sz="1300">
                <a:solidFill>
                  <a:srgbClr val="E1A339"/>
                </a:solidFill>
                <a:latin typeface="Calibri"/>
              </a:rPr>
              <a:t>• </a:t>
            </a:r>
            <a:r>
              <a:rPr sz="1300" b="0" i="0">
                <a:solidFill>
                  <a:srgbClr val="EDEAE1"/>
                </a:solidFill>
                <a:latin typeface="Calibri"/>
              </a:rPr>
              <a:t>Rules of thumb scale badly across thousands of SKUs</a:t>
            </a:r>
          </a:p>
        </p:txBody>
      </p:sp>
      <p:sp>
        <p:nvSpPr>
          <p:cNvPr id="16" name="Rectangle 15"/>
          <p:cNvSpPr/>
          <p:nvPr/>
        </p:nvSpPr>
        <p:spPr>
          <a:xfrm>
            <a:off x="8138160" y="1463040"/>
            <a:ext cx="3520440" cy="219456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463040"/>
            <a:ext cx="54864" cy="219456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554480"/>
            <a:ext cx="32461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WHY REINFORCEMENT LEARNING</a:t>
            </a:r>
          </a:p>
        </p:txBody>
      </p:sp>
      <p:sp>
        <p:nvSpPr>
          <p:cNvPr id="19" name="TextBox 18"/>
          <p:cNvSpPr txBox="1"/>
          <p:nvPr/>
        </p:nvSpPr>
        <p:spPr>
          <a:xfrm>
            <a:off x="8275320" y="1920240"/>
            <a:ext cx="3246120" cy="1645920"/>
          </a:xfrm>
          <a:prstGeom prst="rect">
            <a:avLst/>
          </a:prstGeom>
          <a:noFill/>
        </p:spPr>
        <p:txBody>
          <a:bodyPr wrap="square" lIns="45720" rIns="45720">
            <a:spAutoFit/>
          </a:bodyPr>
          <a:lstStyle/>
          <a:p>
            <a:pPr>
              <a:lnSpc>
                <a:spcPct val="112000"/>
              </a:lnSpc>
              <a:spcAft>
                <a:spcPts val="400"/>
              </a:spcAft>
            </a:pPr>
            <a:r>
              <a:rPr sz="1300">
                <a:solidFill>
                  <a:srgbClr val="E1A339"/>
                </a:solidFill>
                <a:latin typeface="Calibri"/>
              </a:rPr>
              <a:t>• </a:t>
            </a:r>
            <a:r>
              <a:rPr sz="1300" b="0" i="0">
                <a:solidFill>
                  <a:srgbClr val="EDEAE1"/>
                </a:solidFill>
                <a:latin typeface="Calibri"/>
              </a:rPr>
              <a:t>Sequential decisions with delayed, noisy feedback</a:t>
            </a:r>
          </a:p>
          <a:p>
            <a:pPr>
              <a:lnSpc>
                <a:spcPct val="112000"/>
              </a:lnSpc>
              <a:spcAft>
                <a:spcPts val="400"/>
              </a:spcAft>
            </a:pPr>
            <a:r>
              <a:rPr sz="1300">
                <a:solidFill>
                  <a:srgbClr val="E1A339"/>
                </a:solidFill>
                <a:latin typeface="Calibri"/>
              </a:rPr>
              <a:t>• </a:t>
            </a:r>
            <a:r>
              <a:rPr sz="1300" b="0" i="0">
                <a:solidFill>
                  <a:srgbClr val="EDEAE1"/>
                </a:solidFill>
                <a:latin typeface="Calibri"/>
              </a:rPr>
              <a:t>Learns the policy from outcomes, no hand-written rules</a:t>
            </a:r>
          </a:p>
          <a:p>
            <a:pPr>
              <a:lnSpc>
                <a:spcPct val="112000"/>
              </a:lnSpc>
              <a:spcAft>
                <a:spcPts val="400"/>
              </a:spcAft>
            </a:pPr>
            <a:r>
              <a:rPr sz="1300">
                <a:solidFill>
                  <a:srgbClr val="E1A339"/>
                </a:solidFill>
                <a:latin typeface="Calibri"/>
              </a:rPr>
              <a:t>• </a:t>
            </a:r>
            <a:r>
              <a:rPr sz="1300" b="0" i="0">
                <a:solidFill>
                  <a:srgbClr val="EDEAE1"/>
                </a:solidFill>
                <a:latin typeface="Calibri"/>
              </a:rPr>
              <a:t>Natural fit: state, action, reward</a:t>
            </a:r>
          </a:p>
        </p:txBody>
      </p:sp>
      <p:sp>
        <p:nvSpPr>
          <p:cNvPr id="20" name="TextBox 19"/>
          <p:cNvSpPr txBox="1"/>
          <p:nvPr/>
        </p:nvSpPr>
        <p:spPr>
          <a:xfrm>
            <a:off x="548640" y="3977640"/>
            <a:ext cx="11094415" cy="1463040"/>
          </a:xfrm>
          <a:prstGeom prst="rect">
            <a:avLst/>
          </a:prstGeom>
          <a:noFill/>
        </p:spPr>
        <p:txBody>
          <a:bodyPr wrap="square" anchor="t" lIns="45720" rIns="45720" tIns="27432" bIns="27432">
            <a:spAutoFit/>
          </a:bodyPr>
          <a:lstStyle/>
          <a:p>
            <a:pPr algn="l">
              <a:lnSpc>
                <a:spcPct val="115000"/>
              </a:lnSpc>
              <a:spcAft>
                <a:spcPts val="600"/>
              </a:spcAft>
            </a:pPr>
            <a:r>
              <a:rPr sz="1800" b="1" i="0">
                <a:solidFill>
                  <a:srgbClr val="EDEAE1"/>
                </a:solidFill>
                <a:latin typeface="Calibri"/>
              </a:rPr>
              <a:t>The question this project answers: </a:t>
            </a:r>
            <a:r>
              <a:rPr sz="1800" b="0" i="0">
                <a:solidFill>
                  <a:srgbClr val="8C97A3"/>
                </a:solidFill>
                <a:latin typeface="Calibri"/>
              </a:rPr>
              <a:t>given the exact same pricing problem — same information, same allowed moves, same reward — which of four RL algorithms sets better prices, and why?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1 · LIU ET AL. 2019</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The source paper: a real field experiment on Tmall</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4</a:t>
            </a:r>
          </a:p>
        </p:txBody>
      </p:sp>
      <p:sp>
        <p:nvSpPr>
          <p:cNvPr id="8" name="TextBox 7"/>
          <p:cNvSpPr txBox="1"/>
          <p:nvPr/>
        </p:nvSpPr>
        <p:spPr>
          <a:xfrm>
            <a:off x="548640" y="1463040"/>
            <a:ext cx="6675120" cy="4754880"/>
          </a:xfrm>
          <a:prstGeom prst="rect">
            <a:avLst/>
          </a:prstGeom>
          <a:noFill/>
        </p:spPr>
        <p:txBody>
          <a:bodyPr wrap="square" lIns="45720" rIns="45720">
            <a:spAutoFit/>
          </a:bodyPr>
          <a:lstStyle/>
          <a:p>
            <a:pPr>
              <a:lnSpc>
                <a:spcPct val="112000"/>
              </a:lnSpc>
              <a:spcAft>
                <a:spcPts val="800"/>
              </a:spcAft>
            </a:pPr>
            <a:r>
              <a:rPr sz="1500">
                <a:solidFill>
                  <a:srgbClr val="E1A339"/>
                </a:solidFill>
                <a:latin typeface="Calibri"/>
              </a:rPr>
              <a:t>• </a:t>
            </a:r>
            <a:r>
              <a:rPr sz="1500" b="1" i="0">
                <a:solidFill>
                  <a:srgbClr val="EDEAE1"/>
                </a:solidFill>
                <a:latin typeface="Calibri"/>
              </a:rPr>
              <a:t>Pricing as an MDP. </a:t>
            </a:r>
            <a:r>
              <a:rPr sz="1500" b="0" i="0">
                <a:solidFill>
                  <a:srgbClr val="8C97A3"/>
                </a:solidFill>
                <a:latin typeface="Calibri"/>
              </a:rPr>
              <a:t>State = what you know about a product this period; action = the price; reward = how the market responds.</a:t>
            </a:r>
          </a:p>
          <a:p>
            <a:pPr>
              <a:lnSpc>
                <a:spcPct val="112000"/>
              </a:lnSpc>
              <a:spcAft>
                <a:spcPts val="800"/>
              </a:spcAft>
            </a:pPr>
            <a:r>
              <a:rPr sz="1500">
                <a:solidFill>
                  <a:srgbClr val="E1A339"/>
                </a:solidFill>
                <a:latin typeface="Calibri"/>
              </a:rPr>
              <a:t>• </a:t>
            </a:r>
            <a:r>
              <a:rPr sz="1500" b="1" i="0">
                <a:solidFill>
                  <a:srgbClr val="EDEAE1"/>
                </a:solidFill>
                <a:latin typeface="Calibri"/>
              </a:rPr>
              <a:t>Reward = DRCR, not revenue. </a:t>
            </a:r>
            <a:r>
              <a:rPr sz="1500" b="0" i="0">
                <a:solidFill>
                  <a:srgbClr val="8C97A3"/>
                </a:solidFill>
                <a:latin typeface="Calibri"/>
              </a:rPr>
              <a:t>Traffic swings for reasons unrelated to price, so they normalise revenue by traffic (RCR) and reward the change in it.</a:t>
            </a:r>
          </a:p>
          <a:p>
            <a:pPr>
              <a:lnSpc>
                <a:spcPct val="112000"/>
              </a:lnSpc>
              <a:spcAft>
                <a:spcPts val="800"/>
              </a:spcAft>
            </a:pPr>
            <a:r>
              <a:rPr sz="1500">
                <a:solidFill>
                  <a:srgbClr val="E1A339"/>
                </a:solidFill>
                <a:latin typeface="Calibri"/>
              </a:rPr>
              <a:t>• </a:t>
            </a:r>
            <a:r>
              <a:rPr sz="1500" b="1" i="0">
                <a:solidFill>
                  <a:srgbClr val="EDEAE1"/>
                </a:solidFill>
                <a:latin typeface="Calibri"/>
              </a:rPr>
              <a:t>Discrete vs continuous. </a:t>
            </a:r>
            <a:r>
              <a:rPr sz="1500" b="0" i="0">
                <a:solidFill>
                  <a:srgbClr val="8C97A3"/>
                </a:solidFill>
                <a:latin typeface="Calibri"/>
              </a:rPr>
              <a:t>DQN chooses among K price buckets; DDPG outputs an exact price. Few buckets are imprecise, many spread the data thin.</a:t>
            </a:r>
          </a:p>
          <a:p>
            <a:pPr>
              <a:lnSpc>
                <a:spcPct val="112000"/>
              </a:lnSpc>
              <a:spcAft>
                <a:spcPts val="800"/>
              </a:spcAft>
            </a:pPr>
            <a:r>
              <a:rPr sz="1500">
                <a:solidFill>
                  <a:srgbClr val="E1A339"/>
                </a:solidFill>
                <a:latin typeface="Calibri"/>
              </a:rPr>
              <a:t>• </a:t>
            </a:r>
            <a:r>
              <a:rPr sz="1500" b="1" i="0">
                <a:solidFill>
                  <a:srgbClr val="EDEAE1"/>
                </a:solidFill>
                <a:latin typeface="Calibri"/>
              </a:rPr>
              <a:t>Cold start. </a:t>
            </a:r>
            <a:r>
              <a:rPr sz="1500" b="0" i="0">
                <a:solidFill>
                  <a:srgbClr val="8C97A3"/>
                </a:solidFill>
                <a:latin typeface="Calibri"/>
              </a:rPr>
              <a:t>Low-traffic products lack data; their pipeline pre-trains on historical human prices.</a:t>
            </a:r>
          </a:p>
          <a:p>
            <a:pPr>
              <a:lnSpc>
                <a:spcPct val="112000"/>
              </a:lnSpc>
              <a:spcAft>
                <a:spcPts val="800"/>
              </a:spcAft>
            </a:pPr>
            <a:r>
              <a:rPr sz="1500">
                <a:solidFill>
                  <a:srgbClr val="E1A339"/>
                </a:solidFill>
                <a:latin typeface="Calibri"/>
              </a:rPr>
              <a:t>• </a:t>
            </a:r>
            <a:r>
              <a:rPr sz="1500" b="1" i="0">
                <a:solidFill>
                  <a:srgbClr val="EDEAE1"/>
                </a:solidFill>
                <a:latin typeface="Calibri"/>
              </a:rPr>
              <a:t>Deployed on Tmall.com from July 2018</a:t>
            </a:r>
            <a:r>
              <a:rPr sz="1500" b="0" i="0">
                <a:solidFill>
                  <a:srgbClr val="8C97A3"/>
                </a:solidFill>
                <a:latin typeface="Calibri"/>
              </a:rPr>
              <a:t> — the numbers on the right are from live traffic, not simulation.</a:t>
            </a:r>
          </a:p>
        </p:txBody>
      </p:sp>
      <p:sp>
        <p:nvSpPr>
          <p:cNvPr id="9" name="Rectangle 8"/>
          <p:cNvSpPr/>
          <p:nvPr/>
        </p:nvSpPr>
        <p:spPr>
          <a:xfrm>
            <a:off x="7589520" y="1463040"/>
            <a:ext cx="4069080" cy="356616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645920"/>
            <a:ext cx="3657600"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5B6570"/>
                </a:solidFill>
                <a:latin typeface="Consolas"/>
              </a:rPr>
              <a:t>30-DAY FIELD TEST · DRCR, MANUAL = 1.00</a:t>
            </a:r>
          </a:p>
        </p:txBody>
      </p:sp>
      <p:sp>
        <p:nvSpPr>
          <p:cNvPr id="11" name="TextBox 10"/>
          <p:cNvSpPr txBox="1"/>
          <p:nvPr/>
        </p:nvSpPr>
        <p:spPr>
          <a:xfrm>
            <a:off x="7818120" y="2011680"/>
            <a:ext cx="1371600" cy="548640"/>
          </a:xfrm>
          <a:prstGeom prst="rect">
            <a:avLst/>
          </a:prstGeom>
          <a:noFill/>
        </p:spPr>
        <p:txBody>
          <a:bodyPr wrap="square" anchor="t" lIns="45720" rIns="45720" tIns="27432" bIns="27432">
            <a:spAutoFit/>
          </a:bodyPr>
          <a:lstStyle/>
          <a:p>
            <a:pPr algn="l">
              <a:lnSpc>
                <a:spcPct val="115000"/>
              </a:lnSpc>
              <a:spcAft>
                <a:spcPts val="600"/>
              </a:spcAft>
            </a:pPr>
            <a:r>
              <a:rPr sz="1600" b="1" i="0">
                <a:solidFill>
                  <a:srgbClr val="E1A339"/>
                </a:solidFill>
                <a:latin typeface="Calibri"/>
              </a:rPr>
              <a:t>DDPG</a:t>
            </a:r>
          </a:p>
        </p:txBody>
      </p:sp>
      <p:sp>
        <p:nvSpPr>
          <p:cNvPr id="12" name="TextBox 11"/>
          <p:cNvSpPr txBox="1"/>
          <p:nvPr/>
        </p:nvSpPr>
        <p:spPr>
          <a:xfrm>
            <a:off x="9235440" y="1920240"/>
            <a:ext cx="2194560" cy="822960"/>
          </a:xfrm>
          <a:prstGeom prst="rect">
            <a:avLst/>
          </a:prstGeom>
          <a:noFill/>
        </p:spPr>
        <p:txBody>
          <a:bodyPr wrap="square" anchor="t" lIns="45720" rIns="45720" tIns="27432" bIns="27432">
            <a:spAutoFit/>
          </a:bodyPr>
          <a:lstStyle/>
          <a:p>
            <a:pPr algn="r">
              <a:lnSpc>
                <a:spcPct val="115000"/>
              </a:lnSpc>
              <a:spcAft>
                <a:spcPts val="600"/>
              </a:spcAft>
            </a:pPr>
            <a:r>
              <a:rPr sz="3600" b="0" i="0">
                <a:solidFill>
                  <a:srgbClr val="E1A339"/>
                </a:solidFill>
                <a:latin typeface="Georgia"/>
              </a:rPr>
              <a:t>6.07</a:t>
            </a:r>
          </a:p>
        </p:txBody>
      </p:sp>
      <p:sp>
        <p:nvSpPr>
          <p:cNvPr id="13" name="Rectangle 12"/>
          <p:cNvSpPr/>
          <p:nvPr/>
        </p:nvSpPr>
        <p:spPr>
          <a:xfrm>
            <a:off x="7818120" y="2670048"/>
            <a:ext cx="3611880" cy="5000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2971800"/>
            <a:ext cx="1371600" cy="548640"/>
          </a:xfrm>
          <a:prstGeom prst="rect">
            <a:avLst/>
          </a:prstGeom>
          <a:noFill/>
        </p:spPr>
        <p:txBody>
          <a:bodyPr wrap="square" anchor="t" lIns="45720" rIns="45720" tIns="27432" bIns="27432">
            <a:spAutoFit/>
          </a:bodyPr>
          <a:lstStyle/>
          <a:p>
            <a:pPr algn="l">
              <a:lnSpc>
                <a:spcPct val="115000"/>
              </a:lnSpc>
              <a:spcAft>
                <a:spcPts val="600"/>
              </a:spcAft>
            </a:pPr>
            <a:r>
              <a:rPr sz="1600" b="1" i="0">
                <a:solidFill>
                  <a:srgbClr val="5B8DEF"/>
                </a:solidFill>
                <a:latin typeface="Calibri"/>
              </a:rPr>
              <a:t>DQN</a:t>
            </a:r>
          </a:p>
        </p:txBody>
      </p:sp>
      <p:sp>
        <p:nvSpPr>
          <p:cNvPr id="15" name="TextBox 14"/>
          <p:cNvSpPr txBox="1"/>
          <p:nvPr/>
        </p:nvSpPr>
        <p:spPr>
          <a:xfrm>
            <a:off x="9235440" y="2880360"/>
            <a:ext cx="2194560" cy="822960"/>
          </a:xfrm>
          <a:prstGeom prst="rect">
            <a:avLst/>
          </a:prstGeom>
          <a:noFill/>
        </p:spPr>
        <p:txBody>
          <a:bodyPr wrap="square" anchor="t" lIns="45720" rIns="45720" tIns="27432" bIns="27432">
            <a:spAutoFit/>
          </a:bodyPr>
          <a:lstStyle/>
          <a:p>
            <a:pPr algn="r">
              <a:lnSpc>
                <a:spcPct val="115000"/>
              </a:lnSpc>
              <a:spcAft>
                <a:spcPts val="600"/>
              </a:spcAft>
            </a:pPr>
            <a:r>
              <a:rPr sz="3600" b="0" i="0">
                <a:solidFill>
                  <a:srgbClr val="5B8DEF"/>
                </a:solidFill>
                <a:latin typeface="Georgia"/>
              </a:rPr>
              <a:t>5.03</a:t>
            </a:r>
          </a:p>
        </p:txBody>
      </p:sp>
      <p:sp>
        <p:nvSpPr>
          <p:cNvPr id="16" name="Rectangle 15"/>
          <p:cNvSpPr/>
          <p:nvPr/>
        </p:nvSpPr>
        <p:spPr>
          <a:xfrm>
            <a:off x="7818120" y="3630168"/>
            <a:ext cx="2993040" cy="5000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3931920"/>
            <a:ext cx="1371600" cy="548640"/>
          </a:xfrm>
          <a:prstGeom prst="rect">
            <a:avLst/>
          </a:prstGeom>
          <a:noFill/>
        </p:spPr>
        <p:txBody>
          <a:bodyPr wrap="square" anchor="t" lIns="45720" rIns="45720" tIns="27432" bIns="27432">
            <a:spAutoFit/>
          </a:bodyPr>
          <a:lstStyle/>
          <a:p>
            <a:pPr algn="l">
              <a:lnSpc>
                <a:spcPct val="115000"/>
              </a:lnSpc>
              <a:spcAft>
                <a:spcPts val="600"/>
              </a:spcAft>
            </a:pPr>
            <a:r>
              <a:rPr sz="1600" b="1" i="0">
                <a:solidFill>
                  <a:srgbClr val="6E8FB0"/>
                </a:solidFill>
                <a:latin typeface="Calibri"/>
              </a:rPr>
              <a:t>Manual</a:t>
            </a:r>
          </a:p>
        </p:txBody>
      </p:sp>
      <p:sp>
        <p:nvSpPr>
          <p:cNvPr id="18" name="TextBox 17"/>
          <p:cNvSpPr txBox="1"/>
          <p:nvPr/>
        </p:nvSpPr>
        <p:spPr>
          <a:xfrm>
            <a:off x="9235440" y="3840480"/>
            <a:ext cx="2194560" cy="822960"/>
          </a:xfrm>
          <a:prstGeom prst="rect">
            <a:avLst/>
          </a:prstGeom>
          <a:noFill/>
        </p:spPr>
        <p:txBody>
          <a:bodyPr wrap="square" anchor="t" lIns="45720" rIns="45720" tIns="27432" bIns="27432">
            <a:spAutoFit/>
          </a:bodyPr>
          <a:lstStyle/>
          <a:p>
            <a:pPr algn="r">
              <a:lnSpc>
                <a:spcPct val="115000"/>
              </a:lnSpc>
              <a:spcAft>
                <a:spcPts val="600"/>
              </a:spcAft>
            </a:pPr>
            <a:r>
              <a:rPr sz="3600" b="0" i="0">
                <a:solidFill>
                  <a:srgbClr val="6E8FB0"/>
                </a:solidFill>
                <a:latin typeface="Georgia"/>
              </a:rPr>
              <a:t>1.00</a:t>
            </a:r>
          </a:p>
        </p:txBody>
      </p:sp>
      <p:sp>
        <p:nvSpPr>
          <p:cNvPr id="19" name="Rectangle 18"/>
          <p:cNvSpPr/>
          <p:nvPr/>
        </p:nvSpPr>
        <p:spPr>
          <a:xfrm>
            <a:off x="7818120" y="4590288"/>
            <a:ext cx="595037" cy="5000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1 · THE PROJECT</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Our approach: fix the problem, swap only the learner</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5</a:t>
            </a:r>
          </a:p>
        </p:txBody>
      </p:sp>
      <p:graphicFrame>
        <p:nvGraphicFramePr>
          <p:cNvPr id="8" name="Table 7"/>
          <p:cNvGraphicFramePr>
            <a:graphicFrameLocks noGrp="1"/>
          </p:cNvGraphicFramePr>
          <p:nvPr/>
        </p:nvGraphicFramePr>
        <p:xfrm>
          <a:off x="548640" y="1463040"/>
          <a:ext cx="11094411" cy="2286000"/>
        </p:xfrm>
        <a:graphic>
          <a:graphicData uri="http://schemas.openxmlformats.org/drawingml/2006/table">
            <a:tbl>
              <a:tblPr firstRow="1" bandRow="1">
                <a:tableStyleId>{5C22544A-7EE6-4342-B048-85BDC9FD1C3A}</a:tableStyleId>
              </a:tblPr>
              <a:tblGrid>
                <a:gridCol w="984181"/>
                <a:gridCol w="1968363"/>
                <a:gridCol w="1968363"/>
                <a:gridCol w="1163124"/>
                <a:gridCol w="1789421"/>
                <a:gridCol w="3220959"/>
              </a:tblGrid>
              <a:tr h="457200">
                <a:tc>
                  <a:txBody>
                    <a:bodyPr wrap="square"/>
                    <a:lstStyle/>
                    <a:p>
                      <a:r>
                        <a:rPr sz="1100" b="1">
                          <a:solidFill>
                            <a:srgbClr val="E1A339"/>
                          </a:solidFill>
                          <a:latin typeface="Consolas"/>
                        </a:rPr>
                        <a:t>Algorithm</a:t>
                      </a:r>
                    </a:p>
                  </a:txBody>
                  <a:tcPr marL="73152" marR="73152" marT="36576" marB="36576" anchor="ctr">
                    <a:solidFill>
                      <a:srgbClr val="181D24"/>
                    </a:solidFill>
                  </a:tcPr>
                </a:tc>
                <a:tc>
                  <a:txBody>
                    <a:bodyPr wrap="square"/>
                    <a:lstStyle/>
                    <a:p>
                      <a:r>
                        <a:rPr sz="1100" b="1">
                          <a:solidFill>
                            <a:srgbClr val="E1A339"/>
                          </a:solidFill>
                          <a:latin typeface="Consolas"/>
                        </a:rPr>
                        <a:t>Family</a:t>
                      </a:r>
                    </a:p>
                  </a:txBody>
                  <a:tcPr marL="73152" marR="73152" marT="36576" marB="36576" anchor="ctr">
                    <a:solidFill>
                      <a:srgbClr val="181D24"/>
                    </a:solidFill>
                  </a:tcPr>
                </a:tc>
                <a:tc>
                  <a:txBody>
                    <a:bodyPr wrap="square"/>
                    <a:lstStyle/>
                    <a:p>
                      <a:r>
                        <a:rPr sz="1100" b="1">
                          <a:solidFill>
                            <a:srgbClr val="E1A339"/>
                          </a:solidFill>
                          <a:latin typeface="Consolas"/>
                        </a:rPr>
                        <a:t>Action space</a:t>
                      </a:r>
                    </a:p>
                  </a:txBody>
                  <a:tcPr marL="73152" marR="73152" marT="36576" marB="36576" anchor="ctr">
                    <a:solidFill>
                      <a:srgbClr val="181D24"/>
                    </a:solidFill>
                  </a:tcPr>
                </a:tc>
                <a:tc>
                  <a:txBody>
                    <a:bodyPr wrap="square"/>
                    <a:lstStyle/>
                    <a:p>
                      <a:r>
                        <a:rPr sz="1100" b="1">
                          <a:solidFill>
                            <a:srgbClr val="E1A339"/>
                          </a:solidFill>
                          <a:latin typeface="Consolas"/>
                        </a:rPr>
                        <a:t>Policy</a:t>
                      </a:r>
                    </a:p>
                  </a:txBody>
                  <a:tcPr marL="73152" marR="73152" marT="36576" marB="36576" anchor="ctr">
                    <a:solidFill>
                      <a:srgbClr val="181D24"/>
                    </a:solidFill>
                  </a:tcPr>
                </a:tc>
                <a:tc>
                  <a:txBody>
                    <a:bodyPr wrap="square"/>
                    <a:lstStyle/>
                    <a:p>
                      <a:r>
                        <a:rPr sz="1100" b="1">
                          <a:solidFill>
                            <a:srgbClr val="E1A339"/>
                          </a:solidFill>
                          <a:latin typeface="Consolas"/>
                        </a:rPr>
                        <a:t>Exploration</a:t>
                      </a:r>
                    </a:p>
                  </a:txBody>
                  <a:tcPr marL="73152" marR="73152" marT="36576" marB="36576" anchor="ctr">
                    <a:solidFill>
                      <a:srgbClr val="181D24"/>
                    </a:solidFill>
                  </a:tcPr>
                </a:tc>
                <a:tc>
                  <a:txBody>
                    <a:bodyPr wrap="square"/>
                    <a:lstStyle/>
                    <a:p>
                      <a:r>
                        <a:rPr sz="1100" b="1">
                          <a:solidFill>
                            <a:srgbClr val="E1A339"/>
                          </a:solidFill>
                          <a:latin typeface="Consolas"/>
                        </a:rPr>
                        <a:t>Chosen to test</a:t>
                      </a:r>
                    </a:p>
                  </a:txBody>
                  <a:tcPr marL="73152" marR="73152" marT="36576" marB="36576" anchor="ctr">
                    <a:solidFill>
                      <a:srgbClr val="181D24"/>
                    </a:solidFill>
                  </a:tcPr>
                </a:tc>
              </a:tr>
              <a:tr h="457200">
                <a:tc>
                  <a:txBody>
                    <a:bodyPr wrap="square"/>
                    <a:lstStyle/>
                    <a:p>
                      <a:r>
                        <a:rPr sz="1200" b="1">
                          <a:solidFill>
                            <a:srgbClr val="5B8DEF"/>
                          </a:solidFill>
                          <a:latin typeface="Calibri"/>
                        </a:rPr>
                        <a:t>DQN</a:t>
                      </a:r>
                    </a:p>
                  </a:txBody>
                  <a:tcPr marL="73152" marR="73152" marT="36576" marB="36576" anchor="ctr">
                    <a:solidFill>
                      <a:srgbClr val="12161B"/>
                    </a:solidFill>
                  </a:tcPr>
                </a:tc>
                <a:tc>
                  <a:txBody>
                    <a:bodyPr wrap="square"/>
                    <a:lstStyle/>
                    <a:p>
                      <a:r>
                        <a:rPr sz="1200" b="0">
                          <a:solidFill>
                            <a:srgbClr val="EDEAE1"/>
                          </a:solidFill>
                          <a:latin typeface="Calibri"/>
                        </a:rPr>
                        <a:t>Value-based</a:t>
                      </a:r>
                    </a:p>
                  </a:txBody>
                  <a:tcPr marL="73152" marR="73152" marT="36576" marB="36576" anchor="ctr">
                    <a:solidFill>
                      <a:srgbClr val="12161B"/>
                    </a:solidFill>
                  </a:tcPr>
                </a:tc>
                <a:tc>
                  <a:txBody>
                    <a:bodyPr wrap="square"/>
                    <a:lstStyle/>
                    <a:p>
                      <a:r>
                        <a:rPr sz="1200" b="0">
                          <a:solidFill>
                            <a:srgbClr val="EDEAE1"/>
                          </a:solidFill>
                          <a:latin typeface="Calibri"/>
                        </a:rPr>
                        <a:t>11 discrete price buckets</a:t>
                      </a:r>
                    </a:p>
                  </a:txBody>
                  <a:tcPr marL="73152" marR="73152" marT="36576" marB="36576" anchor="ctr">
                    <a:solidFill>
                      <a:srgbClr val="12161B"/>
                    </a:solidFill>
                  </a:tcPr>
                </a:tc>
                <a:tc>
                  <a:txBody>
                    <a:bodyPr wrap="square"/>
                    <a:lstStyle/>
                    <a:p>
                      <a:r>
                        <a:rPr sz="1200" b="0">
                          <a:solidFill>
                            <a:srgbClr val="EDEAE1"/>
                          </a:solidFill>
                          <a:latin typeface="Calibri"/>
                        </a:rPr>
                        <a:t>Off-policy</a:t>
                      </a:r>
                    </a:p>
                  </a:txBody>
                  <a:tcPr marL="73152" marR="73152" marT="36576" marB="36576" anchor="ctr">
                    <a:solidFill>
                      <a:srgbClr val="12161B"/>
                    </a:solidFill>
                  </a:tcPr>
                </a:tc>
                <a:tc>
                  <a:txBody>
                    <a:bodyPr wrap="square"/>
                    <a:lstStyle/>
                    <a:p>
                      <a:r>
                        <a:rPr sz="1200" b="0">
                          <a:solidFill>
                            <a:srgbClr val="EDEAE1"/>
                          </a:solidFill>
                          <a:latin typeface="Calibri"/>
                        </a:rPr>
                        <a:t>ε-greedy schedule</a:t>
                      </a:r>
                    </a:p>
                  </a:txBody>
                  <a:tcPr marL="73152" marR="73152" marT="36576" marB="36576" anchor="ctr">
                    <a:solidFill>
                      <a:srgbClr val="12161B"/>
                    </a:solidFill>
                  </a:tcPr>
                </a:tc>
                <a:tc>
                  <a:txBody>
                    <a:bodyPr wrap="square"/>
                    <a:lstStyle/>
                    <a:p>
                      <a:r>
                        <a:rPr sz="1200" b="0">
                          <a:solidFill>
                            <a:srgbClr val="EDEAE1"/>
                          </a:solidFill>
                          <a:latin typeface="Calibri"/>
                        </a:rPr>
                        <a:t>The paper's baseline; the bucket trade-off</a:t>
                      </a:r>
                    </a:p>
                  </a:txBody>
                  <a:tcPr marL="73152" marR="73152" marT="36576" marB="36576" anchor="ctr">
                    <a:solidFill>
                      <a:srgbClr val="12161B"/>
                    </a:solidFill>
                  </a:tcPr>
                </a:tc>
              </a:tr>
              <a:tr h="457200">
                <a:tc>
                  <a:txBody>
                    <a:bodyPr wrap="square"/>
                    <a:lstStyle/>
                    <a:p>
                      <a:r>
                        <a:rPr sz="1200" b="1">
                          <a:solidFill>
                            <a:srgbClr val="E1A339"/>
                          </a:solidFill>
                          <a:latin typeface="Calibri"/>
                        </a:rPr>
                        <a:t>DDPG</a:t>
                      </a:r>
                    </a:p>
                  </a:txBody>
                  <a:tcPr marL="73152" marR="73152" marT="36576" marB="36576" anchor="ctr">
                    <a:solidFill>
                      <a:srgbClr val="1E242C"/>
                    </a:solidFill>
                  </a:tcPr>
                </a:tc>
                <a:tc>
                  <a:txBody>
                    <a:bodyPr wrap="square"/>
                    <a:lstStyle/>
                    <a:p>
                      <a:r>
                        <a:rPr sz="1200" b="0">
                          <a:solidFill>
                            <a:srgbClr val="EDEAE1"/>
                          </a:solidFill>
                          <a:latin typeface="Calibri"/>
                        </a:rPr>
                        <a:t>Actor-critic, deterministic</a:t>
                      </a:r>
                    </a:p>
                  </a:txBody>
                  <a:tcPr marL="73152" marR="73152" marT="36576" marB="36576" anchor="ctr">
                    <a:solidFill>
                      <a:srgbClr val="1E242C"/>
                    </a:solidFill>
                  </a:tcPr>
                </a:tc>
                <a:tc>
                  <a:txBody>
                    <a:bodyPr wrap="square"/>
                    <a:lstStyle/>
                    <a:p>
                      <a:r>
                        <a:rPr sz="1200" b="0">
                          <a:solidFill>
                            <a:srgbClr val="EDEAE1"/>
                          </a:solidFill>
                          <a:latin typeface="Calibri"/>
                        </a:rPr>
                        <a:t>Exact continuous price</a:t>
                      </a:r>
                    </a:p>
                  </a:txBody>
                  <a:tcPr marL="73152" marR="73152" marT="36576" marB="36576" anchor="ctr">
                    <a:solidFill>
                      <a:srgbClr val="1E242C"/>
                    </a:solidFill>
                  </a:tcPr>
                </a:tc>
                <a:tc>
                  <a:txBody>
                    <a:bodyPr wrap="square"/>
                    <a:lstStyle/>
                    <a:p>
                      <a:r>
                        <a:rPr sz="1200" b="0">
                          <a:solidFill>
                            <a:srgbClr val="EDEAE1"/>
                          </a:solidFill>
                          <a:latin typeface="Calibri"/>
                        </a:rPr>
                        <a:t>Off-policy</a:t>
                      </a:r>
                    </a:p>
                  </a:txBody>
                  <a:tcPr marL="73152" marR="73152" marT="36576" marB="36576" anchor="ctr">
                    <a:solidFill>
                      <a:srgbClr val="1E242C"/>
                    </a:solidFill>
                  </a:tcPr>
                </a:tc>
                <a:tc>
                  <a:txBody>
                    <a:bodyPr wrap="square"/>
                    <a:lstStyle/>
                    <a:p>
                      <a:r>
                        <a:rPr sz="1200" b="0">
                          <a:solidFill>
                            <a:srgbClr val="EDEAE1"/>
                          </a:solidFill>
                          <a:latin typeface="Calibri"/>
                        </a:rPr>
                        <a:t>External OU noise</a:t>
                      </a:r>
                    </a:p>
                  </a:txBody>
                  <a:tcPr marL="73152" marR="73152" marT="36576" marB="36576" anchor="ctr">
                    <a:solidFill>
                      <a:srgbClr val="1E242C"/>
                    </a:solidFill>
                  </a:tcPr>
                </a:tc>
                <a:tc>
                  <a:txBody>
                    <a:bodyPr wrap="square"/>
                    <a:lstStyle/>
                    <a:p>
                      <a:r>
                        <a:rPr sz="1200" b="0">
                          <a:solidFill>
                            <a:srgbClr val="EDEAE1"/>
                          </a:solidFill>
                          <a:latin typeface="Calibri"/>
                        </a:rPr>
                        <a:t>The paper's winner; precision without buckets</a:t>
                      </a:r>
                    </a:p>
                  </a:txBody>
                  <a:tcPr marL="73152" marR="73152" marT="36576" marB="36576" anchor="ctr">
                    <a:solidFill>
                      <a:srgbClr val="1E242C"/>
                    </a:solidFill>
                  </a:tcPr>
                </a:tc>
              </a:tr>
              <a:tr h="457200">
                <a:tc>
                  <a:txBody>
                    <a:bodyPr wrap="square"/>
                    <a:lstStyle/>
                    <a:p>
                      <a:r>
                        <a:rPr sz="1200" b="1">
                          <a:solidFill>
                            <a:srgbClr val="C77DFF"/>
                          </a:solidFill>
                          <a:latin typeface="Calibri"/>
                        </a:rPr>
                        <a:t>PPO</a:t>
                      </a:r>
                    </a:p>
                  </a:txBody>
                  <a:tcPr marL="73152" marR="73152" marT="36576" marB="36576" anchor="ctr">
                    <a:solidFill>
                      <a:srgbClr val="12161B"/>
                    </a:solidFill>
                  </a:tcPr>
                </a:tc>
                <a:tc>
                  <a:txBody>
                    <a:bodyPr wrap="square"/>
                    <a:lstStyle/>
                    <a:p>
                      <a:r>
                        <a:rPr sz="1200" b="0">
                          <a:solidFill>
                            <a:srgbClr val="EDEAE1"/>
                          </a:solidFill>
                          <a:latin typeface="Calibri"/>
                        </a:rPr>
                        <a:t>Actor-critic, stochastic</a:t>
                      </a:r>
                    </a:p>
                  </a:txBody>
                  <a:tcPr marL="73152" marR="73152" marT="36576" marB="36576" anchor="ctr">
                    <a:solidFill>
                      <a:srgbClr val="12161B"/>
                    </a:solidFill>
                  </a:tcPr>
                </a:tc>
                <a:tc>
                  <a:txBody>
                    <a:bodyPr wrap="square"/>
                    <a:lstStyle/>
                    <a:p>
                      <a:r>
                        <a:rPr sz="1200" b="0">
                          <a:solidFill>
                            <a:srgbClr val="EDEAE1"/>
                          </a:solidFill>
                          <a:latin typeface="Calibri"/>
                        </a:rPr>
                        <a:t>Exact continuous price</a:t>
                      </a:r>
                    </a:p>
                  </a:txBody>
                  <a:tcPr marL="73152" marR="73152" marT="36576" marB="36576" anchor="ctr">
                    <a:solidFill>
                      <a:srgbClr val="12161B"/>
                    </a:solidFill>
                  </a:tcPr>
                </a:tc>
                <a:tc>
                  <a:txBody>
                    <a:bodyPr wrap="square"/>
                    <a:lstStyle/>
                    <a:p>
                      <a:r>
                        <a:rPr sz="1200" b="0">
                          <a:solidFill>
                            <a:srgbClr val="EDEAE1"/>
                          </a:solidFill>
                          <a:latin typeface="Calibri"/>
                        </a:rPr>
                        <a:t>On-policy</a:t>
                      </a:r>
                    </a:p>
                  </a:txBody>
                  <a:tcPr marL="73152" marR="73152" marT="36576" marB="36576" anchor="ctr">
                    <a:solidFill>
                      <a:srgbClr val="12161B"/>
                    </a:solidFill>
                  </a:tcPr>
                </a:tc>
                <a:tc>
                  <a:txBody>
                    <a:bodyPr wrap="square"/>
                    <a:lstStyle/>
                    <a:p>
                      <a:r>
                        <a:rPr sz="1200" b="0">
                          <a:solidFill>
                            <a:srgbClr val="EDEAE1"/>
                          </a:solidFill>
                          <a:latin typeface="Calibri"/>
                        </a:rPr>
                        <a:t>Built into the policy</a:t>
                      </a:r>
                    </a:p>
                  </a:txBody>
                  <a:tcPr marL="73152" marR="73152" marT="36576" marB="36576" anchor="ctr">
                    <a:solidFill>
                      <a:srgbClr val="12161B"/>
                    </a:solidFill>
                  </a:tcPr>
                </a:tc>
                <a:tc>
                  <a:txBody>
                    <a:bodyPr wrap="square"/>
                    <a:lstStyle/>
                    <a:p>
                      <a:r>
                        <a:rPr sz="1200" b="0">
                          <a:solidFill>
                            <a:srgbClr val="EDEAE1"/>
                          </a:solidFill>
                          <a:latin typeface="Calibri"/>
                        </a:rPr>
                        <a:t>Robustness to a noisy reward</a:t>
                      </a:r>
                    </a:p>
                  </a:txBody>
                  <a:tcPr marL="73152" marR="73152" marT="36576" marB="36576" anchor="ctr">
                    <a:solidFill>
                      <a:srgbClr val="12161B"/>
                    </a:solidFill>
                  </a:tcPr>
                </a:tc>
              </a:tr>
              <a:tr h="457200">
                <a:tc>
                  <a:txBody>
                    <a:bodyPr wrap="square"/>
                    <a:lstStyle/>
                    <a:p>
                      <a:r>
                        <a:rPr sz="1200" b="1">
                          <a:solidFill>
                            <a:srgbClr val="4FD1A5"/>
                          </a:solidFill>
                          <a:latin typeface="Calibri"/>
                        </a:rPr>
                        <a:t>SAC</a:t>
                      </a:r>
                    </a:p>
                  </a:txBody>
                  <a:tcPr marL="73152" marR="73152" marT="36576" marB="36576" anchor="ctr">
                    <a:solidFill>
                      <a:srgbClr val="1E242C"/>
                    </a:solidFill>
                  </a:tcPr>
                </a:tc>
                <a:tc>
                  <a:txBody>
                    <a:bodyPr wrap="square"/>
                    <a:lstStyle/>
                    <a:p>
                      <a:r>
                        <a:rPr sz="1200" b="0">
                          <a:solidFill>
                            <a:srgbClr val="EDEAE1"/>
                          </a:solidFill>
                          <a:latin typeface="Calibri"/>
                        </a:rPr>
                        <a:t>Actor-critic, max-entropy</a:t>
                      </a:r>
                    </a:p>
                  </a:txBody>
                  <a:tcPr marL="73152" marR="73152" marT="36576" marB="36576" anchor="ctr">
                    <a:solidFill>
                      <a:srgbClr val="1E242C"/>
                    </a:solidFill>
                  </a:tcPr>
                </a:tc>
                <a:tc>
                  <a:txBody>
                    <a:bodyPr wrap="square"/>
                    <a:lstStyle/>
                    <a:p>
                      <a:r>
                        <a:rPr sz="1200" b="0">
                          <a:solidFill>
                            <a:srgbClr val="EDEAE1"/>
                          </a:solidFill>
                          <a:latin typeface="Calibri"/>
                        </a:rPr>
                        <a:t>Exact continuous price</a:t>
                      </a:r>
                    </a:p>
                  </a:txBody>
                  <a:tcPr marL="73152" marR="73152" marT="36576" marB="36576" anchor="ctr">
                    <a:solidFill>
                      <a:srgbClr val="1E242C"/>
                    </a:solidFill>
                  </a:tcPr>
                </a:tc>
                <a:tc>
                  <a:txBody>
                    <a:bodyPr wrap="square"/>
                    <a:lstStyle/>
                    <a:p>
                      <a:r>
                        <a:rPr sz="1200" b="0">
                          <a:solidFill>
                            <a:srgbClr val="EDEAE1"/>
                          </a:solidFill>
                          <a:latin typeface="Calibri"/>
                        </a:rPr>
                        <a:t>Off-policy</a:t>
                      </a:r>
                    </a:p>
                  </a:txBody>
                  <a:tcPr marL="73152" marR="73152" marT="36576" marB="36576" anchor="ctr">
                    <a:solidFill>
                      <a:srgbClr val="1E242C"/>
                    </a:solidFill>
                  </a:tcPr>
                </a:tc>
                <a:tc>
                  <a:txBody>
                    <a:bodyPr wrap="square"/>
                    <a:lstStyle/>
                    <a:p>
                      <a:r>
                        <a:rPr sz="1200" b="0">
                          <a:solidFill>
                            <a:srgbClr val="EDEAE1"/>
                          </a:solidFill>
                          <a:latin typeface="Calibri"/>
                        </a:rPr>
                        <a:t>Entropy bonus, self-tuned</a:t>
                      </a:r>
                    </a:p>
                  </a:txBody>
                  <a:tcPr marL="73152" marR="73152" marT="36576" marB="36576" anchor="ctr">
                    <a:solidFill>
                      <a:srgbClr val="1E242C"/>
                    </a:solidFill>
                  </a:tcPr>
                </a:tc>
                <a:tc>
                  <a:txBody>
                    <a:bodyPr wrap="square"/>
                    <a:lstStyle/>
                    <a:p>
                      <a:r>
                        <a:rPr sz="1200" b="0">
                          <a:solidFill>
                            <a:srgbClr val="EDEAE1"/>
                          </a:solidFill>
                          <a:latin typeface="Calibri"/>
                        </a:rPr>
                        <a:t>DDPG's benefit with stable, automatic exploration</a:t>
                      </a:r>
                    </a:p>
                  </a:txBody>
                  <a:tcPr marL="73152" marR="73152" marT="36576" marB="36576" anchor="ctr">
                    <a:solidFill>
                      <a:srgbClr val="1E242C"/>
                    </a:solidFill>
                  </a:tcPr>
                </a:tc>
              </a:tr>
            </a:tbl>
          </a:graphicData>
        </a:graphic>
      </p:graphicFrame>
      <p:sp>
        <p:nvSpPr>
          <p:cNvPr id="9" name="TextBox 8"/>
          <p:cNvSpPr txBox="1"/>
          <p:nvPr/>
        </p:nvSpPr>
        <p:spPr>
          <a:xfrm>
            <a:off x="548640" y="4114800"/>
            <a:ext cx="11094415" cy="1463040"/>
          </a:xfrm>
          <a:prstGeom prst="rect">
            <a:avLst/>
          </a:prstGeom>
          <a:noFill/>
        </p:spPr>
        <p:txBody>
          <a:bodyPr wrap="square" anchor="t" lIns="45720" rIns="45720" tIns="27432" bIns="27432">
            <a:spAutoFit/>
          </a:bodyPr>
          <a:lstStyle/>
          <a:p>
            <a:pPr algn="l">
              <a:lnSpc>
                <a:spcPct val="115000"/>
              </a:lnSpc>
              <a:spcAft>
                <a:spcPts val="600"/>
              </a:spcAft>
            </a:pPr>
            <a:r>
              <a:rPr sz="1500" b="1" i="0">
                <a:solidFill>
                  <a:srgbClr val="EDEAE1"/>
                </a:solidFill>
                <a:latin typeface="Calibri"/>
              </a:rPr>
              <a:t>What is held equal for all four: </a:t>
            </a:r>
            <a:r>
              <a:rPr sz="1500" b="0" i="0">
                <a:solidFill>
                  <a:srgbClr val="8C97A3"/>
                </a:solidFill>
                <a:latin typeface="Calibri"/>
              </a:rPr>
              <a:t>the environment and demand model, the 35-number state, the ±25 % action range, the DRCR reward, network size (2 × 128 ReLU), optimiser, the environment-step budget, the seeds, and the held-out products used for every reported number.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2 · THE SHARED MDP</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One decision = one product for one month</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6</a:t>
            </a:r>
          </a:p>
        </p:txBody>
      </p:sp>
      <p:sp>
        <p:nvSpPr>
          <p:cNvPr id="8" name="Rectangle 7"/>
          <p:cNvSpPr/>
          <p:nvPr/>
        </p:nvSpPr>
        <p:spPr>
          <a:xfrm>
            <a:off x="548640" y="1463040"/>
            <a:ext cx="3576218" cy="30175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54864" cy="301752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554480"/>
            <a:ext cx="3301898"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STATE  s(i,t)  ·  35 numbers</a:t>
            </a:r>
          </a:p>
        </p:txBody>
      </p:sp>
      <p:sp>
        <p:nvSpPr>
          <p:cNvPr id="11" name="TextBox 10"/>
          <p:cNvSpPr txBox="1"/>
          <p:nvPr/>
        </p:nvSpPr>
        <p:spPr>
          <a:xfrm>
            <a:off x="685800" y="1920240"/>
            <a:ext cx="3301898" cy="24688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Own attributes: entering price, score, freight</a:t>
            </a:r>
          </a:p>
          <a:p>
            <a:pPr>
              <a:lnSpc>
                <a:spcPct val="112000"/>
              </a:lnSpc>
              <a:spcAft>
                <a:spcPts val="400"/>
              </a:spcAft>
            </a:pPr>
            <a:r>
              <a:rPr sz="1200">
                <a:solidFill>
                  <a:srgbClr val="E1A339"/>
                </a:solidFill>
                <a:latin typeface="Calibri"/>
              </a:rPr>
              <a:t>• </a:t>
            </a:r>
            <a:r>
              <a:rPr sz="1200" b="0" i="0">
                <a:solidFill>
                  <a:srgbClr val="EDEAE1"/>
                </a:solidFill>
                <a:latin typeface="Calibri"/>
              </a:rPr>
              <a:t>Recent performance: 3-month rolling sales, revenue, traffic; last DRCR</a:t>
            </a:r>
          </a:p>
          <a:p>
            <a:pPr>
              <a:lnSpc>
                <a:spcPct val="112000"/>
              </a:lnSpc>
              <a:spcAft>
                <a:spcPts val="400"/>
              </a:spcAft>
            </a:pPr>
            <a:r>
              <a:rPr sz="1200">
                <a:solidFill>
                  <a:srgbClr val="E1A339"/>
                </a:solidFill>
                <a:latin typeface="Calibri"/>
              </a:rPr>
              <a:t>• </a:t>
            </a:r>
            <a:r>
              <a:rPr sz="1200" b="0" i="0">
                <a:solidFill>
                  <a:srgbClr val="EDEAE1"/>
                </a:solidFill>
                <a:latin typeface="Calibri"/>
              </a:rPr>
              <a:t>Pricing history: lag prices, % change</a:t>
            </a:r>
          </a:p>
          <a:p>
            <a:pPr>
              <a:lnSpc>
                <a:spcPct val="112000"/>
              </a:lnSpc>
              <a:spcAft>
                <a:spcPts val="400"/>
              </a:spcAft>
            </a:pPr>
            <a:r>
              <a:rPr sz="1200">
                <a:solidFill>
                  <a:srgbClr val="E1A339"/>
                </a:solidFill>
                <a:latin typeface="Calibri"/>
              </a:rPr>
              <a:t>• </a:t>
            </a:r>
            <a:r>
              <a:rPr sz="1200" b="0" i="0">
                <a:solidFill>
                  <a:srgbClr val="EDEAE1"/>
                </a:solidFill>
                <a:latin typeface="Calibri"/>
              </a:rPr>
              <a:t>Competitiveness: price / score / freight gaps vs 3 similar products, price rank</a:t>
            </a:r>
          </a:p>
          <a:p>
            <a:pPr>
              <a:lnSpc>
                <a:spcPct val="112000"/>
              </a:lnSpc>
              <a:spcAft>
                <a:spcPts val="400"/>
              </a:spcAft>
            </a:pPr>
            <a:r>
              <a:rPr sz="1200">
                <a:solidFill>
                  <a:srgbClr val="E1A339"/>
                </a:solidFill>
                <a:latin typeface="Calibri"/>
              </a:rPr>
              <a:t>• </a:t>
            </a:r>
            <a:r>
              <a:rPr sz="1200" b="0" i="0">
                <a:solidFill>
                  <a:srgbClr val="EDEAE1"/>
                </a:solidFill>
                <a:latin typeface="Calibri"/>
              </a:rPr>
              <a:t>Seasonality flags + category one-hot</a:t>
            </a:r>
          </a:p>
        </p:txBody>
      </p:sp>
      <p:sp>
        <p:nvSpPr>
          <p:cNvPr id="12" name="Rectangle 11"/>
          <p:cNvSpPr/>
          <p:nvPr/>
        </p:nvSpPr>
        <p:spPr>
          <a:xfrm>
            <a:off x="4307738" y="1463040"/>
            <a:ext cx="3576218" cy="30175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1463040"/>
            <a:ext cx="54864" cy="301752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2330" y="1554480"/>
            <a:ext cx="3301898"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ACTION  a(i,t)  ·  a new price</a:t>
            </a:r>
          </a:p>
        </p:txBody>
      </p:sp>
      <p:sp>
        <p:nvSpPr>
          <p:cNvPr id="15" name="TextBox 14"/>
          <p:cNvSpPr txBox="1"/>
          <p:nvPr/>
        </p:nvSpPr>
        <p:spPr>
          <a:xfrm>
            <a:off x="4444898" y="1920240"/>
            <a:ext cx="3301898" cy="24688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Within ±25 % of the entering price</a:t>
            </a:r>
          </a:p>
          <a:p>
            <a:pPr>
              <a:lnSpc>
                <a:spcPct val="112000"/>
              </a:lnSpc>
              <a:spcAft>
                <a:spcPts val="400"/>
              </a:spcAft>
            </a:pPr>
            <a:r>
              <a:rPr sz="1200">
                <a:solidFill>
                  <a:srgbClr val="E1A339"/>
                </a:solidFill>
                <a:latin typeface="Calibri"/>
              </a:rPr>
              <a:t>• </a:t>
            </a:r>
            <a:r>
              <a:rPr sz="1200" b="0" i="0">
                <a:solidFill>
                  <a:srgbClr val="EDEAE1"/>
                </a:solidFill>
                <a:latin typeface="Calibri"/>
              </a:rPr>
              <a:t>DQN: one of K = 11 buckets (−25 % … +25 %, middle = no change)</a:t>
            </a:r>
          </a:p>
          <a:p>
            <a:pPr>
              <a:lnSpc>
                <a:spcPct val="112000"/>
              </a:lnSpc>
              <a:spcAft>
                <a:spcPts val="400"/>
              </a:spcAft>
            </a:pPr>
            <a:r>
              <a:rPr sz="1200">
                <a:solidFill>
                  <a:srgbClr val="E1A339"/>
                </a:solidFill>
                <a:latin typeface="Calibri"/>
              </a:rPr>
              <a:t>• </a:t>
            </a:r>
            <a:r>
              <a:rPr sz="1200" b="0" i="0">
                <a:solidFill>
                  <a:srgbClr val="EDEAE1"/>
                </a:solidFill>
                <a:latin typeface="Calibri"/>
              </a:rPr>
              <a:t>DDPG / PPO / SAC: tanh output in [−1, 1] → exact price</a:t>
            </a:r>
          </a:p>
          <a:p>
            <a:pPr>
              <a:lnSpc>
                <a:spcPct val="112000"/>
              </a:lnSpc>
              <a:spcAft>
                <a:spcPts val="400"/>
              </a:spcAft>
            </a:pPr>
            <a:r>
              <a:rPr sz="1200">
                <a:solidFill>
                  <a:srgbClr val="E1A339"/>
                </a:solidFill>
                <a:latin typeface="Calibri"/>
              </a:rPr>
              <a:t>• </a:t>
            </a:r>
            <a:r>
              <a:rPr sz="1200" b="0" i="0">
                <a:solidFill>
                  <a:srgbClr val="EDEAE1"/>
                </a:solidFill>
                <a:latin typeface="Calibri"/>
              </a:rPr>
              <a:t>Guard: clipped to [0.5×, 1.5×] of the product's observed range</a:t>
            </a:r>
          </a:p>
        </p:txBody>
      </p:sp>
      <p:sp>
        <p:nvSpPr>
          <p:cNvPr id="16" name="Rectangle 15"/>
          <p:cNvSpPr/>
          <p:nvPr/>
        </p:nvSpPr>
        <p:spPr>
          <a:xfrm>
            <a:off x="8066836" y="1463040"/>
            <a:ext cx="3576218" cy="30175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1463040"/>
            <a:ext cx="54864" cy="301752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1428" y="1554480"/>
            <a:ext cx="3301898"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REWARD  r(i,t)  ·  scaled DRCR</a:t>
            </a:r>
          </a:p>
        </p:txBody>
      </p:sp>
      <p:sp>
        <p:nvSpPr>
          <p:cNvPr id="19" name="TextBox 18"/>
          <p:cNvSpPr txBox="1"/>
          <p:nvPr/>
        </p:nvSpPr>
        <p:spPr>
          <a:xfrm>
            <a:off x="8203996" y="1920240"/>
            <a:ext cx="3301898" cy="24688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100" b="0" i="0">
                <a:solidFill>
                  <a:srgbClr val="EDEAE1"/>
                </a:solidFill>
                <a:latin typeface="Consolas"/>
              </a:rPr>
              <a:t>RCR(t) = revenue(t) / category traffic(t)</a:t>
            </a:r>
          </a:p>
          <a:p>
            <a:pPr>
              <a:lnSpc>
                <a:spcPct val="112000"/>
              </a:lnSpc>
              <a:spcAft>
                <a:spcPts val="400"/>
              </a:spcAft>
            </a:pPr>
            <a:r>
              <a:rPr sz="1200">
                <a:solidFill>
                  <a:srgbClr val="E1A339"/>
                </a:solidFill>
                <a:latin typeface="Calibri"/>
              </a:rPr>
              <a:t>• </a:t>
            </a:r>
            <a:r>
              <a:rPr sz="1100" b="0" i="0">
                <a:solidFill>
                  <a:srgbClr val="EDEAE1"/>
                </a:solidFill>
                <a:latin typeface="Consolas"/>
              </a:rPr>
              <a:t>DRCR(t) = RCR(t) − RCR(t−1)</a:t>
            </a:r>
          </a:p>
          <a:p>
            <a:pPr>
              <a:lnSpc>
                <a:spcPct val="112000"/>
              </a:lnSpc>
              <a:spcAft>
                <a:spcPts val="400"/>
              </a:spcAft>
            </a:pPr>
            <a:r>
              <a:rPr sz="1200">
                <a:solidFill>
                  <a:srgbClr val="E1A339"/>
                </a:solidFill>
                <a:latin typeface="Calibri"/>
              </a:rPr>
              <a:t>• </a:t>
            </a:r>
            <a:r>
              <a:rPr sz="1100" b="0" i="0">
                <a:solidFill>
                  <a:srgbClr val="EDEAE1"/>
                </a:solidFill>
                <a:latin typeface="Consolas"/>
              </a:rPr>
              <a:t>reward = 100 × DRCR</a:t>
            </a:r>
          </a:p>
          <a:p>
            <a:pPr>
              <a:lnSpc>
                <a:spcPct val="112000"/>
              </a:lnSpc>
              <a:spcAft>
                <a:spcPts val="400"/>
              </a:spcAft>
            </a:pPr>
            <a:r>
              <a:rPr sz="1200">
                <a:solidFill>
                  <a:srgbClr val="E1A339"/>
                </a:solidFill>
                <a:latin typeface="Calibri"/>
              </a:rPr>
              <a:t>• </a:t>
            </a:r>
            <a:r>
              <a:rPr sz="1200" b="0" i="0">
                <a:solidFill>
                  <a:srgbClr val="EDEAE1"/>
                </a:solidFill>
                <a:latin typeface="Calibri"/>
              </a:rPr>
              <a:t>A difference signal: even a good policy hovers near zero</a:t>
            </a:r>
          </a:p>
          <a:p>
            <a:pPr>
              <a:lnSpc>
                <a:spcPct val="112000"/>
              </a:lnSpc>
              <a:spcAft>
                <a:spcPts val="400"/>
              </a:spcAft>
            </a:pPr>
            <a:r>
              <a:rPr sz="1200">
                <a:solidFill>
                  <a:srgbClr val="E1A339"/>
                </a:solidFill>
                <a:latin typeface="Calibri"/>
              </a:rPr>
              <a:t>• </a:t>
            </a:r>
            <a:r>
              <a:rPr sz="1200" b="0" i="0">
                <a:solidFill>
                  <a:srgbClr val="EDEAE1"/>
                </a:solidFill>
                <a:latin typeface="Calibri"/>
              </a:rPr>
              <a:t>Traffic proxy = units sold across the category that month</a:t>
            </a:r>
          </a:p>
        </p:txBody>
      </p:sp>
      <p:sp>
        <p:nvSpPr>
          <p:cNvPr id="20" name="TextBox 19"/>
          <p:cNvSpPr txBox="1"/>
          <p:nvPr/>
        </p:nvSpPr>
        <p:spPr>
          <a:xfrm>
            <a:off x="548640" y="4709160"/>
            <a:ext cx="11094415" cy="109728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Time structure. </a:t>
            </a:r>
            <a:r>
              <a:rPr sz="1400" b="0" i="0">
                <a:solidFill>
                  <a:srgbClr val="8C97A3"/>
                </a:solidFill>
                <a:latin typeface="Calibri"/>
              </a:rPr>
              <a:t>15 months per product: months 1–3 warm up the rolling features and RCR history; the agent prices months 4–15 (12 decisions). Features that describe recent performance are shifted one month so this month's outcome can never leak into the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3 · COUNTERFACTUAL DEMAND</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The hard part: history only shows one price per month</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7</a:t>
            </a:r>
          </a:p>
        </p:txBody>
      </p:sp>
      <p:sp>
        <p:nvSpPr>
          <p:cNvPr id="8" name="TextBox 7"/>
          <p:cNvSpPr txBox="1"/>
          <p:nvPr/>
        </p:nvSpPr>
        <p:spPr>
          <a:xfrm>
            <a:off x="548640" y="1463040"/>
            <a:ext cx="5669280" cy="457200"/>
          </a:xfrm>
          <a:prstGeom prst="rect">
            <a:avLst/>
          </a:prstGeom>
          <a:noFill/>
        </p:spPr>
        <p:txBody>
          <a:bodyPr wrap="square" anchor="t" lIns="45720" rIns="45720" tIns="27432" bIns="27432">
            <a:spAutoFit/>
          </a:bodyPr>
          <a:lstStyle/>
          <a:p>
            <a:pPr algn="l">
              <a:lnSpc>
                <a:spcPct val="115000"/>
              </a:lnSpc>
              <a:spcAft>
                <a:spcPts val="600"/>
              </a:spcAft>
            </a:pPr>
            <a:r>
              <a:rPr sz="1400" b="0" i="0">
                <a:solidFill>
                  <a:srgbClr val="5B6570"/>
                </a:solidFill>
                <a:latin typeface="Consolas"/>
              </a:rPr>
              <a:t>Logged data</a:t>
            </a:r>
          </a:p>
        </p:txBody>
      </p:sp>
      <p:graphicFrame>
        <p:nvGraphicFramePr>
          <p:cNvPr id="9" name="Table 8"/>
          <p:cNvGraphicFramePr>
            <a:graphicFrameLocks noGrp="1"/>
          </p:cNvGraphicFramePr>
          <p:nvPr/>
        </p:nvGraphicFramePr>
        <p:xfrm>
          <a:off x="548640" y="1828800"/>
          <a:ext cx="5669279" cy="1316736"/>
        </p:xfrm>
        <a:graphic>
          <a:graphicData uri="http://schemas.openxmlformats.org/drawingml/2006/table">
            <a:tbl>
              <a:tblPr firstRow="1" bandRow="1">
                <a:tableStyleId>{5C22544A-7EE6-4342-B048-85BDC9FD1C3A}</a:tableStyleId>
              </a:tblPr>
              <a:tblGrid>
                <a:gridCol w="1046636"/>
                <a:gridCol w="1308295"/>
                <a:gridCol w="1046636"/>
                <a:gridCol w="1133856"/>
                <a:gridCol w="1133856"/>
              </a:tblGrid>
              <a:tr h="329184">
                <a:tc>
                  <a:txBody>
                    <a:bodyPr wrap="square"/>
                    <a:lstStyle/>
                    <a:p>
                      <a:r>
                        <a:rPr sz="1100" b="1">
                          <a:solidFill>
                            <a:srgbClr val="E1A339"/>
                          </a:solidFill>
                          <a:latin typeface="Consolas"/>
                        </a:rPr>
                        <a:t>month</a:t>
                      </a:r>
                    </a:p>
                  </a:txBody>
                  <a:tcPr marL="73152" marR="73152" marT="36576" marB="36576" anchor="ctr">
                    <a:solidFill>
                      <a:srgbClr val="181D24"/>
                    </a:solidFill>
                  </a:tcPr>
                </a:tc>
                <a:tc>
                  <a:txBody>
                    <a:bodyPr wrap="square"/>
                    <a:lstStyle/>
                    <a:p>
                      <a:r>
                        <a:rPr sz="1100" b="1">
                          <a:solidFill>
                            <a:srgbClr val="E1A339"/>
                          </a:solidFill>
                          <a:latin typeface="Consolas"/>
                        </a:rPr>
                        <a:t>price charged</a:t>
                      </a:r>
                    </a:p>
                  </a:txBody>
                  <a:tcPr marL="73152" marR="73152" marT="36576" marB="36576" anchor="ctr">
                    <a:solidFill>
                      <a:srgbClr val="181D24"/>
                    </a:solidFill>
                  </a:tcPr>
                </a:tc>
                <a:tc>
                  <a:txBody>
                    <a:bodyPr wrap="square"/>
                    <a:lstStyle/>
                    <a:p>
                      <a:r>
                        <a:rPr sz="1100" b="1">
                          <a:solidFill>
                            <a:srgbClr val="E1A339"/>
                          </a:solidFill>
                          <a:latin typeface="Consolas"/>
                        </a:rPr>
                        <a:t>units sold</a:t>
                      </a:r>
                    </a:p>
                  </a:txBody>
                  <a:tcPr marL="73152" marR="73152" marT="36576" marB="36576" anchor="ctr">
                    <a:solidFill>
                      <a:srgbClr val="181D24"/>
                    </a:solidFill>
                  </a:tcPr>
                </a:tc>
                <a:tc>
                  <a:txBody>
                    <a:bodyPr wrap="square"/>
                    <a:lstStyle/>
                    <a:p>
                      <a:r>
                        <a:rPr sz="1100" b="1">
                          <a:solidFill>
                            <a:srgbClr val="E1A339"/>
                          </a:solidFill>
                          <a:latin typeface="Consolas"/>
                        </a:rPr>
                        <a:t>… at $85?</a:t>
                      </a:r>
                    </a:p>
                  </a:txBody>
                  <a:tcPr marL="73152" marR="73152" marT="36576" marB="36576" anchor="ctr">
                    <a:solidFill>
                      <a:srgbClr val="181D24"/>
                    </a:solidFill>
                  </a:tcPr>
                </a:tc>
                <a:tc>
                  <a:txBody>
                    <a:bodyPr wrap="square"/>
                    <a:lstStyle/>
                    <a:p>
                      <a:r>
                        <a:rPr sz="1100" b="1">
                          <a:solidFill>
                            <a:srgbClr val="E1A339"/>
                          </a:solidFill>
                          <a:latin typeface="Consolas"/>
                        </a:rPr>
                        <a:t>… at $110?</a:t>
                      </a:r>
                    </a:p>
                  </a:txBody>
                  <a:tcPr marL="73152" marR="73152" marT="36576" marB="36576" anchor="ctr">
                    <a:solidFill>
                      <a:srgbClr val="181D24"/>
                    </a:solidFill>
                  </a:tcPr>
                </a:tc>
              </a:tr>
              <a:tr h="329184">
                <a:tc>
                  <a:txBody>
                    <a:bodyPr wrap="square"/>
                    <a:lstStyle/>
                    <a:p>
                      <a:r>
                        <a:rPr sz="1200" b="0">
                          <a:solidFill>
                            <a:srgbClr val="EDEAE1"/>
                          </a:solidFill>
                          <a:latin typeface="Calibri"/>
                        </a:rPr>
                        <a:t>2017-06</a:t>
                      </a:r>
                    </a:p>
                  </a:txBody>
                  <a:tcPr marL="73152" marR="73152" marT="36576" marB="36576" anchor="ctr">
                    <a:solidFill>
                      <a:srgbClr val="12161B"/>
                    </a:solidFill>
                  </a:tcPr>
                </a:tc>
                <a:tc>
                  <a:txBody>
                    <a:bodyPr wrap="square"/>
                    <a:lstStyle/>
                    <a:p>
                      <a:r>
                        <a:rPr sz="1200" b="0">
                          <a:solidFill>
                            <a:srgbClr val="EDEAE1"/>
                          </a:solidFill>
                          <a:latin typeface="Calibri"/>
                        </a:rPr>
                        <a:t>$92.40</a:t>
                      </a:r>
                    </a:p>
                  </a:txBody>
                  <a:tcPr marL="73152" marR="73152" marT="36576" marB="36576" anchor="ctr">
                    <a:solidFill>
                      <a:srgbClr val="12161B"/>
                    </a:solidFill>
                  </a:tcPr>
                </a:tc>
                <a:tc>
                  <a:txBody>
                    <a:bodyPr wrap="square"/>
                    <a:lstStyle/>
                    <a:p>
                      <a:r>
                        <a:rPr sz="1200" b="0">
                          <a:solidFill>
                            <a:srgbClr val="EDEAE1"/>
                          </a:solidFill>
                          <a:latin typeface="Calibri"/>
                        </a:rPr>
                        <a:t>38</a:t>
                      </a:r>
                    </a:p>
                  </a:txBody>
                  <a:tcPr marL="73152" marR="73152" marT="36576" marB="36576" anchor="ctr">
                    <a:solidFill>
                      <a:srgbClr val="12161B"/>
                    </a:solidFill>
                  </a:tcPr>
                </a:tc>
                <a:tc>
                  <a:txBody>
                    <a:bodyPr wrap="square"/>
                    <a:lstStyle/>
                    <a:p>
                      <a:r>
                        <a:rPr sz="1200" b="0">
                          <a:solidFill>
                            <a:srgbClr val="EDEAE1"/>
                          </a:solidFill>
                          <a:latin typeface="Calibri"/>
                        </a:rPr>
                        <a:t>?</a:t>
                      </a:r>
                    </a:p>
                  </a:txBody>
                  <a:tcPr marL="73152" marR="73152" marT="36576" marB="36576" anchor="ctr">
                    <a:solidFill>
                      <a:srgbClr val="12161B"/>
                    </a:solidFill>
                  </a:tcPr>
                </a:tc>
                <a:tc>
                  <a:txBody>
                    <a:bodyPr wrap="square"/>
                    <a:lstStyle/>
                    <a:p>
                      <a:r>
                        <a:rPr sz="1200" b="0">
                          <a:solidFill>
                            <a:srgbClr val="EDEAE1"/>
                          </a:solidFill>
                          <a:latin typeface="Calibri"/>
                        </a:rPr>
                        <a:t>?</a:t>
                      </a:r>
                    </a:p>
                  </a:txBody>
                  <a:tcPr marL="73152" marR="73152" marT="36576" marB="36576" anchor="ctr">
                    <a:solidFill>
                      <a:srgbClr val="12161B"/>
                    </a:solidFill>
                  </a:tcPr>
                </a:tc>
              </a:tr>
              <a:tr h="329184">
                <a:tc>
                  <a:txBody>
                    <a:bodyPr wrap="square"/>
                    <a:lstStyle/>
                    <a:p>
                      <a:r>
                        <a:rPr sz="1200" b="0">
                          <a:solidFill>
                            <a:srgbClr val="EDEAE1"/>
                          </a:solidFill>
                          <a:latin typeface="Calibri"/>
                        </a:rPr>
                        <a:t>2017-07</a:t>
                      </a:r>
                    </a:p>
                  </a:txBody>
                  <a:tcPr marL="73152" marR="73152" marT="36576" marB="36576" anchor="ctr">
                    <a:solidFill>
                      <a:srgbClr val="1E242C"/>
                    </a:solidFill>
                  </a:tcPr>
                </a:tc>
                <a:tc>
                  <a:txBody>
                    <a:bodyPr wrap="square"/>
                    <a:lstStyle/>
                    <a:p>
                      <a:r>
                        <a:rPr sz="1200" b="0">
                          <a:solidFill>
                            <a:srgbClr val="EDEAE1"/>
                          </a:solidFill>
                          <a:latin typeface="Calibri"/>
                        </a:rPr>
                        <a:t>$94.10</a:t>
                      </a:r>
                    </a:p>
                  </a:txBody>
                  <a:tcPr marL="73152" marR="73152" marT="36576" marB="36576" anchor="ctr">
                    <a:solidFill>
                      <a:srgbClr val="1E242C"/>
                    </a:solidFill>
                  </a:tcPr>
                </a:tc>
                <a:tc>
                  <a:txBody>
                    <a:bodyPr wrap="square"/>
                    <a:lstStyle/>
                    <a:p>
                      <a:r>
                        <a:rPr sz="1200" b="0">
                          <a:solidFill>
                            <a:srgbClr val="EDEAE1"/>
                          </a:solidFill>
                          <a:latin typeface="Calibri"/>
                        </a:rPr>
                        <a:t>35</a:t>
                      </a:r>
                    </a:p>
                  </a:txBody>
                  <a:tcPr marL="73152" marR="73152" marT="36576" marB="36576" anchor="ctr">
                    <a:solidFill>
                      <a:srgbClr val="1E242C"/>
                    </a:solidFill>
                  </a:tcPr>
                </a:tc>
                <a:tc>
                  <a:txBody>
                    <a:bodyPr wrap="square"/>
                    <a:lstStyle/>
                    <a:p>
                      <a:r>
                        <a:rPr sz="1200" b="0">
                          <a:solidFill>
                            <a:srgbClr val="EDEAE1"/>
                          </a:solidFill>
                          <a:latin typeface="Calibri"/>
                        </a:rPr>
                        <a:t>?</a:t>
                      </a:r>
                    </a:p>
                  </a:txBody>
                  <a:tcPr marL="73152" marR="73152" marT="36576" marB="36576" anchor="ctr">
                    <a:solidFill>
                      <a:srgbClr val="1E242C"/>
                    </a:solidFill>
                  </a:tcPr>
                </a:tc>
                <a:tc>
                  <a:txBody>
                    <a:bodyPr wrap="square"/>
                    <a:lstStyle/>
                    <a:p>
                      <a:r>
                        <a:rPr sz="1200" b="0">
                          <a:solidFill>
                            <a:srgbClr val="EDEAE1"/>
                          </a:solidFill>
                          <a:latin typeface="Calibri"/>
                        </a:rPr>
                        <a:t>?</a:t>
                      </a:r>
                    </a:p>
                  </a:txBody>
                  <a:tcPr marL="73152" marR="73152" marT="36576" marB="36576" anchor="ctr">
                    <a:solidFill>
                      <a:srgbClr val="1E242C"/>
                    </a:solidFill>
                  </a:tcPr>
                </a:tc>
              </a:tr>
              <a:tr h="329184">
                <a:tc>
                  <a:txBody>
                    <a:bodyPr wrap="square"/>
                    <a:lstStyle/>
                    <a:p>
                      <a:r>
                        <a:rPr sz="1200" b="0">
                          <a:solidFill>
                            <a:srgbClr val="EDEAE1"/>
                          </a:solidFill>
                          <a:latin typeface="Calibri"/>
                        </a:rPr>
                        <a:t>2017-08</a:t>
                      </a:r>
                    </a:p>
                  </a:txBody>
                  <a:tcPr marL="73152" marR="73152" marT="36576" marB="36576" anchor="ctr">
                    <a:solidFill>
                      <a:srgbClr val="12161B"/>
                    </a:solidFill>
                  </a:tcPr>
                </a:tc>
                <a:tc>
                  <a:txBody>
                    <a:bodyPr wrap="square"/>
                    <a:lstStyle/>
                    <a:p>
                      <a:r>
                        <a:rPr sz="1200" b="0">
                          <a:solidFill>
                            <a:srgbClr val="EDEAE1"/>
                          </a:solidFill>
                          <a:latin typeface="Calibri"/>
                        </a:rPr>
                        <a:t>$90.80</a:t>
                      </a:r>
                    </a:p>
                  </a:txBody>
                  <a:tcPr marL="73152" marR="73152" marT="36576" marB="36576" anchor="ctr">
                    <a:solidFill>
                      <a:srgbClr val="12161B"/>
                    </a:solidFill>
                  </a:tcPr>
                </a:tc>
                <a:tc>
                  <a:txBody>
                    <a:bodyPr wrap="square"/>
                    <a:lstStyle/>
                    <a:p>
                      <a:r>
                        <a:rPr sz="1200" b="0">
                          <a:solidFill>
                            <a:srgbClr val="EDEAE1"/>
                          </a:solidFill>
                          <a:latin typeface="Calibri"/>
                        </a:rPr>
                        <a:t>41</a:t>
                      </a:r>
                    </a:p>
                  </a:txBody>
                  <a:tcPr marL="73152" marR="73152" marT="36576" marB="36576" anchor="ctr">
                    <a:solidFill>
                      <a:srgbClr val="12161B"/>
                    </a:solidFill>
                  </a:tcPr>
                </a:tc>
                <a:tc>
                  <a:txBody>
                    <a:bodyPr wrap="square"/>
                    <a:lstStyle/>
                    <a:p>
                      <a:r>
                        <a:rPr sz="1200" b="0">
                          <a:solidFill>
                            <a:srgbClr val="EDEAE1"/>
                          </a:solidFill>
                          <a:latin typeface="Calibri"/>
                        </a:rPr>
                        <a:t>?</a:t>
                      </a:r>
                    </a:p>
                  </a:txBody>
                  <a:tcPr marL="73152" marR="73152" marT="36576" marB="36576" anchor="ctr">
                    <a:solidFill>
                      <a:srgbClr val="12161B"/>
                    </a:solidFill>
                  </a:tcPr>
                </a:tc>
                <a:tc>
                  <a:txBody>
                    <a:bodyPr wrap="square"/>
                    <a:lstStyle/>
                    <a:p>
                      <a:r>
                        <a:rPr sz="1200" b="0">
                          <a:solidFill>
                            <a:srgbClr val="EDEAE1"/>
                          </a:solidFill>
                          <a:latin typeface="Calibri"/>
                        </a:rPr>
                        <a:t>?</a:t>
                      </a:r>
                    </a:p>
                  </a:txBody>
                  <a:tcPr marL="73152" marR="73152" marT="36576" marB="36576" anchor="ctr">
                    <a:solidFill>
                      <a:srgbClr val="12161B"/>
                    </a:solidFill>
                  </a:tcPr>
                </a:tc>
              </a:tr>
            </a:tbl>
          </a:graphicData>
        </a:graphic>
      </p:graphicFrame>
      <p:sp>
        <p:nvSpPr>
          <p:cNvPr id="10" name="TextBox 9"/>
          <p:cNvSpPr txBox="1"/>
          <p:nvPr/>
        </p:nvSpPr>
        <p:spPr>
          <a:xfrm>
            <a:off x="548640" y="3474720"/>
            <a:ext cx="5669280" cy="1645920"/>
          </a:xfrm>
          <a:prstGeom prst="rect">
            <a:avLst/>
          </a:prstGeom>
          <a:noFill/>
        </p:spPr>
        <p:txBody>
          <a:bodyPr wrap="square" anchor="t" lIns="45720" rIns="45720" tIns="27432" bIns="27432">
            <a:spAutoFit/>
          </a:bodyPr>
          <a:lstStyle/>
          <a:p>
            <a:pPr algn="l">
              <a:lnSpc>
                <a:spcPct val="115000"/>
              </a:lnSpc>
              <a:spcAft>
                <a:spcPts val="600"/>
              </a:spcAft>
            </a:pPr>
            <a:r>
              <a:rPr sz="1500" b="1" i="0">
                <a:solidFill>
                  <a:srgbClr val="EDEAE1"/>
                </a:solidFill>
                <a:latin typeface="Calibri"/>
              </a:rPr>
              <a:t>Pure replay cannot answer the question marks. </a:t>
            </a:r>
            <a:r>
              <a:rPr sz="1500" b="0" i="0">
                <a:solidFill>
                  <a:srgbClr val="8C97A3"/>
                </a:solidFill>
                <a:latin typeface="Calibri"/>
              </a:rPr>
              <a:t>If the agent picks $110, the row for $94.10 tells us nothing about it.</a:t>
            </a:r>
          </a:p>
        </p:txBody>
      </p:sp>
      <p:sp>
        <p:nvSpPr>
          <p:cNvPr id="11" name="Rectangle 10"/>
          <p:cNvSpPr/>
          <p:nvPr/>
        </p:nvSpPr>
        <p:spPr>
          <a:xfrm>
            <a:off x="6583680" y="1463040"/>
            <a:ext cx="5059375" cy="356616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0" y="1463040"/>
            <a:ext cx="54864" cy="356616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48272" y="1554480"/>
            <a:ext cx="478505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THE FIX: A DEMAND-RESPONSE MODEL</a:t>
            </a:r>
          </a:p>
        </p:txBody>
      </p:sp>
      <p:sp>
        <p:nvSpPr>
          <p:cNvPr id="14" name="TextBox 13"/>
          <p:cNvSpPr txBox="1"/>
          <p:nvPr/>
        </p:nvSpPr>
        <p:spPr>
          <a:xfrm>
            <a:off x="6720840" y="1920240"/>
            <a:ext cx="4785055" cy="3017520"/>
          </a:xfrm>
          <a:prstGeom prst="rect">
            <a:avLst/>
          </a:prstGeom>
          <a:noFill/>
        </p:spPr>
        <p:txBody>
          <a:bodyPr wrap="square" lIns="45720" rIns="45720">
            <a:spAutoFit/>
          </a:bodyPr>
          <a:lstStyle/>
          <a:p>
            <a:pPr>
              <a:lnSpc>
                <a:spcPct val="112000"/>
              </a:lnSpc>
              <a:spcAft>
                <a:spcPts val="400"/>
              </a:spcAft>
            </a:pPr>
            <a:r>
              <a:rPr sz="1300">
                <a:solidFill>
                  <a:srgbClr val="E1A339"/>
                </a:solidFill>
                <a:latin typeface="Calibri"/>
              </a:rPr>
              <a:t>• </a:t>
            </a:r>
            <a:r>
              <a:rPr sz="1300" b="0" i="0">
                <a:solidFill>
                  <a:srgbClr val="EDEAE1"/>
                </a:solidFill>
                <a:latin typeface="Calibri"/>
              </a:rPr>
              <a:t>Fit units-sold = f(price, context) on the full history</a:t>
            </a:r>
          </a:p>
          <a:p>
            <a:pPr>
              <a:lnSpc>
                <a:spcPct val="112000"/>
              </a:lnSpc>
              <a:spcAft>
                <a:spcPts val="400"/>
              </a:spcAft>
            </a:pPr>
            <a:r>
              <a:rPr sz="1300">
                <a:solidFill>
                  <a:srgbClr val="E1A339"/>
                </a:solidFill>
                <a:latin typeface="Calibri"/>
              </a:rPr>
              <a:t>• </a:t>
            </a:r>
            <a:r>
              <a:rPr sz="1300" b="0" i="0">
                <a:solidFill>
                  <a:srgbClr val="EDEAE1"/>
                </a:solidFill>
                <a:latin typeface="Calibri"/>
              </a:rPr>
              <a:t>Ask it for any candidate price at the real month's context (competitors, traffic, season)</a:t>
            </a:r>
          </a:p>
          <a:p>
            <a:pPr>
              <a:lnSpc>
                <a:spcPct val="112000"/>
              </a:lnSpc>
              <a:spcAft>
                <a:spcPts val="400"/>
              </a:spcAft>
            </a:pPr>
            <a:r>
              <a:rPr sz="1300">
                <a:solidFill>
                  <a:srgbClr val="E1A339"/>
                </a:solidFill>
                <a:latin typeface="Calibri"/>
              </a:rPr>
              <a:t>• </a:t>
            </a:r>
            <a:r>
              <a:rPr sz="1300" b="0" i="0">
                <a:solidFill>
                  <a:srgbClr val="EDEAE1"/>
                </a:solidFill>
                <a:latin typeface="Calibri"/>
              </a:rPr>
              <a:t>It becomes the environment's transition and reward function</a:t>
            </a:r>
          </a:p>
          <a:p>
            <a:pPr>
              <a:lnSpc>
                <a:spcPct val="112000"/>
              </a:lnSpc>
              <a:spcAft>
                <a:spcPts val="400"/>
              </a:spcAft>
            </a:pPr>
            <a:r>
              <a:rPr sz="1300">
                <a:solidFill>
                  <a:srgbClr val="E1A339"/>
                </a:solidFill>
                <a:latin typeface="Calibri"/>
              </a:rPr>
              <a:t>• </a:t>
            </a:r>
            <a:r>
              <a:rPr sz="1300" b="0" i="0">
                <a:solidFill>
                  <a:srgbClr val="EDEAE1"/>
                </a:solidFill>
                <a:latin typeface="Calibri"/>
              </a:rPr>
              <a:t>Agents and the seller's own prices are scored through the same model → fair, in-simulator comparison</a:t>
            </a:r>
          </a:p>
          <a:p>
            <a:pPr>
              <a:lnSpc>
                <a:spcPct val="112000"/>
              </a:lnSpc>
              <a:spcAft>
                <a:spcPts val="400"/>
              </a:spcAft>
            </a:pPr>
            <a:r>
              <a:rPr sz="1300">
                <a:solidFill>
                  <a:srgbClr val="E1A339"/>
                </a:solidFill>
                <a:latin typeface="Calibri"/>
              </a:rPr>
              <a:t>• </a:t>
            </a:r>
            <a:r>
              <a:rPr sz="1300" b="1" i="0">
                <a:solidFill>
                  <a:srgbClr val="E1A339"/>
                </a:solidFill>
                <a:latin typeface="Calibri"/>
              </a:rPr>
              <a:t>Validated on each product's last 2 months: R² = 0.94 in log-units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3 · COUNTERFACTUAL DEMAND</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The demand model: elasticity first, corrections second</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8</a:t>
            </a:r>
          </a:p>
        </p:txBody>
      </p:sp>
      <p:sp>
        <p:nvSpPr>
          <p:cNvPr id="8" name="Rectangle 7"/>
          <p:cNvSpPr/>
          <p:nvPr/>
        </p:nvSpPr>
        <p:spPr>
          <a:xfrm>
            <a:off x="548640" y="1463040"/>
            <a:ext cx="5486400" cy="19202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54864" cy="192024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554480"/>
            <a:ext cx="521208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LAYER 1 · FIXED-EFFECTS ELASTICITY BASELINE</a:t>
            </a:r>
          </a:p>
        </p:txBody>
      </p:sp>
      <p:sp>
        <p:nvSpPr>
          <p:cNvPr id="11" name="TextBox 10"/>
          <p:cNvSpPr txBox="1"/>
          <p:nvPr/>
        </p:nvSpPr>
        <p:spPr>
          <a:xfrm>
            <a:off x="685800" y="1920240"/>
            <a:ext cx="5212080" cy="137160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150" b="0" i="0">
                <a:solidFill>
                  <a:srgbClr val="EDEAE1"/>
                </a:solidFill>
                <a:latin typeface="Consolas"/>
              </a:rPr>
              <a:t>log(1+qty) = αᵢ + β·log(price) + controls</a:t>
            </a:r>
          </a:p>
          <a:p>
            <a:pPr>
              <a:lnSpc>
                <a:spcPct val="112000"/>
              </a:lnSpc>
              <a:spcAft>
                <a:spcPts val="400"/>
              </a:spcAft>
            </a:pPr>
            <a:r>
              <a:rPr sz="1200">
                <a:solidFill>
                  <a:srgbClr val="E1A339"/>
                </a:solidFill>
                <a:latin typeface="Calibri"/>
              </a:rPr>
              <a:t>• </a:t>
            </a:r>
            <a:r>
              <a:rPr sz="1200" b="0" i="0">
                <a:solidFill>
                  <a:srgbClr val="EDEAE1"/>
                </a:solidFill>
                <a:latin typeface="Calibri"/>
              </a:rPr>
              <a:t>Every regressor demeaned within product → β comes from each product's own price moves</a:t>
            </a:r>
          </a:p>
          <a:p>
            <a:pPr>
              <a:lnSpc>
                <a:spcPct val="112000"/>
              </a:lnSpc>
              <a:spcAft>
                <a:spcPts val="400"/>
              </a:spcAft>
            </a:pPr>
            <a:r>
              <a:rPr sz="1200">
                <a:solidFill>
                  <a:srgbClr val="E1A339"/>
                </a:solidFill>
                <a:latin typeface="Calibri"/>
              </a:rPr>
              <a:t>• </a:t>
            </a:r>
            <a:r>
              <a:rPr sz="1200" b="0" i="0">
                <a:solidFill>
                  <a:srgbClr val="EDEAE1"/>
                </a:solidFill>
                <a:latin typeface="Calibri"/>
              </a:rPr>
              <a:t>Fitted β = -0.89: +10 % price ≈ −9 % units</a:t>
            </a:r>
          </a:p>
        </p:txBody>
      </p:sp>
      <p:sp>
        <p:nvSpPr>
          <p:cNvPr id="12" name="Rectangle 11"/>
          <p:cNvSpPr/>
          <p:nvPr/>
        </p:nvSpPr>
        <p:spPr>
          <a:xfrm>
            <a:off x="548640" y="3566160"/>
            <a:ext cx="5486400"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566160"/>
            <a:ext cx="54864" cy="160020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657600"/>
            <a:ext cx="521208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LAYER 2 · CAPPED GRADIENT-BOOSTED RESIDUAL</a:t>
            </a:r>
          </a:p>
        </p:txBody>
      </p:sp>
      <p:sp>
        <p:nvSpPr>
          <p:cNvPr id="15" name="TextBox 14"/>
          <p:cNvSpPr txBox="1"/>
          <p:nvPr/>
        </p:nvSpPr>
        <p:spPr>
          <a:xfrm>
            <a:off x="685800" y="4023360"/>
            <a:ext cx="5212080" cy="105156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HistGradientBoosting, depth 3, ≤ 250 trees, early-stopped, L2 = 1.0</a:t>
            </a:r>
          </a:p>
          <a:p>
            <a:pPr>
              <a:lnSpc>
                <a:spcPct val="112000"/>
              </a:lnSpc>
              <a:spcAft>
                <a:spcPts val="400"/>
              </a:spcAft>
            </a:pPr>
            <a:r>
              <a:rPr sz="1200">
                <a:solidFill>
                  <a:srgbClr val="E1A339"/>
                </a:solidFill>
                <a:latin typeface="Calibri"/>
              </a:rPr>
              <a:t>• </a:t>
            </a:r>
            <a:r>
              <a:rPr sz="1200" b="0" i="0">
                <a:solidFill>
                  <a:srgbClr val="EDEAE1"/>
                </a:solidFill>
                <a:latin typeface="Calibri"/>
              </a:rPr>
              <a:t>Learns competitor gaps, seasonality, category effects the line misses</a:t>
            </a:r>
          </a:p>
          <a:p>
            <a:pPr>
              <a:lnSpc>
                <a:spcPct val="112000"/>
              </a:lnSpc>
              <a:spcAft>
                <a:spcPts val="400"/>
              </a:spcAft>
            </a:pPr>
            <a:r>
              <a:rPr sz="1200">
                <a:solidFill>
                  <a:srgbClr val="E1A339"/>
                </a:solidFill>
                <a:latin typeface="Calibri"/>
              </a:rPr>
              <a:t>• </a:t>
            </a:r>
            <a:r>
              <a:rPr sz="1200" b="0" i="0">
                <a:solidFill>
                  <a:srgbClr val="EDEAE1"/>
                </a:solidFill>
                <a:latin typeface="Calibri"/>
              </a:rPr>
              <a:t>Output clipped to ±3σ of its in-sample spread → can bend, never flip</a:t>
            </a:r>
          </a:p>
        </p:txBody>
      </p:sp>
      <p:sp>
        <p:nvSpPr>
          <p:cNvPr id="16" name="Rectangle 15"/>
          <p:cNvSpPr/>
          <p:nvPr/>
        </p:nvSpPr>
        <p:spPr>
          <a:xfrm>
            <a:off x="6300360" y="1481085"/>
            <a:ext cx="5351695" cy="2889989"/>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emand_model_monotonicity.png"/>
          <p:cNvPicPr>
            <a:picLocks noChangeAspect="1"/>
          </p:cNvPicPr>
          <p:nvPr/>
        </p:nvPicPr>
        <p:blipFill>
          <a:blip r:embed="rId3"/>
          <a:stretch>
            <a:fillRect/>
          </a:stretch>
        </p:blipFill>
        <p:spPr>
          <a:xfrm>
            <a:off x="6309360" y="1490085"/>
            <a:ext cx="5333695" cy="2871989"/>
          </a:xfrm>
          <a:prstGeom prst="rect">
            <a:avLst/>
          </a:prstGeom>
        </p:spPr>
      </p:pic>
      <p:sp>
        <p:nvSpPr>
          <p:cNvPr id="18" name="TextBox 17"/>
          <p:cNvSpPr txBox="1"/>
          <p:nvPr/>
        </p:nvSpPr>
        <p:spPr>
          <a:xfrm>
            <a:off x="6309360" y="4434840"/>
            <a:ext cx="5333695" cy="822960"/>
          </a:xfrm>
          <a:prstGeom prst="rect">
            <a:avLst/>
          </a:prstGeom>
          <a:noFill/>
        </p:spPr>
        <p:txBody>
          <a:bodyPr wrap="square" anchor="t" lIns="45720" rIns="45720" tIns="27432" bIns="27432">
            <a:spAutoFit/>
          </a:bodyPr>
          <a:lstStyle/>
          <a:p>
            <a:pPr algn="l">
              <a:lnSpc>
                <a:spcPct val="115000"/>
              </a:lnSpc>
              <a:spcAft>
                <a:spcPts val="600"/>
              </a:spcAft>
            </a:pPr>
            <a:r>
              <a:rPr sz="1200" b="1" i="0">
                <a:solidFill>
                  <a:srgbClr val="EDEAE1"/>
                </a:solidFill>
                <a:latin typeface="Calibri"/>
              </a:rPr>
              <a:t>Guard rails: </a:t>
            </a:r>
            <a:r>
              <a:rPr sz="1200" b="0" i="0">
                <a:solidFill>
                  <a:srgbClr val="8C97A3"/>
                </a:solidFill>
                <a:latin typeface="Calibri"/>
              </a:rPr>
              <a:t>prices clipped to [0.5×, 1.5×] of the product's history; competitor gaps recomputed at the candidate price; time-based holdout, never a random row split.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3 · DATA</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The data: a retail pricing panel, real schema, synthetic fallback</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9</a:t>
            </a:r>
          </a:p>
        </p:txBody>
      </p:sp>
      <p:graphicFrame>
        <p:nvGraphicFramePr>
          <p:cNvPr id="8" name="Table 7"/>
          <p:cNvGraphicFramePr>
            <a:graphicFrameLocks noGrp="1"/>
          </p:cNvGraphicFramePr>
          <p:nvPr/>
        </p:nvGraphicFramePr>
        <p:xfrm>
          <a:off x="548640" y="1463040"/>
          <a:ext cx="6766560" cy="2514600"/>
        </p:xfrm>
        <a:graphic>
          <a:graphicData uri="http://schemas.openxmlformats.org/drawingml/2006/table">
            <a:tbl>
              <a:tblPr firstRow="1" bandRow="1">
                <a:tableStyleId>{5C22544A-7EE6-4342-B048-85BDC9FD1C3A}</a:tableStyleId>
              </a:tblPr>
              <a:tblGrid>
                <a:gridCol w="1280160"/>
                <a:gridCol w="3291840"/>
                <a:gridCol w="2194560"/>
              </a:tblGrid>
              <a:tr h="502920">
                <a:tc>
                  <a:txBody>
                    <a:bodyPr wrap="square"/>
                    <a:lstStyle/>
                    <a:p>
                      <a:r>
                        <a:rPr sz="1050" b="1">
                          <a:solidFill>
                            <a:srgbClr val="E1A339"/>
                          </a:solidFill>
                          <a:latin typeface="Consolas"/>
                        </a:rPr>
                        <a:t>Column group</a:t>
                      </a:r>
                    </a:p>
                  </a:txBody>
                  <a:tcPr marL="73152" marR="73152" marT="36576" marB="36576" anchor="ctr">
                    <a:solidFill>
                      <a:srgbClr val="181D24"/>
                    </a:solidFill>
                  </a:tcPr>
                </a:tc>
                <a:tc>
                  <a:txBody>
                    <a:bodyPr wrap="square"/>
                    <a:lstStyle/>
                    <a:p>
                      <a:r>
                        <a:rPr sz="1050" b="1">
                          <a:solidFill>
                            <a:srgbClr val="E1A339"/>
                          </a:solidFill>
                          <a:latin typeface="Consolas"/>
                        </a:rPr>
                        <a:t>Fields</a:t>
                      </a:r>
                    </a:p>
                  </a:txBody>
                  <a:tcPr marL="73152" marR="73152" marT="36576" marB="36576" anchor="ctr">
                    <a:solidFill>
                      <a:srgbClr val="181D24"/>
                    </a:solidFill>
                  </a:tcPr>
                </a:tc>
                <a:tc>
                  <a:txBody>
                    <a:bodyPr wrap="square"/>
                    <a:lstStyle/>
                    <a:p>
                      <a:r>
                        <a:rPr sz="1050" b="1">
                          <a:solidFill>
                            <a:srgbClr val="E1A339"/>
                          </a:solidFill>
                          <a:latin typeface="Consolas"/>
                        </a:rPr>
                        <a:t>Feeds</a:t>
                      </a:r>
                    </a:p>
                  </a:txBody>
                  <a:tcPr marL="73152" marR="73152" marT="36576" marB="36576" anchor="ctr">
                    <a:solidFill>
                      <a:srgbClr val="181D24"/>
                    </a:solidFill>
                  </a:tcPr>
                </a:tc>
              </a:tr>
              <a:tr h="502920">
                <a:tc>
                  <a:txBody>
                    <a:bodyPr wrap="square"/>
                    <a:lstStyle/>
                    <a:p>
                      <a:r>
                        <a:rPr sz="1150" b="0">
                          <a:solidFill>
                            <a:srgbClr val="EDEAE1"/>
                          </a:solidFill>
                          <a:latin typeface="Calibri"/>
                        </a:rPr>
                        <a:t>Identity / time</a:t>
                      </a:r>
                    </a:p>
                  </a:txBody>
                  <a:tcPr marL="73152" marR="73152" marT="36576" marB="36576" anchor="ctr">
                    <a:solidFill>
                      <a:srgbClr val="12161B"/>
                    </a:solidFill>
                  </a:tcPr>
                </a:tc>
                <a:tc>
                  <a:txBody>
                    <a:bodyPr wrap="square"/>
                    <a:lstStyle/>
                    <a:p>
                      <a:r>
                        <a:rPr sz="1150" b="0">
                          <a:solidFill>
                            <a:srgbClr val="EDEAE1"/>
                          </a:solidFill>
                          <a:latin typeface="Calibri"/>
                        </a:rPr>
                        <a:t>product_id, product_category_name, month_year</a:t>
                      </a:r>
                    </a:p>
                  </a:txBody>
                  <a:tcPr marL="73152" marR="73152" marT="36576" marB="36576" anchor="ctr">
                    <a:solidFill>
                      <a:srgbClr val="12161B"/>
                    </a:solidFill>
                  </a:tcPr>
                </a:tc>
                <a:tc>
                  <a:txBody>
                    <a:bodyPr wrap="square"/>
                    <a:lstStyle/>
                    <a:p>
                      <a:r>
                        <a:rPr sz="1150" b="0">
                          <a:solidFill>
                            <a:srgbClr val="EDEAE1"/>
                          </a:solidFill>
                          <a:latin typeface="Calibri"/>
                        </a:rPr>
                        <a:t>grouping, warm-up, seasonality</a:t>
                      </a:r>
                    </a:p>
                  </a:txBody>
                  <a:tcPr marL="73152" marR="73152" marT="36576" marB="36576" anchor="ctr">
                    <a:solidFill>
                      <a:srgbClr val="12161B"/>
                    </a:solidFill>
                  </a:tcPr>
                </a:tc>
              </a:tr>
              <a:tr h="502920">
                <a:tc>
                  <a:txBody>
                    <a:bodyPr wrap="square"/>
                    <a:lstStyle/>
                    <a:p>
                      <a:r>
                        <a:rPr sz="1150" b="0">
                          <a:solidFill>
                            <a:srgbClr val="EDEAE1"/>
                          </a:solidFill>
                          <a:latin typeface="Calibri"/>
                        </a:rPr>
                        <a:t>Own product</a:t>
                      </a:r>
                    </a:p>
                  </a:txBody>
                  <a:tcPr marL="73152" marR="73152" marT="36576" marB="36576" anchor="ctr">
                    <a:solidFill>
                      <a:srgbClr val="1E242C"/>
                    </a:solidFill>
                  </a:tcPr>
                </a:tc>
                <a:tc>
                  <a:txBody>
                    <a:bodyPr wrap="square"/>
                    <a:lstStyle/>
                    <a:p>
                      <a:r>
                        <a:rPr sz="1150" b="0">
                          <a:solidFill>
                            <a:srgbClr val="EDEAE1"/>
                          </a:solidFill>
                          <a:latin typeface="Calibri"/>
                        </a:rPr>
                        <a:t>unit_price, qty, total_price, freight_price, product_score, lag_price, customers</a:t>
                      </a:r>
                    </a:p>
                  </a:txBody>
                  <a:tcPr marL="73152" marR="73152" marT="36576" marB="36576" anchor="ctr">
                    <a:solidFill>
                      <a:srgbClr val="1E242C"/>
                    </a:solidFill>
                  </a:tcPr>
                </a:tc>
                <a:tc>
                  <a:txBody>
                    <a:bodyPr wrap="square"/>
                    <a:lstStyle/>
                    <a:p>
                      <a:r>
                        <a:rPr sz="1150" b="0">
                          <a:solidFill>
                            <a:srgbClr val="EDEAE1"/>
                          </a:solidFill>
                          <a:latin typeface="Calibri"/>
                        </a:rPr>
                        <a:t>state, demand-model target</a:t>
                      </a:r>
                    </a:p>
                  </a:txBody>
                  <a:tcPr marL="73152" marR="73152" marT="36576" marB="36576" anchor="ctr">
                    <a:solidFill>
                      <a:srgbClr val="1E242C"/>
                    </a:solidFill>
                  </a:tcPr>
                </a:tc>
              </a:tr>
              <a:tr h="502920">
                <a:tc>
                  <a:txBody>
                    <a:bodyPr wrap="square"/>
                    <a:lstStyle/>
                    <a:p>
                      <a:r>
                        <a:rPr sz="1150" b="0">
                          <a:solidFill>
                            <a:srgbClr val="EDEAE1"/>
                          </a:solidFill>
                          <a:latin typeface="Calibri"/>
                        </a:rPr>
                        <a:t>Competitors</a:t>
                      </a:r>
                    </a:p>
                  </a:txBody>
                  <a:tcPr marL="73152" marR="73152" marT="36576" marB="36576" anchor="ctr">
                    <a:solidFill>
                      <a:srgbClr val="12161B"/>
                    </a:solidFill>
                  </a:tcPr>
                </a:tc>
                <a:tc>
                  <a:txBody>
                    <a:bodyPr wrap="square"/>
                    <a:lstStyle/>
                    <a:p>
                      <a:r>
                        <a:rPr sz="1150" b="0">
                          <a:solidFill>
                            <a:srgbClr val="EDEAE1"/>
                          </a:solidFill>
                          <a:latin typeface="Calibri"/>
                        </a:rPr>
                        <a:t>comp_1..3, ps1..3, fp1..3</a:t>
                      </a:r>
                    </a:p>
                  </a:txBody>
                  <a:tcPr marL="73152" marR="73152" marT="36576" marB="36576" anchor="ctr">
                    <a:solidFill>
                      <a:srgbClr val="12161B"/>
                    </a:solidFill>
                  </a:tcPr>
                </a:tc>
                <a:tc>
                  <a:txBody>
                    <a:bodyPr wrap="square"/>
                    <a:lstStyle/>
                    <a:p>
                      <a:r>
                        <a:rPr sz="1150" b="0">
                          <a:solidFill>
                            <a:srgbClr val="EDEAE1"/>
                          </a:solidFill>
                          <a:latin typeface="Calibri"/>
                        </a:rPr>
                        <a:t>competitiveness gaps, price rank</a:t>
                      </a:r>
                    </a:p>
                  </a:txBody>
                  <a:tcPr marL="73152" marR="73152" marT="36576" marB="36576" anchor="ctr">
                    <a:solidFill>
                      <a:srgbClr val="12161B"/>
                    </a:solidFill>
                  </a:tcPr>
                </a:tc>
              </a:tr>
              <a:tr h="502920">
                <a:tc>
                  <a:txBody>
                    <a:bodyPr wrap="square"/>
                    <a:lstStyle/>
                    <a:p>
                      <a:r>
                        <a:rPr sz="1150" b="0">
                          <a:solidFill>
                            <a:srgbClr val="EDEAE1"/>
                          </a:solidFill>
                          <a:latin typeface="Calibri"/>
                        </a:rPr>
                        <a:t>Calendar</a:t>
                      </a:r>
                    </a:p>
                  </a:txBody>
                  <a:tcPr marL="73152" marR="73152" marT="36576" marB="36576" anchor="ctr">
                    <a:solidFill>
                      <a:srgbClr val="1E242C"/>
                    </a:solidFill>
                  </a:tcPr>
                </a:tc>
                <a:tc>
                  <a:txBody>
                    <a:bodyPr wrap="square"/>
                    <a:lstStyle/>
                    <a:p>
                      <a:r>
                        <a:rPr sz="1150" b="0">
                          <a:solidFill>
                            <a:srgbClr val="EDEAE1"/>
                          </a:solidFill>
                          <a:latin typeface="Calibri"/>
                        </a:rPr>
                        <a:t>weekday, weekend, holiday, month, year</a:t>
                      </a:r>
                    </a:p>
                  </a:txBody>
                  <a:tcPr marL="73152" marR="73152" marT="36576" marB="36576" anchor="ctr">
                    <a:solidFill>
                      <a:srgbClr val="1E242C"/>
                    </a:solidFill>
                  </a:tcPr>
                </a:tc>
                <a:tc>
                  <a:txBody>
                    <a:bodyPr wrap="square"/>
                    <a:lstStyle/>
                    <a:p>
                      <a:r>
                        <a:rPr sz="1150" b="0">
                          <a:solidFill>
                            <a:srgbClr val="EDEAE1"/>
                          </a:solidFill>
                          <a:latin typeface="Calibri"/>
                        </a:rPr>
                        <a:t>seasonality features</a:t>
                      </a:r>
                    </a:p>
                  </a:txBody>
                  <a:tcPr marL="73152" marR="73152" marT="36576" marB="36576" anchor="ctr">
                    <a:solidFill>
                      <a:srgbClr val="1E242C"/>
                    </a:solidFill>
                  </a:tcPr>
                </a:tc>
              </a:tr>
            </a:tbl>
          </a:graphicData>
        </a:graphic>
      </p:graphicFrame>
      <p:sp>
        <p:nvSpPr>
          <p:cNvPr id="9" name="Rectangle 8"/>
          <p:cNvSpPr/>
          <p:nvPr/>
        </p:nvSpPr>
        <p:spPr>
          <a:xfrm>
            <a:off x="7589520" y="1463040"/>
            <a:ext cx="4053535" cy="36576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89520" y="1463040"/>
            <a:ext cx="54864" cy="365760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54112" y="155448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SYNTHETIC PANEL USED TODAY</a:t>
            </a:r>
          </a:p>
        </p:txBody>
      </p:sp>
      <p:sp>
        <p:nvSpPr>
          <p:cNvPr id="12" name="TextBox 11"/>
          <p:cNvSpPr txBox="1"/>
          <p:nvPr/>
        </p:nvSpPr>
        <p:spPr>
          <a:xfrm>
            <a:off x="7726680" y="1920240"/>
            <a:ext cx="3779215" cy="310896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10 categories × 8 products × 15 months = 1,200 rows, 80 products</a:t>
            </a:r>
          </a:p>
          <a:p>
            <a:pPr>
              <a:lnSpc>
                <a:spcPct val="112000"/>
              </a:lnSpc>
              <a:spcAft>
                <a:spcPts val="400"/>
              </a:spcAft>
            </a:pPr>
            <a:r>
              <a:rPr sz="1200">
                <a:solidFill>
                  <a:srgbClr val="E1A339"/>
                </a:solidFill>
                <a:latin typeface="Calibri"/>
              </a:rPr>
              <a:t>• </a:t>
            </a:r>
            <a:r>
              <a:rPr sz="1200" b="0" i="0">
                <a:solidFill>
                  <a:srgbClr val="EDEAE1"/>
                </a:solidFill>
                <a:latin typeface="Calibri"/>
              </a:rPr>
              <a:t>units = base × (price / ref)^(−elasticity) × season × noise, category elasticity 1.0–2.5</a:t>
            </a:r>
          </a:p>
          <a:p>
            <a:pPr>
              <a:lnSpc>
                <a:spcPct val="112000"/>
              </a:lnSpc>
              <a:spcAft>
                <a:spcPts val="400"/>
              </a:spcAft>
            </a:pPr>
            <a:r>
              <a:rPr sz="1200">
                <a:solidFill>
                  <a:srgbClr val="E1A339"/>
                </a:solidFill>
                <a:latin typeface="Calibri"/>
              </a:rPr>
              <a:t>• </a:t>
            </a:r>
            <a:r>
              <a:rPr sz="1200" b="0" i="0">
                <a:solidFill>
                  <a:srgbClr val="EDEAE1"/>
                </a:solidFill>
                <a:latin typeface="Calibri"/>
              </a:rPr>
              <a:t>Prices follow a mean-reverting random walk (~3 % / month)</a:t>
            </a:r>
          </a:p>
          <a:p>
            <a:pPr>
              <a:lnSpc>
                <a:spcPct val="112000"/>
              </a:lnSpc>
              <a:spcAft>
                <a:spcPts val="400"/>
              </a:spcAft>
            </a:pPr>
            <a:r>
              <a:rPr sz="1200">
                <a:solidFill>
                  <a:srgbClr val="E1A339"/>
                </a:solidFill>
                <a:latin typeface="Calibri"/>
              </a:rPr>
              <a:t>• </a:t>
            </a:r>
            <a:r>
              <a:rPr sz="1200" b="0" i="0">
                <a:solidFill>
                  <a:srgbClr val="EDEAE1"/>
                </a:solidFill>
                <a:latin typeface="Calibri"/>
              </a:rPr>
              <a:t>Same columns as Kaggle → drop the real CSV into data/raw/, refit, rerun</a:t>
            </a:r>
          </a:p>
          <a:p>
            <a:pPr>
              <a:lnSpc>
                <a:spcPct val="112000"/>
              </a:lnSpc>
              <a:spcAft>
                <a:spcPts val="400"/>
              </a:spcAft>
            </a:pPr>
            <a:r>
              <a:rPr sz="1200">
                <a:solidFill>
                  <a:srgbClr val="E1A339"/>
                </a:solidFill>
                <a:latin typeface="Calibri"/>
              </a:rPr>
              <a:t>• </a:t>
            </a:r>
            <a:r>
              <a:rPr sz="1200" b="1" i="0">
                <a:solidFill>
                  <a:srgbClr val="E1A339"/>
                </a:solidFill>
                <a:latin typeface="Calibri"/>
              </a:rPr>
              <a:t>Product split: 60 train / 20 held-out, by product, stratified by category</a:t>
            </a:r>
          </a:p>
        </p:txBody>
      </p:sp>
      <p:sp>
        <p:nvSpPr>
          <p:cNvPr id="13" name="TextBox 12"/>
          <p:cNvSpPr txBox="1"/>
          <p:nvPr/>
        </p:nvSpPr>
        <p:spPr>
          <a:xfrm>
            <a:off x="548640" y="4160520"/>
            <a:ext cx="6766560" cy="118872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DEAE1"/>
                </a:solidFill>
                <a:latin typeface="Calibri"/>
              </a:rPr>
              <a:t>Leakage discipline. </a:t>
            </a:r>
            <a:r>
              <a:rPr sz="1300" b="0" i="0">
                <a:solidFill>
                  <a:srgbClr val="8C97A3"/>
                </a:solidFill>
                <a:latin typeface="Calibri"/>
              </a:rPr>
              <a:t>A feature may only use what is known before the month's price is set: rolling sales, revenue, traffic and DRCR are shifted one month; the row's own price, units and revenue are never inputs, only fitting targets. Competitor prices are this month's, treated as observable and exogenous.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3 · THE ENVIRONMENT (PRICINGENV)</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One episode, step by step</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10</a:t>
            </a:r>
          </a:p>
        </p:txBody>
      </p:sp>
      <p:sp>
        <p:nvSpPr>
          <p:cNvPr id="8" name="Rectangle 7"/>
          <p:cNvSpPr/>
          <p:nvPr/>
        </p:nvSpPr>
        <p:spPr>
          <a:xfrm>
            <a:off x="548640"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1266786" cy="64008"/>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6E8FB0"/>
                </a:solidFill>
                <a:latin typeface="Consolas"/>
              </a:rPr>
              <a:t>RESET</a:t>
            </a:r>
          </a:p>
        </p:txBody>
      </p:sp>
      <p:sp>
        <p:nvSpPr>
          <p:cNvPr id="11" name="TextBox 10"/>
          <p:cNvSpPr txBox="1"/>
          <p:nvPr/>
        </p:nvSpPr>
        <p:spPr>
          <a:xfrm>
            <a:off x="621792"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pick a product;
months 1–3 warm up</a:t>
            </a:r>
          </a:p>
        </p:txBody>
      </p:sp>
      <p:sp>
        <p:nvSpPr>
          <p:cNvPr id="12" name="TextBox 11"/>
          <p:cNvSpPr txBox="1"/>
          <p:nvPr/>
        </p:nvSpPr>
        <p:spPr>
          <a:xfrm>
            <a:off x="1797138"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13" name="Rectangle 12"/>
          <p:cNvSpPr/>
          <p:nvPr/>
        </p:nvSpPr>
        <p:spPr>
          <a:xfrm>
            <a:off x="1952586"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52586" y="1463040"/>
            <a:ext cx="1266786" cy="64008"/>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25738"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6E8FB0"/>
                </a:solidFill>
                <a:latin typeface="Consolas"/>
              </a:rPr>
              <a:t>OBSERVE</a:t>
            </a:r>
          </a:p>
        </p:txBody>
      </p:sp>
      <p:sp>
        <p:nvSpPr>
          <p:cNvPr id="16" name="TextBox 15"/>
          <p:cNvSpPr txBox="1"/>
          <p:nvPr/>
        </p:nvSpPr>
        <p:spPr>
          <a:xfrm>
            <a:off x="2025738"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state s_t
(35 numbers)</a:t>
            </a:r>
          </a:p>
        </p:txBody>
      </p:sp>
      <p:sp>
        <p:nvSpPr>
          <p:cNvPr id="17" name="TextBox 16"/>
          <p:cNvSpPr txBox="1"/>
          <p:nvPr/>
        </p:nvSpPr>
        <p:spPr>
          <a:xfrm>
            <a:off x="3201085"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18" name="Rectangle 17"/>
          <p:cNvSpPr/>
          <p:nvPr/>
        </p:nvSpPr>
        <p:spPr>
          <a:xfrm>
            <a:off x="3356533"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56533" y="1463040"/>
            <a:ext cx="1266786" cy="64008"/>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9685"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E1A339"/>
                </a:solidFill>
                <a:latin typeface="Consolas"/>
              </a:rPr>
              <a:t>ACT</a:t>
            </a:r>
          </a:p>
        </p:txBody>
      </p:sp>
      <p:sp>
        <p:nvSpPr>
          <p:cNvPr id="21" name="TextBox 20"/>
          <p:cNvSpPr txBox="1"/>
          <p:nvPr/>
        </p:nvSpPr>
        <p:spPr>
          <a:xfrm>
            <a:off x="3429685"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bucket or
value in [−1, 1]</a:t>
            </a:r>
          </a:p>
        </p:txBody>
      </p:sp>
      <p:sp>
        <p:nvSpPr>
          <p:cNvPr id="22" name="TextBox 21"/>
          <p:cNvSpPr txBox="1"/>
          <p:nvPr/>
        </p:nvSpPr>
        <p:spPr>
          <a:xfrm>
            <a:off x="4605032"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23" name="Rectangle 22"/>
          <p:cNvSpPr/>
          <p:nvPr/>
        </p:nvSpPr>
        <p:spPr>
          <a:xfrm>
            <a:off x="4760480"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60480" y="1463040"/>
            <a:ext cx="1266786" cy="64008"/>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33632"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E1A339"/>
                </a:solidFill>
                <a:latin typeface="Consolas"/>
              </a:rPr>
              <a:t>DECODE</a:t>
            </a:r>
          </a:p>
        </p:txBody>
      </p:sp>
      <p:sp>
        <p:nvSpPr>
          <p:cNvPr id="26" name="TextBox 25"/>
          <p:cNvSpPr txBox="1"/>
          <p:nvPr/>
        </p:nvSpPr>
        <p:spPr>
          <a:xfrm>
            <a:off x="4833632"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entering price
× (1 ± 25 %)</a:t>
            </a:r>
          </a:p>
        </p:txBody>
      </p:sp>
      <p:sp>
        <p:nvSpPr>
          <p:cNvPr id="27" name="TextBox 26"/>
          <p:cNvSpPr txBox="1"/>
          <p:nvPr/>
        </p:nvSpPr>
        <p:spPr>
          <a:xfrm>
            <a:off x="6008979"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28" name="Rectangle 27"/>
          <p:cNvSpPr/>
          <p:nvPr/>
        </p:nvSpPr>
        <p:spPr>
          <a:xfrm>
            <a:off x="6164427"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4427" y="1463040"/>
            <a:ext cx="1266786" cy="64008"/>
          </a:xfrm>
          <a:prstGeom prst="rect">
            <a:avLst/>
          </a:prstGeom>
          <a:solidFill>
            <a:srgbClr val="C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37579"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C4685A"/>
                </a:solidFill>
                <a:latin typeface="Consolas"/>
              </a:rPr>
              <a:t>GUARD</a:t>
            </a:r>
          </a:p>
        </p:txBody>
      </p:sp>
      <p:sp>
        <p:nvSpPr>
          <p:cNvPr id="31" name="TextBox 30"/>
          <p:cNvSpPr txBox="1"/>
          <p:nvPr/>
        </p:nvSpPr>
        <p:spPr>
          <a:xfrm>
            <a:off x="6237579"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clip to [0.5×, 1.5×]
of history</a:t>
            </a:r>
          </a:p>
        </p:txBody>
      </p:sp>
      <p:sp>
        <p:nvSpPr>
          <p:cNvPr id="32" name="TextBox 31"/>
          <p:cNvSpPr txBox="1"/>
          <p:nvPr/>
        </p:nvSpPr>
        <p:spPr>
          <a:xfrm>
            <a:off x="7412926"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33" name="Rectangle 32"/>
          <p:cNvSpPr/>
          <p:nvPr/>
        </p:nvSpPr>
        <p:spPr>
          <a:xfrm>
            <a:off x="7568374"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68374" y="1463040"/>
            <a:ext cx="1266786" cy="64008"/>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41526"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4FD1A5"/>
                </a:solidFill>
                <a:latin typeface="Consolas"/>
              </a:rPr>
              <a:t>PREDICT</a:t>
            </a:r>
          </a:p>
        </p:txBody>
      </p:sp>
      <p:sp>
        <p:nvSpPr>
          <p:cNvPr id="36" name="TextBox 35"/>
          <p:cNvSpPr txBox="1"/>
          <p:nvPr/>
        </p:nvSpPr>
        <p:spPr>
          <a:xfrm>
            <a:off x="7641526"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demand model →
units at that price</a:t>
            </a:r>
          </a:p>
        </p:txBody>
      </p:sp>
      <p:sp>
        <p:nvSpPr>
          <p:cNvPr id="37" name="TextBox 36"/>
          <p:cNvSpPr txBox="1"/>
          <p:nvPr/>
        </p:nvSpPr>
        <p:spPr>
          <a:xfrm>
            <a:off x="8816873"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38" name="Rectangle 37"/>
          <p:cNvSpPr/>
          <p:nvPr/>
        </p:nvSpPr>
        <p:spPr>
          <a:xfrm>
            <a:off x="8972321"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72321" y="1463040"/>
            <a:ext cx="1266786" cy="64008"/>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45473"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4FD1A5"/>
                </a:solidFill>
                <a:latin typeface="Consolas"/>
              </a:rPr>
              <a:t>REWARD</a:t>
            </a:r>
          </a:p>
        </p:txBody>
      </p:sp>
      <p:sp>
        <p:nvSpPr>
          <p:cNvPr id="41" name="TextBox 40"/>
          <p:cNvSpPr txBox="1"/>
          <p:nvPr/>
        </p:nvSpPr>
        <p:spPr>
          <a:xfrm>
            <a:off x="9045473"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RCR = p·q / traffic
r = 100·ΔRCR</a:t>
            </a:r>
          </a:p>
        </p:txBody>
      </p:sp>
      <p:sp>
        <p:nvSpPr>
          <p:cNvPr id="42" name="TextBox 41"/>
          <p:cNvSpPr txBox="1"/>
          <p:nvPr/>
        </p:nvSpPr>
        <p:spPr>
          <a:xfrm>
            <a:off x="10220820" y="2057400"/>
            <a:ext cx="182880" cy="365760"/>
          </a:xfrm>
          <a:prstGeom prst="rect">
            <a:avLst/>
          </a:prstGeom>
          <a:noFill/>
        </p:spPr>
        <p:txBody>
          <a:bodyPr wrap="square" anchor="t" lIns="45720" rIns="45720" tIns="27432" bIns="27432">
            <a:spAutoFit/>
          </a:bodyPr>
          <a:lstStyle/>
          <a:p>
            <a:pPr algn="l">
              <a:lnSpc>
                <a:spcPct val="115000"/>
              </a:lnSpc>
              <a:spcAft>
                <a:spcPts val="600"/>
              </a:spcAft>
            </a:pPr>
            <a:r>
              <a:rPr sz="1600" b="0" i="0">
                <a:solidFill>
                  <a:srgbClr val="5B6570"/>
                </a:solidFill>
                <a:latin typeface="Calibri"/>
              </a:rPr>
              <a:t>›</a:t>
            </a:r>
          </a:p>
        </p:txBody>
      </p:sp>
      <p:sp>
        <p:nvSpPr>
          <p:cNvPr id="43" name="Rectangle 42"/>
          <p:cNvSpPr/>
          <p:nvPr/>
        </p:nvSpPr>
        <p:spPr>
          <a:xfrm>
            <a:off x="10376268" y="1463040"/>
            <a:ext cx="1266786" cy="1600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76268" y="1463040"/>
            <a:ext cx="1266786" cy="64008"/>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49420" y="1600200"/>
            <a:ext cx="1120482" cy="365760"/>
          </a:xfrm>
          <a:prstGeom prst="rect">
            <a:avLst/>
          </a:prstGeom>
          <a:noFill/>
        </p:spPr>
        <p:txBody>
          <a:bodyPr wrap="square" anchor="t" lIns="45720" rIns="45720" tIns="27432" bIns="27432">
            <a:spAutoFit/>
          </a:bodyPr>
          <a:lstStyle/>
          <a:p>
            <a:pPr algn="l">
              <a:lnSpc>
                <a:spcPct val="115000"/>
              </a:lnSpc>
              <a:spcAft>
                <a:spcPts val="600"/>
              </a:spcAft>
            </a:pPr>
            <a:r>
              <a:rPr sz="1050" b="1" i="0">
                <a:solidFill>
                  <a:srgbClr val="6E8FB0"/>
                </a:solidFill>
                <a:latin typeface="Consolas"/>
              </a:rPr>
              <a:t>ROLL ON</a:t>
            </a:r>
          </a:p>
        </p:txBody>
      </p:sp>
      <p:sp>
        <p:nvSpPr>
          <p:cNvPr id="46" name="TextBox 45"/>
          <p:cNvSpPr txBox="1"/>
          <p:nvPr/>
        </p:nvSpPr>
        <p:spPr>
          <a:xfrm>
            <a:off x="10449420" y="1965960"/>
            <a:ext cx="1120482" cy="109728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EDEAE1"/>
                </a:solidFill>
                <a:latin typeface="Calibri"/>
              </a:rPr>
              <a:t>lag prices, gaps,
rolling sales → next month</a:t>
            </a:r>
          </a:p>
        </p:txBody>
      </p:sp>
      <p:graphicFrame>
        <p:nvGraphicFramePr>
          <p:cNvPr id="47" name="Table 46"/>
          <p:cNvGraphicFramePr>
            <a:graphicFrameLocks noGrp="1"/>
          </p:cNvGraphicFramePr>
          <p:nvPr/>
        </p:nvGraphicFramePr>
        <p:xfrm>
          <a:off x="548640" y="3337559"/>
          <a:ext cx="11094414" cy="1920240"/>
        </p:xfrm>
        <a:graphic>
          <a:graphicData uri="http://schemas.openxmlformats.org/drawingml/2006/table">
            <a:tbl>
              <a:tblPr firstRow="1" bandRow="1">
                <a:tableStyleId>{5C22544A-7EE6-4342-B048-85BDC9FD1C3A}</a:tableStyleId>
              </a:tblPr>
              <a:tblGrid>
                <a:gridCol w="1584916"/>
                <a:gridCol w="4754749"/>
                <a:gridCol w="4754749"/>
              </a:tblGrid>
              <a:tr h="384048">
                <a:tc>
                  <a:txBody>
                    <a:bodyPr wrap="square"/>
                    <a:lstStyle/>
                    <a:p>
                      <a:r>
                        <a:rPr sz="1100" b="1">
                          <a:solidFill>
                            <a:srgbClr val="E1A339"/>
                          </a:solidFill>
                          <a:latin typeface="Consolas"/>
                        </a:rPr>
                        <a:t/>
                      </a:r>
                    </a:p>
                  </a:txBody>
                  <a:tcPr marL="73152" marR="73152" marT="36576" marB="36576" anchor="ctr">
                    <a:solidFill>
                      <a:srgbClr val="181D24"/>
                    </a:solidFill>
                  </a:tcPr>
                </a:tc>
                <a:tc>
                  <a:txBody>
                    <a:bodyPr wrap="square"/>
                    <a:lstStyle/>
                    <a:p>
                      <a:r>
                        <a:rPr sz="1100" b="1">
                          <a:solidFill>
                            <a:srgbClr val="E1A339"/>
                          </a:solidFill>
                          <a:latin typeface="Consolas"/>
                        </a:rPr>
                        <a:t>Training episodes</a:t>
                      </a:r>
                    </a:p>
                  </a:txBody>
                  <a:tcPr marL="73152" marR="73152" marT="36576" marB="36576" anchor="ctr">
                    <a:solidFill>
                      <a:srgbClr val="181D24"/>
                    </a:solidFill>
                  </a:tcPr>
                </a:tc>
                <a:tc>
                  <a:txBody>
                    <a:bodyPr wrap="square"/>
                    <a:lstStyle/>
                    <a:p>
                      <a:r>
                        <a:rPr sz="1100" b="1">
                          <a:solidFill>
                            <a:srgbClr val="E1A339"/>
                          </a:solidFill>
                          <a:latin typeface="Consolas"/>
                        </a:rPr>
                        <a:t>Evaluation episodes</a:t>
                      </a:r>
                    </a:p>
                  </a:txBody>
                  <a:tcPr marL="73152" marR="73152" marT="36576" marB="36576" anchor="ctr">
                    <a:solidFill>
                      <a:srgbClr val="181D24"/>
                    </a:solidFill>
                  </a:tcPr>
                </a:tc>
              </a:tr>
              <a:tr h="384048">
                <a:tc>
                  <a:txBody>
                    <a:bodyPr wrap="square"/>
                    <a:lstStyle/>
                    <a:p>
                      <a:r>
                        <a:rPr sz="1200" b="0">
                          <a:solidFill>
                            <a:srgbClr val="EDEAE1"/>
                          </a:solidFill>
                          <a:latin typeface="Calibri"/>
                        </a:rPr>
                        <a:t>Products</a:t>
                      </a:r>
                    </a:p>
                  </a:txBody>
                  <a:tcPr marL="73152" marR="73152" marT="36576" marB="36576" anchor="ctr">
                    <a:solidFill>
                      <a:srgbClr val="12161B"/>
                    </a:solidFill>
                  </a:tcPr>
                </a:tc>
                <a:tc>
                  <a:txBody>
                    <a:bodyPr wrap="square"/>
                    <a:lstStyle/>
                    <a:p>
                      <a:r>
                        <a:rPr sz="1200" b="0">
                          <a:solidFill>
                            <a:srgbClr val="EDEAE1"/>
                          </a:solidFill>
                          <a:latin typeface="Calibri"/>
                        </a:rPr>
                        <a:t>random draw from the 60 training products</a:t>
                      </a:r>
                    </a:p>
                  </a:txBody>
                  <a:tcPr marL="73152" marR="73152" marT="36576" marB="36576" anchor="ctr">
                    <a:solidFill>
                      <a:srgbClr val="12161B"/>
                    </a:solidFill>
                  </a:tcPr>
                </a:tc>
                <a:tc>
                  <a:txBody>
                    <a:bodyPr wrap="square"/>
                    <a:lstStyle/>
                    <a:p>
                      <a:r>
                        <a:rPr sz="1200" b="0">
                          <a:solidFill>
                            <a:srgbClr val="EDEAE1"/>
                          </a:solidFill>
                          <a:latin typeface="Calibri"/>
                        </a:rPr>
                        <a:t>each of the 20 held-out products, once</a:t>
                      </a:r>
                    </a:p>
                  </a:txBody>
                  <a:tcPr marL="73152" marR="73152" marT="36576" marB="36576" anchor="ctr">
                    <a:solidFill>
                      <a:srgbClr val="12161B"/>
                    </a:solidFill>
                  </a:tcPr>
                </a:tc>
              </a:tr>
              <a:tr h="384048">
                <a:tc>
                  <a:txBody>
                    <a:bodyPr wrap="square"/>
                    <a:lstStyle/>
                    <a:p>
                      <a:r>
                        <a:rPr sz="1200" b="0">
                          <a:solidFill>
                            <a:srgbClr val="EDEAE1"/>
                          </a:solidFill>
                          <a:latin typeface="Calibri"/>
                        </a:rPr>
                        <a:t>Horizon</a:t>
                      </a:r>
                    </a:p>
                  </a:txBody>
                  <a:tcPr marL="73152" marR="73152" marT="36576" marB="36576" anchor="ctr">
                    <a:solidFill>
                      <a:srgbClr val="1E242C"/>
                    </a:solidFill>
                  </a:tcPr>
                </a:tc>
                <a:tc>
                  <a:txBody>
                    <a:bodyPr wrap="square"/>
                    <a:lstStyle/>
                    <a:p>
                      <a:r>
                        <a:rPr sz="1200" b="0">
                          <a:solidFill>
                            <a:srgbClr val="EDEAE1"/>
                          </a:solidFill>
                          <a:latin typeface="Calibri"/>
                        </a:rPr>
                        <a:t>20 steps</a:t>
                      </a:r>
                    </a:p>
                  </a:txBody>
                  <a:tcPr marL="73152" marR="73152" marT="36576" marB="36576" anchor="ctr">
                    <a:solidFill>
                      <a:srgbClr val="1E242C"/>
                    </a:solidFill>
                  </a:tcPr>
                </a:tc>
                <a:tc>
                  <a:txBody>
                    <a:bodyPr wrap="square"/>
                    <a:lstStyle/>
                    <a:p>
                      <a:r>
                        <a:rPr sz="1200" b="0">
                          <a:solidFill>
                            <a:srgbClr val="EDEAE1"/>
                          </a:solidFill>
                          <a:latin typeface="Calibri"/>
                        </a:rPr>
                        <a:t>until real months run out (12 decisions)</a:t>
                      </a:r>
                    </a:p>
                  </a:txBody>
                  <a:tcPr marL="73152" marR="73152" marT="36576" marB="36576" anchor="ctr">
                    <a:solidFill>
                      <a:srgbClr val="1E242C"/>
                    </a:solidFill>
                  </a:tcPr>
                </a:tc>
              </a:tr>
              <a:tr h="384048">
                <a:tc>
                  <a:txBody>
                    <a:bodyPr wrap="square"/>
                    <a:lstStyle/>
                    <a:p>
                      <a:r>
                        <a:rPr sz="1200" b="0">
                          <a:solidFill>
                            <a:srgbClr val="EDEAE1"/>
                          </a:solidFill>
                          <a:latin typeface="Calibri"/>
                        </a:rPr>
                        <a:t>Past month 15</a:t>
                      </a:r>
                    </a:p>
                  </a:txBody>
                  <a:tcPr marL="73152" marR="73152" marT="36576" marB="36576" anchor="ctr">
                    <a:solidFill>
                      <a:srgbClr val="12161B"/>
                    </a:solidFill>
                  </a:tcPr>
                </a:tc>
                <a:tc>
                  <a:txBody>
                    <a:bodyPr wrap="square"/>
                    <a:lstStyle/>
                    <a:p>
                      <a:r>
                        <a:rPr sz="1200" b="0">
                          <a:solidFill>
                            <a:srgbClr val="EDEAE1"/>
                          </a:solidFill>
                          <a:latin typeface="Calibri"/>
                        </a:rPr>
                        <a:t>bootstrapped: competitors ±3 %, traffic ±5 % noise from the last real row</a:t>
                      </a:r>
                    </a:p>
                  </a:txBody>
                  <a:tcPr marL="73152" marR="73152" marT="36576" marB="36576" anchor="ctr">
                    <a:solidFill>
                      <a:srgbClr val="12161B"/>
                    </a:solidFill>
                  </a:tcPr>
                </a:tc>
                <a:tc>
                  <a:txBody>
                    <a:bodyPr wrap="square"/>
                    <a:lstStyle/>
                    <a:p>
                      <a:r>
                        <a:rPr sz="1200" b="0">
                          <a:solidFill>
                            <a:srgbClr val="EDEAE1"/>
                          </a:solidFill>
                          <a:latin typeface="Calibri"/>
                        </a:rPr>
                        <a:t>never — episode ends</a:t>
                      </a:r>
                    </a:p>
                  </a:txBody>
                  <a:tcPr marL="73152" marR="73152" marT="36576" marB="36576" anchor="ctr">
                    <a:solidFill>
                      <a:srgbClr val="12161B"/>
                    </a:solidFill>
                  </a:tcPr>
                </a:tc>
              </a:tr>
              <a:tr h="384048">
                <a:tc>
                  <a:txBody>
                    <a:bodyPr wrap="square"/>
                    <a:lstStyle/>
                    <a:p>
                      <a:r>
                        <a:rPr sz="1200" b="0">
                          <a:solidFill>
                            <a:srgbClr val="EDEAE1"/>
                          </a:solidFill>
                          <a:latin typeface="Calibri"/>
                        </a:rPr>
                        <a:t>Exploration</a:t>
                      </a:r>
                    </a:p>
                  </a:txBody>
                  <a:tcPr marL="73152" marR="73152" marT="36576" marB="36576" anchor="ctr">
                    <a:solidFill>
                      <a:srgbClr val="1E242C"/>
                    </a:solidFill>
                  </a:tcPr>
                </a:tc>
                <a:tc>
                  <a:txBody>
                    <a:bodyPr wrap="square"/>
                    <a:lstStyle/>
                    <a:p>
                      <a:r>
                        <a:rPr sz="1200" b="0">
                          <a:solidFill>
                            <a:srgbClr val="EDEAE1"/>
                          </a:solidFill>
                          <a:latin typeface="Calibri"/>
                        </a:rPr>
                        <a:t>on (ε-greedy / OU noise / sampled policy)</a:t>
                      </a:r>
                    </a:p>
                  </a:txBody>
                  <a:tcPr marL="73152" marR="73152" marT="36576" marB="36576" anchor="ctr">
                    <a:solidFill>
                      <a:srgbClr val="1E242C"/>
                    </a:solidFill>
                  </a:tcPr>
                </a:tc>
                <a:tc>
                  <a:txBody>
                    <a:bodyPr wrap="square"/>
                    <a:lstStyle/>
                    <a:p>
                      <a:r>
                        <a:rPr sz="1200" b="0">
                          <a:solidFill>
                            <a:srgbClr val="EDEAE1"/>
                          </a:solidFill>
                          <a:latin typeface="Calibri"/>
                        </a:rPr>
                        <a:t>off — deterministic actions</a:t>
                      </a:r>
                    </a:p>
                  </a:txBody>
                  <a:tcPr marL="73152" marR="73152" marT="36576" marB="36576" anchor="ctr">
                    <a:solidFill>
                      <a:srgbClr val="1E242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4 · VALUE-BASED, DISCRETE</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DQN — score every price move, pick the best</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11</a:t>
            </a:r>
          </a:p>
        </p:txBody>
      </p:sp>
      <p:sp>
        <p:nvSpPr>
          <p:cNvPr id="8" name="Rectangle 7"/>
          <p:cNvSpPr/>
          <p:nvPr/>
        </p:nvSpPr>
        <p:spPr>
          <a:xfrm>
            <a:off x="347472" y="603504"/>
            <a:ext cx="73152" cy="566928"/>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6766560" cy="23317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63040"/>
            <a:ext cx="54864" cy="233172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54480"/>
            <a:ext cx="649224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5B8DEF"/>
                </a:solidFill>
                <a:latin typeface="Consolas"/>
              </a:rPr>
              <a:t>HOW IT WORKS</a:t>
            </a:r>
          </a:p>
        </p:txBody>
      </p:sp>
      <p:sp>
        <p:nvSpPr>
          <p:cNvPr id="12" name="TextBox 11"/>
          <p:cNvSpPr txBox="1"/>
          <p:nvPr/>
        </p:nvSpPr>
        <p:spPr>
          <a:xfrm>
            <a:off x="685800" y="1920240"/>
            <a:ext cx="6492240" cy="17830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100" b="0" i="0">
                <a:solidFill>
                  <a:srgbClr val="EDEAE1"/>
                </a:solidFill>
                <a:latin typeface="Consolas"/>
              </a:rPr>
              <a:t>Q(s, · | θ): 35 numbers in → 11 values out, one per bucket</a:t>
            </a:r>
          </a:p>
          <a:p>
            <a:pPr>
              <a:lnSpc>
                <a:spcPct val="112000"/>
              </a:lnSpc>
              <a:spcAft>
                <a:spcPts val="400"/>
              </a:spcAft>
            </a:pPr>
            <a:r>
              <a:rPr sz="1200">
                <a:solidFill>
                  <a:srgbClr val="E1A339"/>
                </a:solidFill>
                <a:latin typeface="Calibri"/>
              </a:rPr>
              <a:t>• </a:t>
            </a:r>
            <a:r>
              <a:rPr sz="1100" b="0" i="0">
                <a:solidFill>
                  <a:srgbClr val="EDEAE1"/>
                </a:solidFill>
                <a:latin typeface="Consolas"/>
              </a:rPr>
              <a:t>target  y = r + γ · maxₐ′ Q(s′, a′ | θ⁻)</a:t>
            </a:r>
          </a:p>
          <a:p>
            <a:pPr>
              <a:lnSpc>
                <a:spcPct val="112000"/>
              </a:lnSpc>
              <a:spcAft>
                <a:spcPts val="400"/>
              </a:spcAft>
            </a:pPr>
            <a:r>
              <a:rPr sz="1200">
                <a:solidFill>
                  <a:srgbClr val="E1A339"/>
                </a:solidFill>
                <a:latin typeface="Calibri"/>
              </a:rPr>
              <a:t>• </a:t>
            </a:r>
            <a:r>
              <a:rPr sz="1100" b="0" i="0">
                <a:solidFill>
                  <a:srgbClr val="EDEAE1"/>
                </a:solidFill>
                <a:latin typeface="Consolas"/>
              </a:rPr>
              <a:t>loss  = Huber( Q(s, a | θ) − y )</a:t>
            </a:r>
          </a:p>
          <a:p>
            <a:pPr>
              <a:lnSpc>
                <a:spcPct val="112000"/>
              </a:lnSpc>
              <a:spcAft>
                <a:spcPts val="400"/>
              </a:spcAft>
            </a:pPr>
            <a:r>
              <a:rPr sz="1200">
                <a:solidFill>
                  <a:srgbClr val="E1A339"/>
                </a:solidFill>
                <a:latin typeface="Calibri"/>
              </a:rPr>
              <a:t>• </a:t>
            </a:r>
            <a:r>
              <a:rPr sz="1200" b="0" i="0">
                <a:solidFill>
                  <a:srgbClr val="EDEAE1"/>
                </a:solidFill>
                <a:latin typeface="Calibri"/>
              </a:rPr>
              <a:t>Experience replay: 50,000 transitions, random batches of 64 → decorrelated updates</a:t>
            </a:r>
          </a:p>
          <a:p>
            <a:pPr>
              <a:lnSpc>
                <a:spcPct val="112000"/>
              </a:lnSpc>
              <a:spcAft>
                <a:spcPts val="400"/>
              </a:spcAft>
            </a:pPr>
            <a:r>
              <a:rPr sz="1200">
                <a:solidFill>
                  <a:srgbClr val="E1A339"/>
                </a:solidFill>
                <a:latin typeface="Calibri"/>
              </a:rPr>
              <a:t>• </a:t>
            </a:r>
            <a:r>
              <a:rPr sz="1200" b="0" i="0">
                <a:solidFill>
                  <a:srgbClr val="EDEAE1"/>
                </a:solidFill>
                <a:latin typeface="Calibri"/>
              </a:rPr>
              <a:t>Target network θ⁻: frozen copy refreshed every 100 updates → the target stops chasing itself</a:t>
            </a:r>
          </a:p>
        </p:txBody>
      </p:sp>
      <p:sp>
        <p:nvSpPr>
          <p:cNvPr id="13" name="Rectangle 12"/>
          <p:cNvSpPr/>
          <p:nvPr/>
        </p:nvSpPr>
        <p:spPr>
          <a:xfrm>
            <a:off x="54864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931920"/>
            <a:ext cx="54864" cy="169164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5B8DEF"/>
                </a:solidFill>
                <a:latin typeface="Consolas"/>
              </a:rPr>
              <a:t>EXPLORATION</a:t>
            </a:r>
          </a:p>
        </p:txBody>
      </p:sp>
      <p:sp>
        <p:nvSpPr>
          <p:cNvPr id="16" name="TextBox 15"/>
          <p:cNvSpPr txBox="1"/>
          <p:nvPr/>
        </p:nvSpPr>
        <p:spPr>
          <a:xfrm>
            <a:off x="68580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ε-greedy: random bucket with prob. ε, else argmax</a:t>
            </a:r>
          </a:p>
          <a:p>
            <a:pPr>
              <a:lnSpc>
                <a:spcPct val="112000"/>
              </a:lnSpc>
              <a:spcAft>
                <a:spcPts val="400"/>
              </a:spcAft>
            </a:pPr>
            <a:r>
              <a:rPr sz="1150">
                <a:solidFill>
                  <a:srgbClr val="E1A339"/>
                </a:solidFill>
                <a:latin typeface="Calibri"/>
              </a:rPr>
              <a:t>• </a:t>
            </a:r>
            <a:r>
              <a:rPr sz="1150" b="0" i="0">
                <a:solidFill>
                  <a:srgbClr val="EDEAE1"/>
                </a:solidFill>
                <a:latin typeface="Calibri"/>
              </a:rPr>
              <a:t>ε: 1.0 → 0.05 linearly over 25,000 steps</a:t>
            </a:r>
          </a:p>
          <a:p>
            <a:pPr>
              <a:lnSpc>
                <a:spcPct val="112000"/>
              </a:lnSpc>
              <a:spcAft>
                <a:spcPts val="400"/>
              </a:spcAft>
            </a:pPr>
            <a:r>
              <a:rPr sz="1150">
                <a:solidFill>
                  <a:srgbClr val="E1A339"/>
                </a:solidFill>
                <a:latin typeface="Calibri"/>
              </a:rPr>
              <a:t>• </a:t>
            </a:r>
            <a:r>
              <a:rPr sz="1150" b="0" i="0">
                <a:solidFill>
                  <a:srgbClr val="EDEAE1"/>
                </a:solidFill>
                <a:latin typeface="Calibri"/>
              </a:rPr>
              <a:t>Evaluation: ε = 0</a:t>
            </a:r>
          </a:p>
        </p:txBody>
      </p:sp>
      <p:sp>
        <p:nvSpPr>
          <p:cNvPr id="17" name="Rectangle 16"/>
          <p:cNvSpPr/>
          <p:nvPr/>
        </p:nvSpPr>
        <p:spPr>
          <a:xfrm>
            <a:off x="402336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0" y="3931920"/>
            <a:ext cx="54864" cy="169164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795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5B8DEF"/>
                </a:solidFill>
                <a:latin typeface="Consolas"/>
              </a:rPr>
              <a:t>HYPERPARAMETERS</a:t>
            </a:r>
          </a:p>
        </p:txBody>
      </p:sp>
      <p:sp>
        <p:nvSpPr>
          <p:cNvPr id="20" name="TextBox 19"/>
          <p:cNvSpPr txBox="1"/>
          <p:nvPr/>
        </p:nvSpPr>
        <p:spPr>
          <a:xfrm>
            <a:off x="416052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γ = 0.99, Adam lr 1e-3</a:t>
            </a:r>
          </a:p>
          <a:p>
            <a:pPr>
              <a:lnSpc>
                <a:spcPct val="112000"/>
              </a:lnSpc>
              <a:spcAft>
                <a:spcPts val="400"/>
              </a:spcAft>
            </a:pPr>
            <a:r>
              <a:rPr sz="1150">
                <a:solidFill>
                  <a:srgbClr val="E1A339"/>
                </a:solidFill>
                <a:latin typeface="Calibri"/>
              </a:rPr>
              <a:t>• </a:t>
            </a:r>
            <a:r>
              <a:rPr sz="1150" b="0" i="0">
                <a:solidFill>
                  <a:srgbClr val="EDEAE1"/>
                </a:solidFill>
                <a:latin typeface="Calibri"/>
              </a:rPr>
              <a:t>batch 64, buffer 50k, 500 warm-up steps</a:t>
            </a:r>
          </a:p>
          <a:p>
            <a:pPr>
              <a:lnSpc>
                <a:spcPct val="112000"/>
              </a:lnSpc>
              <a:spcAft>
                <a:spcPts val="400"/>
              </a:spcAft>
            </a:pPr>
            <a:r>
              <a:rPr sz="1150">
                <a:solidFill>
                  <a:srgbClr val="E1A339"/>
                </a:solidFill>
                <a:latin typeface="Calibri"/>
              </a:rPr>
              <a:t>• </a:t>
            </a:r>
            <a:r>
              <a:rPr sz="1150" b="0" i="0">
                <a:solidFill>
                  <a:srgbClr val="EDEAE1"/>
                </a:solidFill>
                <a:latin typeface="Calibri"/>
              </a:rPr>
              <a:t>K = 11 buckets over ±25 %</a:t>
            </a:r>
          </a:p>
        </p:txBody>
      </p:sp>
      <p:sp>
        <p:nvSpPr>
          <p:cNvPr id="21" name="Rectangle 20"/>
          <p:cNvSpPr/>
          <p:nvPr/>
        </p:nvSpPr>
        <p:spPr>
          <a:xfrm>
            <a:off x="7589520" y="1463040"/>
            <a:ext cx="4053535" cy="26974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9520" y="1463040"/>
            <a:ext cx="54864" cy="269748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4112" y="155448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WHAT TO SAY ABOUT IT</a:t>
            </a:r>
          </a:p>
        </p:txBody>
      </p:sp>
      <p:sp>
        <p:nvSpPr>
          <p:cNvPr id="24" name="TextBox 23"/>
          <p:cNvSpPr txBox="1"/>
          <p:nvPr/>
        </p:nvSpPr>
        <p:spPr>
          <a:xfrm>
            <a:off x="7726680" y="1920240"/>
            <a:ext cx="3779215" cy="214884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Simplest and most stable; the paper's own baseline</a:t>
            </a:r>
          </a:p>
          <a:p>
            <a:pPr>
              <a:lnSpc>
                <a:spcPct val="112000"/>
              </a:lnSpc>
              <a:spcAft>
                <a:spcPts val="400"/>
              </a:spcAft>
            </a:pPr>
            <a:r>
              <a:rPr sz="1200">
                <a:solidFill>
                  <a:srgbClr val="E1A339"/>
                </a:solidFill>
                <a:latin typeface="Calibri"/>
              </a:rPr>
              <a:t>• </a:t>
            </a:r>
            <a:r>
              <a:rPr sz="1200" b="0" i="0">
                <a:solidFill>
                  <a:srgbClr val="EDEAE1"/>
                </a:solidFill>
                <a:latin typeface="Calibri"/>
              </a:rPr>
              <a:t>Structural limit: 11 buckets → finest move is 5 %</a:t>
            </a:r>
          </a:p>
          <a:p>
            <a:pPr>
              <a:lnSpc>
                <a:spcPct val="112000"/>
              </a:lnSpc>
              <a:spcAft>
                <a:spcPts val="400"/>
              </a:spcAft>
            </a:pPr>
            <a:r>
              <a:rPr sz="1200">
                <a:solidFill>
                  <a:srgbClr val="E1A339"/>
                </a:solidFill>
                <a:latin typeface="Calibri"/>
              </a:rPr>
              <a:t>• </a:t>
            </a:r>
            <a:r>
              <a:rPr sz="1200" b="0" i="0">
                <a:solidFill>
                  <a:srgbClr val="EDEAE1"/>
                </a:solidFill>
                <a:latin typeface="Calibri"/>
              </a:rPr>
              <a:t>The paper measured the cost of that imprecision (5.03 vs 6.07)</a:t>
            </a:r>
          </a:p>
          <a:p>
            <a:pPr>
              <a:lnSpc>
                <a:spcPct val="112000"/>
              </a:lnSpc>
              <a:spcAft>
                <a:spcPts val="400"/>
              </a:spcAft>
            </a:pPr>
            <a:r>
              <a:rPr sz="1200">
                <a:solidFill>
                  <a:srgbClr val="E1A339"/>
                </a:solidFill>
                <a:latin typeface="Calibri"/>
              </a:rPr>
              <a:t>• </a:t>
            </a:r>
            <a:r>
              <a:rPr sz="1200" b="0" i="0">
                <a:solidFill>
                  <a:srgbClr val="EDEAE1"/>
                </a:solidFill>
                <a:latin typeface="Calibri"/>
              </a:rPr>
              <a:t>In this run its ε schedule did not finish: at 15k steps it still acted randomly 43 % of the time</a:t>
            </a:r>
          </a:p>
        </p:txBody>
      </p:sp>
      <p:sp>
        <p:nvSpPr>
          <p:cNvPr id="25" name="Rectangle 24"/>
          <p:cNvSpPr/>
          <p:nvPr/>
        </p:nvSpPr>
        <p:spPr>
          <a:xfrm>
            <a:off x="7589520" y="4297680"/>
            <a:ext cx="4053535" cy="13258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89520" y="4297680"/>
            <a:ext cx="54864" cy="132588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54112" y="438912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IMPLEMENTATION CHECK</a:t>
            </a:r>
          </a:p>
        </p:txBody>
      </p:sp>
      <p:sp>
        <p:nvSpPr>
          <p:cNvPr id="28" name="TextBox 27"/>
          <p:cNvSpPr txBox="1"/>
          <p:nvPr/>
        </p:nvSpPr>
        <p:spPr>
          <a:xfrm>
            <a:off x="7726680" y="4754880"/>
            <a:ext cx="3779215" cy="77724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Learned CartPole-v1 (eval return &gt; 100) in 4,000 steps before touching the pricing env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4 · DETERMINISTIC ACTOR-CRITIC</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DDPG — an actor outputs the exact price, a critic scores it</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12</a:t>
            </a:r>
          </a:p>
        </p:txBody>
      </p:sp>
      <p:sp>
        <p:nvSpPr>
          <p:cNvPr id="8" name="Rectangle 7"/>
          <p:cNvSpPr/>
          <p:nvPr/>
        </p:nvSpPr>
        <p:spPr>
          <a:xfrm>
            <a:off x="347472" y="603504"/>
            <a:ext cx="73152" cy="566928"/>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6766560" cy="23317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63040"/>
            <a:ext cx="54864" cy="233172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54480"/>
            <a:ext cx="649224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HOW IT WORKS</a:t>
            </a:r>
          </a:p>
        </p:txBody>
      </p:sp>
      <p:sp>
        <p:nvSpPr>
          <p:cNvPr id="12" name="TextBox 11"/>
          <p:cNvSpPr txBox="1"/>
          <p:nvPr/>
        </p:nvSpPr>
        <p:spPr>
          <a:xfrm>
            <a:off x="685800" y="1920240"/>
            <a:ext cx="6492240" cy="17830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100" b="0" i="0">
                <a:solidFill>
                  <a:srgbClr val="EDEAE1"/>
                </a:solidFill>
                <a:latin typeface="Consolas"/>
              </a:rPr>
              <a:t>critic:  y = r + γ · Q′(s′, μ′(s′));  loss = MSE(Q(s,a) − y)</a:t>
            </a:r>
          </a:p>
          <a:p>
            <a:pPr>
              <a:lnSpc>
                <a:spcPct val="112000"/>
              </a:lnSpc>
              <a:spcAft>
                <a:spcPts val="400"/>
              </a:spcAft>
            </a:pPr>
            <a:r>
              <a:rPr sz="1200">
                <a:solidFill>
                  <a:srgbClr val="E1A339"/>
                </a:solidFill>
                <a:latin typeface="Calibri"/>
              </a:rPr>
              <a:t>• </a:t>
            </a:r>
            <a:r>
              <a:rPr sz="1100" b="0" i="0">
                <a:solidFill>
                  <a:srgbClr val="EDEAE1"/>
                </a:solidFill>
                <a:latin typeface="Consolas"/>
              </a:rPr>
              <a:t>actor:   loss = − mean Q(s, μ(s))   (gradient flows through the critic)</a:t>
            </a:r>
          </a:p>
          <a:p>
            <a:pPr>
              <a:lnSpc>
                <a:spcPct val="112000"/>
              </a:lnSpc>
              <a:spcAft>
                <a:spcPts val="400"/>
              </a:spcAft>
            </a:pPr>
            <a:r>
              <a:rPr sz="1200">
                <a:solidFill>
                  <a:srgbClr val="E1A339"/>
                </a:solidFill>
                <a:latin typeface="Calibri"/>
              </a:rPr>
              <a:t>• </a:t>
            </a:r>
            <a:r>
              <a:rPr sz="1100" b="0" i="0">
                <a:solidFill>
                  <a:srgbClr val="EDEAE1"/>
                </a:solidFill>
                <a:latin typeface="Consolas"/>
              </a:rPr>
              <a:t>targets: θ′ ← 0.005·θ + 0.995·θ′ after every update</a:t>
            </a:r>
          </a:p>
          <a:p>
            <a:pPr>
              <a:lnSpc>
                <a:spcPct val="112000"/>
              </a:lnSpc>
              <a:spcAft>
                <a:spcPts val="400"/>
              </a:spcAft>
            </a:pPr>
            <a:r>
              <a:rPr sz="1200">
                <a:solidFill>
                  <a:srgbClr val="E1A339"/>
                </a:solidFill>
                <a:latin typeface="Calibri"/>
              </a:rPr>
              <a:t>• </a:t>
            </a:r>
            <a:r>
              <a:rPr sz="1200" b="0" i="0">
                <a:solidFill>
                  <a:srgbClr val="EDEAE1"/>
                </a:solidFill>
                <a:latin typeface="Calibri"/>
              </a:rPr>
              <a:t>Actor ends in tanh → [−1, 1] → ±25 % of the entering price</a:t>
            </a:r>
          </a:p>
          <a:p>
            <a:pPr>
              <a:lnSpc>
                <a:spcPct val="112000"/>
              </a:lnSpc>
              <a:spcAft>
                <a:spcPts val="400"/>
              </a:spcAft>
            </a:pPr>
            <a:r>
              <a:rPr sz="1200">
                <a:solidFill>
                  <a:srgbClr val="E1A339"/>
                </a:solidFill>
                <a:latin typeface="Calibri"/>
              </a:rPr>
              <a:t>• </a:t>
            </a:r>
            <a:r>
              <a:rPr sz="1200" b="0" i="0">
                <a:solidFill>
                  <a:srgbClr val="EDEAE1"/>
                </a:solidFill>
                <a:latin typeface="Calibri"/>
              </a:rPr>
              <a:t>Target copies of both actor and critic keep the bootstrapped target stable</a:t>
            </a:r>
          </a:p>
        </p:txBody>
      </p:sp>
      <p:sp>
        <p:nvSpPr>
          <p:cNvPr id="13" name="Rectangle 12"/>
          <p:cNvSpPr/>
          <p:nvPr/>
        </p:nvSpPr>
        <p:spPr>
          <a:xfrm>
            <a:off x="54864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931920"/>
            <a:ext cx="54864" cy="169164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EXPLORATION</a:t>
            </a:r>
          </a:p>
        </p:txBody>
      </p:sp>
      <p:sp>
        <p:nvSpPr>
          <p:cNvPr id="16" name="TextBox 15"/>
          <p:cNvSpPr txBox="1"/>
          <p:nvPr/>
        </p:nvSpPr>
        <p:spPr>
          <a:xfrm>
            <a:off x="68580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Actor is deterministic → noise added from outside</a:t>
            </a:r>
          </a:p>
          <a:p>
            <a:pPr>
              <a:lnSpc>
                <a:spcPct val="112000"/>
              </a:lnSpc>
              <a:spcAft>
                <a:spcPts val="400"/>
              </a:spcAft>
            </a:pPr>
            <a:r>
              <a:rPr sz="1150">
                <a:solidFill>
                  <a:srgbClr val="E1A339"/>
                </a:solidFill>
                <a:latin typeface="Calibri"/>
              </a:rPr>
              <a:t>• </a:t>
            </a:r>
            <a:r>
              <a:rPr sz="1150" b="0" i="0">
                <a:solidFill>
                  <a:srgbClr val="EDEAE1"/>
                </a:solidFill>
                <a:latin typeface="Calibri"/>
              </a:rPr>
              <a:t>Ornstein–Uhlenbeck, θ = 0.15, σ 0.20 → 0.05 over 25k steps</a:t>
            </a:r>
          </a:p>
          <a:p>
            <a:pPr>
              <a:lnSpc>
                <a:spcPct val="112000"/>
              </a:lnSpc>
              <a:spcAft>
                <a:spcPts val="400"/>
              </a:spcAft>
            </a:pPr>
            <a:r>
              <a:rPr sz="1150">
                <a:solidFill>
                  <a:srgbClr val="E1A339"/>
                </a:solidFill>
                <a:latin typeface="Calibri"/>
              </a:rPr>
              <a:t>• </a:t>
            </a:r>
            <a:r>
              <a:rPr sz="1150" b="0" i="0">
                <a:solidFill>
                  <a:srgbClr val="EDEAE1"/>
                </a:solidFill>
                <a:latin typeface="Calibri"/>
              </a:rPr>
              <a:t>Reset at each episode end; off in evaluation</a:t>
            </a:r>
          </a:p>
        </p:txBody>
      </p:sp>
      <p:sp>
        <p:nvSpPr>
          <p:cNvPr id="17" name="Rectangle 16"/>
          <p:cNvSpPr/>
          <p:nvPr/>
        </p:nvSpPr>
        <p:spPr>
          <a:xfrm>
            <a:off x="402336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0" y="3931920"/>
            <a:ext cx="54864" cy="169164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795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HYPERPARAMETERS</a:t>
            </a:r>
          </a:p>
        </p:txBody>
      </p:sp>
      <p:sp>
        <p:nvSpPr>
          <p:cNvPr id="20" name="TextBox 19"/>
          <p:cNvSpPr txBox="1"/>
          <p:nvPr/>
        </p:nvSpPr>
        <p:spPr>
          <a:xfrm>
            <a:off x="416052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γ = 0.99, actor lr 1e-4, critic lr 1e-3</a:t>
            </a:r>
          </a:p>
          <a:p>
            <a:pPr>
              <a:lnSpc>
                <a:spcPct val="112000"/>
              </a:lnSpc>
              <a:spcAft>
                <a:spcPts val="400"/>
              </a:spcAft>
            </a:pPr>
            <a:r>
              <a:rPr sz="1150">
                <a:solidFill>
                  <a:srgbClr val="E1A339"/>
                </a:solidFill>
                <a:latin typeface="Calibri"/>
              </a:rPr>
              <a:t>• </a:t>
            </a:r>
            <a:r>
              <a:rPr sz="1150" b="0" i="0">
                <a:solidFill>
                  <a:srgbClr val="EDEAE1"/>
                </a:solidFill>
                <a:latin typeface="Calibri"/>
              </a:rPr>
              <a:t>τ = 0.005, batch 64, buffer 50k</a:t>
            </a:r>
          </a:p>
          <a:p>
            <a:pPr>
              <a:lnSpc>
                <a:spcPct val="112000"/>
              </a:lnSpc>
              <a:spcAft>
                <a:spcPts val="400"/>
              </a:spcAft>
            </a:pPr>
            <a:r>
              <a:rPr sz="1150">
                <a:solidFill>
                  <a:srgbClr val="E1A339"/>
                </a:solidFill>
                <a:latin typeface="Calibri"/>
              </a:rPr>
              <a:t>• </a:t>
            </a:r>
            <a:r>
              <a:rPr sz="1150" b="0" i="0">
                <a:solidFill>
                  <a:srgbClr val="EDEAE1"/>
                </a:solidFill>
                <a:latin typeface="Calibri"/>
              </a:rPr>
              <a:t>500 warm-up steps</a:t>
            </a:r>
          </a:p>
        </p:txBody>
      </p:sp>
      <p:sp>
        <p:nvSpPr>
          <p:cNvPr id="21" name="Rectangle 20"/>
          <p:cNvSpPr/>
          <p:nvPr/>
        </p:nvSpPr>
        <p:spPr>
          <a:xfrm>
            <a:off x="7589520" y="1463040"/>
            <a:ext cx="4053535" cy="26974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9520" y="1463040"/>
            <a:ext cx="54864" cy="269748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4112" y="155448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WHAT TO SAY ABOUT IT</a:t>
            </a:r>
          </a:p>
        </p:txBody>
      </p:sp>
      <p:sp>
        <p:nvSpPr>
          <p:cNvPr id="24" name="TextBox 23"/>
          <p:cNvSpPr txBox="1"/>
          <p:nvPr/>
        </p:nvSpPr>
        <p:spPr>
          <a:xfrm>
            <a:off x="7726680" y="1920240"/>
            <a:ext cx="3779215" cy="214884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Removes the bucket trade-off entirely — an exact price</a:t>
            </a:r>
          </a:p>
          <a:p>
            <a:pPr>
              <a:lnSpc>
                <a:spcPct val="112000"/>
              </a:lnSpc>
              <a:spcAft>
                <a:spcPts val="400"/>
              </a:spcAft>
            </a:pPr>
            <a:r>
              <a:rPr sz="1200">
                <a:solidFill>
                  <a:srgbClr val="E1A339"/>
                </a:solidFill>
                <a:latin typeface="Calibri"/>
              </a:rPr>
              <a:t>• </a:t>
            </a:r>
            <a:r>
              <a:rPr sz="1200" b="0" i="0">
                <a:solidFill>
                  <a:srgbClr val="EDEAE1"/>
                </a:solidFill>
                <a:latin typeface="Calibri"/>
              </a:rPr>
              <a:t>The paper's field winner (6.07 vs 5.03) is the empirical case for it</a:t>
            </a:r>
          </a:p>
          <a:p>
            <a:pPr>
              <a:lnSpc>
                <a:spcPct val="112000"/>
              </a:lnSpc>
              <a:spcAft>
                <a:spcPts val="400"/>
              </a:spcAft>
            </a:pPr>
            <a:r>
              <a:rPr sz="1200">
                <a:solidFill>
                  <a:srgbClr val="E1A339"/>
                </a:solidFill>
                <a:latin typeface="Calibri"/>
              </a:rPr>
              <a:t>• </a:t>
            </a:r>
            <a:r>
              <a:rPr sz="1200" b="0" i="0">
                <a:solidFill>
                  <a:srgbClr val="EDEAE1"/>
                </a:solidFill>
                <a:latin typeface="Calibri"/>
              </a:rPr>
              <a:t>Cost: a delicate two-network loop, sensitive to hyperparameters and to the hand-scheduled noise</a:t>
            </a:r>
          </a:p>
          <a:p>
            <a:pPr>
              <a:lnSpc>
                <a:spcPct val="112000"/>
              </a:lnSpc>
              <a:spcAft>
                <a:spcPts val="400"/>
              </a:spcAft>
            </a:pPr>
            <a:r>
              <a:rPr sz="1200">
                <a:solidFill>
                  <a:srgbClr val="E1A339"/>
                </a:solidFill>
                <a:latin typeface="Calibri"/>
              </a:rPr>
              <a:t>• </a:t>
            </a:r>
            <a:r>
              <a:rPr sz="1200" b="0" i="0">
                <a:solidFill>
                  <a:srgbClr val="EDEAE1"/>
                </a:solidFill>
                <a:latin typeface="Calibri"/>
              </a:rPr>
              <a:t>Here: same training level as SAC, but 5× wider spread across seeds on held-out products</a:t>
            </a:r>
          </a:p>
        </p:txBody>
      </p:sp>
      <p:sp>
        <p:nvSpPr>
          <p:cNvPr id="25" name="Rectangle 24"/>
          <p:cNvSpPr/>
          <p:nvPr/>
        </p:nvSpPr>
        <p:spPr>
          <a:xfrm>
            <a:off x="7589520" y="4297680"/>
            <a:ext cx="4053535" cy="13258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89520" y="4297680"/>
            <a:ext cx="54864" cy="132588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54112" y="438912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IMPLEMENTATION CHECK</a:t>
            </a:r>
          </a:p>
        </p:txBody>
      </p:sp>
      <p:sp>
        <p:nvSpPr>
          <p:cNvPr id="28" name="TextBox 27"/>
          <p:cNvSpPr txBox="1"/>
          <p:nvPr/>
        </p:nvSpPr>
        <p:spPr>
          <a:xfrm>
            <a:off x="7726680" y="4754880"/>
            <a:ext cx="3779215" cy="77724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Learned Pendulum-v1: +100 return between first and last 10 episodes of a 6,000-step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4 · ON-POLICY, CLIPPED UPDATES</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PPO — improve a price distribution by a bounded step each batch</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13</a:t>
            </a:r>
          </a:p>
        </p:txBody>
      </p:sp>
      <p:sp>
        <p:nvSpPr>
          <p:cNvPr id="8" name="Rectangle 7"/>
          <p:cNvSpPr/>
          <p:nvPr/>
        </p:nvSpPr>
        <p:spPr>
          <a:xfrm>
            <a:off x="347472" y="603504"/>
            <a:ext cx="73152" cy="566928"/>
          </a:xfrm>
          <a:prstGeom prst="rect">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6766560" cy="23317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63040"/>
            <a:ext cx="54864" cy="2331720"/>
          </a:xfrm>
          <a:prstGeom prst="rect">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54480"/>
            <a:ext cx="649224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C77DFF"/>
                </a:solidFill>
                <a:latin typeface="Consolas"/>
              </a:rPr>
              <a:t>HOW IT WORKS</a:t>
            </a:r>
          </a:p>
        </p:txBody>
      </p:sp>
      <p:sp>
        <p:nvSpPr>
          <p:cNvPr id="12" name="TextBox 11"/>
          <p:cNvSpPr txBox="1"/>
          <p:nvPr/>
        </p:nvSpPr>
        <p:spPr>
          <a:xfrm>
            <a:off x="685800" y="1920240"/>
            <a:ext cx="6492240" cy="17830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Collect 1,024 steps with the current policy; store log π(a|s) and V(s)</a:t>
            </a:r>
          </a:p>
          <a:p>
            <a:pPr>
              <a:lnSpc>
                <a:spcPct val="112000"/>
              </a:lnSpc>
              <a:spcAft>
                <a:spcPts val="400"/>
              </a:spcAft>
            </a:pPr>
            <a:r>
              <a:rPr sz="1200">
                <a:solidFill>
                  <a:srgbClr val="E1A339"/>
                </a:solidFill>
                <a:latin typeface="Calibri"/>
              </a:rPr>
              <a:t>• </a:t>
            </a:r>
            <a:r>
              <a:rPr sz="1100" b="0" i="0">
                <a:solidFill>
                  <a:srgbClr val="EDEAE1"/>
                </a:solidFill>
                <a:latin typeface="Consolas"/>
              </a:rPr>
              <a:t>GAE:  δₜ = rₜ + γV(sₜ₊₁) − V(sₜ);  Âₜ = Σ (γλ)ᵏ δₜ₊ₖ,  λ = 0.95</a:t>
            </a:r>
          </a:p>
          <a:p>
            <a:pPr>
              <a:lnSpc>
                <a:spcPct val="112000"/>
              </a:lnSpc>
              <a:spcAft>
                <a:spcPts val="400"/>
              </a:spcAft>
            </a:pPr>
            <a:r>
              <a:rPr sz="1200">
                <a:solidFill>
                  <a:srgbClr val="E1A339"/>
                </a:solidFill>
                <a:latin typeface="Calibri"/>
              </a:rPr>
              <a:t>• </a:t>
            </a:r>
            <a:r>
              <a:rPr sz="1100" b="0" i="0">
                <a:solidFill>
                  <a:srgbClr val="EDEAE1"/>
                </a:solidFill>
                <a:latin typeface="Consolas"/>
              </a:rPr>
              <a:t>ratio rₜ = πθ(aₜ|sₜ) / πθₒₗₔ(aₜ|sₜ)</a:t>
            </a:r>
          </a:p>
          <a:p>
            <a:pPr>
              <a:lnSpc>
                <a:spcPct val="112000"/>
              </a:lnSpc>
              <a:spcAft>
                <a:spcPts val="400"/>
              </a:spcAft>
            </a:pPr>
            <a:r>
              <a:rPr sz="1200">
                <a:solidFill>
                  <a:srgbClr val="E1A339"/>
                </a:solidFill>
                <a:latin typeface="Calibri"/>
              </a:rPr>
              <a:t>• </a:t>
            </a:r>
            <a:r>
              <a:rPr sz="1100" b="0" i="0">
                <a:solidFill>
                  <a:srgbClr val="EDEAE1"/>
                </a:solidFill>
                <a:latin typeface="Consolas"/>
              </a:rPr>
              <a:t>loss = − mean min( rₜÂₜ , clip(rₜ, 0.8, 1.2)·Âₜ ) − 0.01·entropy</a:t>
            </a:r>
          </a:p>
          <a:p>
            <a:pPr>
              <a:lnSpc>
                <a:spcPct val="112000"/>
              </a:lnSpc>
              <a:spcAft>
                <a:spcPts val="400"/>
              </a:spcAft>
            </a:pPr>
            <a:r>
              <a:rPr sz="1200">
                <a:solidFill>
                  <a:srgbClr val="E1A339"/>
                </a:solidFill>
                <a:latin typeface="Calibri"/>
              </a:rPr>
              <a:t>• </a:t>
            </a:r>
            <a:r>
              <a:rPr sz="1200" b="0" i="0">
                <a:solidFill>
                  <a:srgbClr val="EDEAE1"/>
                </a:solidFill>
                <a:latin typeface="Calibri"/>
              </a:rPr>
              <a:t>10 epochs over minibatches of 64, then discard the rollout — no replay buffer</a:t>
            </a:r>
          </a:p>
        </p:txBody>
      </p:sp>
      <p:sp>
        <p:nvSpPr>
          <p:cNvPr id="13" name="Rectangle 12"/>
          <p:cNvSpPr/>
          <p:nvPr/>
        </p:nvSpPr>
        <p:spPr>
          <a:xfrm>
            <a:off x="54864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931920"/>
            <a:ext cx="54864" cy="1691640"/>
          </a:xfrm>
          <a:prstGeom prst="rect">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C77DFF"/>
                </a:solidFill>
                <a:latin typeface="Consolas"/>
              </a:rPr>
              <a:t>EXPLORATION</a:t>
            </a:r>
          </a:p>
        </p:txBody>
      </p:sp>
      <p:sp>
        <p:nvSpPr>
          <p:cNvPr id="16" name="TextBox 15"/>
          <p:cNvSpPr txBox="1"/>
          <p:nvPr/>
        </p:nvSpPr>
        <p:spPr>
          <a:xfrm>
            <a:off x="68580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Built in: the policy is a Gaussian with a learned std</a:t>
            </a:r>
          </a:p>
          <a:p>
            <a:pPr>
              <a:lnSpc>
                <a:spcPct val="112000"/>
              </a:lnSpc>
              <a:spcAft>
                <a:spcPts val="400"/>
              </a:spcAft>
            </a:pPr>
            <a:r>
              <a:rPr sz="1150">
                <a:solidFill>
                  <a:srgbClr val="E1A339"/>
                </a:solidFill>
                <a:latin typeface="Calibri"/>
              </a:rPr>
              <a:t>• </a:t>
            </a:r>
            <a:r>
              <a:rPr sz="1150" b="0" i="0">
                <a:solidFill>
                  <a:srgbClr val="EDEAE1"/>
                </a:solidFill>
                <a:latin typeface="Calibri"/>
              </a:rPr>
              <a:t>Entropy bonus stops it collapsing early</a:t>
            </a:r>
          </a:p>
          <a:p>
            <a:pPr>
              <a:lnSpc>
                <a:spcPct val="112000"/>
              </a:lnSpc>
              <a:spcAft>
                <a:spcPts val="400"/>
              </a:spcAft>
            </a:pPr>
            <a:r>
              <a:rPr sz="1150">
                <a:solidFill>
                  <a:srgbClr val="E1A339"/>
                </a:solidFill>
                <a:latin typeface="Calibri"/>
              </a:rPr>
              <a:t>• </a:t>
            </a:r>
            <a:r>
              <a:rPr sz="1150" b="0" i="0">
                <a:solidFill>
                  <a:srgbClr val="EDEAE1"/>
                </a:solidFill>
                <a:latin typeface="Calibri"/>
              </a:rPr>
              <a:t>Evaluation uses the mean</a:t>
            </a:r>
          </a:p>
        </p:txBody>
      </p:sp>
      <p:sp>
        <p:nvSpPr>
          <p:cNvPr id="17" name="Rectangle 16"/>
          <p:cNvSpPr/>
          <p:nvPr/>
        </p:nvSpPr>
        <p:spPr>
          <a:xfrm>
            <a:off x="402336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0" y="3931920"/>
            <a:ext cx="54864" cy="1691640"/>
          </a:xfrm>
          <a:prstGeom prst="rect">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795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C77DFF"/>
                </a:solidFill>
                <a:latin typeface="Consolas"/>
              </a:rPr>
              <a:t>HYPERPARAMETERS</a:t>
            </a:r>
          </a:p>
        </p:txBody>
      </p:sp>
      <p:sp>
        <p:nvSpPr>
          <p:cNvPr id="20" name="TextBox 19"/>
          <p:cNvSpPr txBox="1"/>
          <p:nvPr/>
        </p:nvSpPr>
        <p:spPr>
          <a:xfrm>
            <a:off x="416052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γ = 0.99, λ = 0.95, clip ε = 0.2</a:t>
            </a:r>
          </a:p>
          <a:p>
            <a:pPr>
              <a:lnSpc>
                <a:spcPct val="112000"/>
              </a:lnSpc>
              <a:spcAft>
                <a:spcPts val="400"/>
              </a:spcAft>
            </a:pPr>
            <a:r>
              <a:rPr sz="1150">
                <a:solidFill>
                  <a:srgbClr val="E1A339"/>
                </a:solidFill>
                <a:latin typeface="Calibri"/>
              </a:rPr>
              <a:t>• </a:t>
            </a:r>
            <a:r>
              <a:rPr sz="1150" b="0" i="0">
                <a:solidFill>
                  <a:srgbClr val="EDEAE1"/>
                </a:solidFill>
                <a:latin typeface="Calibri"/>
              </a:rPr>
              <a:t>lr 3e-4, rollout 1,024, 10 epochs, minibatch 64</a:t>
            </a:r>
          </a:p>
          <a:p>
            <a:pPr>
              <a:lnSpc>
                <a:spcPct val="112000"/>
              </a:lnSpc>
              <a:spcAft>
                <a:spcPts val="400"/>
              </a:spcAft>
            </a:pPr>
            <a:r>
              <a:rPr sz="1150">
                <a:solidFill>
                  <a:srgbClr val="E1A339"/>
                </a:solidFill>
                <a:latin typeface="Calibri"/>
              </a:rPr>
              <a:t>• </a:t>
            </a:r>
            <a:r>
              <a:rPr sz="1150" b="0" i="0">
                <a:solidFill>
                  <a:srgbClr val="EDEAE1"/>
                </a:solidFill>
                <a:latin typeface="Calibri"/>
              </a:rPr>
              <a:t>entropy 0.01, value coef 0.5, grad-norm 0.5</a:t>
            </a:r>
          </a:p>
        </p:txBody>
      </p:sp>
      <p:sp>
        <p:nvSpPr>
          <p:cNvPr id="21" name="Rectangle 20"/>
          <p:cNvSpPr/>
          <p:nvPr/>
        </p:nvSpPr>
        <p:spPr>
          <a:xfrm>
            <a:off x="7589520" y="1463040"/>
            <a:ext cx="4053535" cy="26974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9520" y="1463040"/>
            <a:ext cx="54864" cy="269748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4112" y="155448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WHAT TO SAY ABOUT IT</a:t>
            </a:r>
          </a:p>
        </p:txBody>
      </p:sp>
      <p:sp>
        <p:nvSpPr>
          <p:cNvPr id="24" name="TextBox 23"/>
          <p:cNvSpPr txBox="1"/>
          <p:nvPr/>
        </p:nvSpPr>
        <p:spPr>
          <a:xfrm>
            <a:off x="7726680" y="1920240"/>
            <a:ext cx="3779215" cy="214884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Chosen for robustness to a noisy reward: the clip bounds how far one lucky month can move the policy</a:t>
            </a:r>
          </a:p>
          <a:p>
            <a:pPr>
              <a:lnSpc>
                <a:spcPct val="112000"/>
              </a:lnSpc>
              <a:spcAft>
                <a:spcPts val="400"/>
              </a:spcAft>
            </a:pPr>
            <a:r>
              <a:rPr sz="1200">
                <a:solidFill>
                  <a:srgbClr val="E1A339"/>
                </a:solidFill>
                <a:latin typeface="Calibri"/>
              </a:rPr>
              <a:t>• </a:t>
            </a:r>
            <a:r>
              <a:rPr sz="1200" b="0" i="0">
                <a:solidFill>
                  <a:srgbClr val="EDEAE1"/>
                </a:solidFill>
                <a:latin typeface="Calibri"/>
              </a:rPr>
              <a:t>Price: sample efficiency — it cannot reuse old data</a:t>
            </a:r>
          </a:p>
          <a:p>
            <a:pPr>
              <a:lnSpc>
                <a:spcPct val="112000"/>
              </a:lnSpc>
              <a:spcAft>
                <a:spcPts val="400"/>
              </a:spcAft>
            </a:pPr>
            <a:r>
              <a:rPr sz="1200">
                <a:solidFill>
                  <a:srgbClr val="E1A339"/>
                </a:solidFill>
                <a:latin typeface="Calibri"/>
              </a:rPr>
              <a:t>• </a:t>
            </a:r>
            <a:r>
              <a:rPr sz="1200" b="0" i="0">
                <a:solidFill>
                  <a:srgbClr val="EDEAE1"/>
                </a:solidFill>
                <a:latin typeface="Calibri"/>
              </a:rPr>
              <a:t>Its running mean is still climbing at 15k steps while off-policy agents settled by 3k</a:t>
            </a:r>
          </a:p>
          <a:p>
            <a:pPr>
              <a:lnSpc>
                <a:spcPct val="112000"/>
              </a:lnSpc>
              <a:spcAft>
                <a:spcPts val="400"/>
              </a:spcAft>
            </a:pPr>
            <a:r>
              <a:rPr sz="1200">
                <a:solidFill>
                  <a:srgbClr val="E1A339"/>
                </a:solidFill>
                <a:latin typeface="Calibri"/>
              </a:rPr>
              <a:t>• </a:t>
            </a:r>
            <a:r>
              <a:rPr sz="1200" b="0" i="0">
                <a:solidFill>
                  <a:srgbClr val="EDEAE1"/>
                </a:solidFill>
                <a:latin typeface="Calibri"/>
              </a:rPr>
              <a:t>Runs continuous here (not the report's 'optionally discrete') so it compares directly with DDPG/SAC</a:t>
            </a:r>
          </a:p>
        </p:txBody>
      </p:sp>
      <p:sp>
        <p:nvSpPr>
          <p:cNvPr id="25" name="Rectangle 24"/>
          <p:cNvSpPr/>
          <p:nvPr/>
        </p:nvSpPr>
        <p:spPr>
          <a:xfrm>
            <a:off x="7589520" y="4297680"/>
            <a:ext cx="4053535" cy="13258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89520" y="4297680"/>
            <a:ext cx="54864" cy="132588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54112" y="438912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IMPLEMENTATION CHECK</a:t>
            </a:r>
          </a:p>
        </p:txBody>
      </p:sp>
      <p:sp>
        <p:nvSpPr>
          <p:cNvPr id="28" name="TextBox 27"/>
          <p:cNvSpPr txBox="1"/>
          <p:nvPr/>
        </p:nvSpPr>
        <p:spPr>
          <a:xfrm>
            <a:off x="7726680" y="4754880"/>
            <a:ext cx="3779215" cy="77724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Pendulum-v1 needed ~100k steps (vs 6k for DDPG/SAC) — the value estimate takes 10–15 rollouts to calibrate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4 · MAXIMUM ENTROPY, TWIN CRITICS</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SAC — reward randomness, and tune that reward automatically</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14</a:t>
            </a:r>
          </a:p>
        </p:txBody>
      </p:sp>
      <p:sp>
        <p:nvSpPr>
          <p:cNvPr id="8" name="Rectangle 7"/>
          <p:cNvSpPr/>
          <p:nvPr/>
        </p:nvSpPr>
        <p:spPr>
          <a:xfrm>
            <a:off x="347472" y="603504"/>
            <a:ext cx="73152" cy="566928"/>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6766560" cy="23317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63040"/>
            <a:ext cx="54864" cy="233172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554480"/>
            <a:ext cx="649224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HOW IT WORKS</a:t>
            </a:r>
          </a:p>
        </p:txBody>
      </p:sp>
      <p:sp>
        <p:nvSpPr>
          <p:cNvPr id="12" name="TextBox 11"/>
          <p:cNvSpPr txBox="1"/>
          <p:nvPr/>
        </p:nvSpPr>
        <p:spPr>
          <a:xfrm>
            <a:off x="685800" y="1920240"/>
            <a:ext cx="6492240" cy="17830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100" b="0" i="0">
                <a:solidFill>
                  <a:srgbClr val="EDEAE1"/>
                </a:solidFill>
                <a:latin typeface="Consolas"/>
              </a:rPr>
              <a:t>objective:  max Σₜ [ r(sₜ,aₜ) + α·H(π(·|sₜ)) ]</a:t>
            </a:r>
          </a:p>
          <a:p>
            <a:pPr>
              <a:lnSpc>
                <a:spcPct val="112000"/>
              </a:lnSpc>
              <a:spcAft>
                <a:spcPts val="400"/>
              </a:spcAft>
            </a:pPr>
            <a:r>
              <a:rPr sz="1200">
                <a:solidFill>
                  <a:srgbClr val="E1A339"/>
                </a:solidFill>
                <a:latin typeface="Calibri"/>
              </a:rPr>
              <a:t>• </a:t>
            </a:r>
            <a:r>
              <a:rPr sz="1100" b="0" i="0">
                <a:solidFill>
                  <a:srgbClr val="EDEAE1"/>
                </a:solidFill>
                <a:latin typeface="Consolas"/>
              </a:rPr>
              <a:t>critics:  y = r + γ·[ min(Q₁′,Q₂′)(s′,a′) − α·log π(a′|s′) ],  a′ ~ π(·|s′)</a:t>
            </a:r>
          </a:p>
          <a:p>
            <a:pPr>
              <a:lnSpc>
                <a:spcPct val="112000"/>
              </a:lnSpc>
              <a:spcAft>
                <a:spcPts val="400"/>
              </a:spcAft>
            </a:pPr>
            <a:r>
              <a:rPr sz="1200">
                <a:solidFill>
                  <a:srgbClr val="E1A339"/>
                </a:solidFill>
                <a:latin typeface="Calibri"/>
              </a:rPr>
              <a:t>• </a:t>
            </a:r>
            <a:r>
              <a:rPr sz="1100" b="0" i="0">
                <a:solidFill>
                  <a:srgbClr val="EDEAE1"/>
                </a:solidFill>
                <a:latin typeface="Consolas"/>
              </a:rPr>
              <a:t>actor:    loss = mean[ α·log π(a|s) − min(Q₁,Q₂)(s,a) ]   (reparameterised)</a:t>
            </a:r>
          </a:p>
          <a:p>
            <a:pPr>
              <a:lnSpc>
                <a:spcPct val="112000"/>
              </a:lnSpc>
              <a:spcAft>
                <a:spcPts val="400"/>
              </a:spcAft>
            </a:pPr>
            <a:r>
              <a:rPr sz="1200">
                <a:solidFill>
                  <a:srgbClr val="E1A339"/>
                </a:solidFill>
                <a:latin typeface="Calibri"/>
              </a:rPr>
              <a:t>• </a:t>
            </a:r>
            <a:r>
              <a:rPr sz="1100" b="0" i="0">
                <a:solidFill>
                  <a:srgbClr val="EDEAE1"/>
                </a:solidFill>
                <a:latin typeface="Consolas"/>
              </a:rPr>
              <a:t>temperature:  loss = − mean[ logα · (log π(a|s) + H_target) ],  H_target = −1</a:t>
            </a:r>
          </a:p>
          <a:p>
            <a:pPr>
              <a:lnSpc>
                <a:spcPct val="112000"/>
              </a:lnSpc>
              <a:spcAft>
                <a:spcPts val="400"/>
              </a:spcAft>
            </a:pPr>
            <a:r>
              <a:rPr sz="1200">
                <a:solidFill>
                  <a:srgbClr val="E1A339"/>
                </a:solidFill>
                <a:latin typeface="Calibri"/>
              </a:rPr>
              <a:t>• </a:t>
            </a:r>
            <a:r>
              <a:rPr sz="1200" b="0" i="0">
                <a:solidFill>
                  <a:srgbClr val="EDEAE1"/>
                </a:solidFill>
                <a:latin typeface="Calibri"/>
              </a:rPr>
              <a:t>tanh-squashed Gaussian policy with the log-prob correction; twin critics counter overestimation</a:t>
            </a:r>
          </a:p>
        </p:txBody>
      </p:sp>
      <p:sp>
        <p:nvSpPr>
          <p:cNvPr id="13" name="Rectangle 12"/>
          <p:cNvSpPr/>
          <p:nvPr/>
        </p:nvSpPr>
        <p:spPr>
          <a:xfrm>
            <a:off x="54864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931920"/>
            <a:ext cx="54864" cy="169164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EXPLORATION</a:t>
            </a:r>
          </a:p>
        </p:txBody>
      </p:sp>
      <p:sp>
        <p:nvSpPr>
          <p:cNvPr id="16" name="TextBox 15"/>
          <p:cNvSpPr txBox="1"/>
          <p:nvPr/>
        </p:nvSpPr>
        <p:spPr>
          <a:xfrm>
            <a:off x="68580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Intrinsic: sample from the policy during training</a:t>
            </a:r>
          </a:p>
          <a:p>
            <a:pPr>
              <a:lnSpc>
                <a:spcPct val="112000"/>
              </a:lnSpc>
              <a:spcAft>
                <a:spcPts val="400"/>
              </a:spcAft>
            </a:pPr>
            <a:r>
              <a:rPr sz="1150">
                <a:solidFill>
                  <a:srgbClr val="E1A339"/>
                </a:solidFill>
                <a:latin typeface="Calibri"/>
              </a:rPr>
              <a:t>• </a:t>
            </a:r>
            <a:r>
              <a:rPr sz="1150" b="0" i="0">
                <a:solidFill>
                  <a:srgbClr val="EDEAE1"/>
                </a:solidFill>
                <a:latin typeface="Calibri"/>
              </a:rPr>
              <a:t>α rises when entropy falls below target, and vice versa</a:t>
            </a:r>
          </a:p>
          <a:p>
            <a:pPr>
              <a:lnSpc>
                <a:spcPct val="112000"/>
              </a:lnSpc>
              <a:spcAft>
                <a:spcPts val="400"/>
              </a:spcAft>
            </a:pPr>
            <a:r>
              <a:rPr sz="1150">
                <a:solidFill>
                  <a:srgbClr val="E1A339"/>
                </a:solidFill>
                <a:latin typeface="Calibri"/>
              </a:rPr>
              <a:t>• </a:t>
            </a:r>
            <a:r>
              <a:rPr sz="1150" b="0" i="0">
                <a:solidFill>
                  <a:srgbClr val="EDEAE1"/>
                </a:solidFill>
                <a:latin typeface="Calibri"/>
              </a:rPr>
              <a:t>Evaluation: tanh(mean)</a:t>
            </a:r>
          </a:p>
        </p:txBody>
      </p:sp>
      <p:sp>
        <p:nvSpPr>
          <p:cNvPr id="17" name="Rectangle 16"/>
          <p:cNvSpPr/>
          <p:nvPr/>
        </p:nvSpPr>
        <p:spPr>
          <a:xfrm>
            <a:off x="4023360" y="3931920"/>
            <a:ext cx="3291840" cy="16916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0" y="3931920"/>
            <a:ext cx="54864" cy="169164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7952" y="4023360"/>
            <a:ext cx="3017520"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HYPERPARAMETERS</a:t>
            </a:r>
          </a:p>
        </p:txBody>
      </p:sp>
      <p:sp>
        <p:nvSpPr>
          <p:cNvPr id="20" name="TextBox 19"/>
          <p:cNvSpPr txBox="1"/>
          <p:nvPr/>
        </p:nvSpPr>
        <p:spPr>
          <a:xfrm>
            <a:off x="4160520" y="4389120"/>
            <a:ext cx="3017520" cy="114300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γ = 0.99, all three lr 3e-4</a:t>
            </a:r>
          </a:p>
          <a:p>
            <a:pPr>
              <a:lnSpc>
                <a:spcPct val="112000"/>
              </a:lnSpc>
              <a:spcAft>
                <a:spcPts val="400"/>
              </a:spcAft>
            </a:pPr>
            <a:r>
              <a:rPr sz="1150">
                <a:solidFill>
                  <a:srgbClr val="E1A339"/>
                </a:solidFill>
                <a:latin typeface="Calibri"/>
              </a:rPr>
              <a:t>• </a:t>
            </a:r>
            <a:r>
              <a:rPr sz="1150" b="0" i="0">
                <a:solidFill>
                  <a:srgbClr val="EDEAE1"/>
                </a:solidFill>
                <a:latin typeface="Calibri"/>
              </a:rPr>
              <a:t>τ = 0.005, batch 64, buffer 50k</a:t>
            </a:r>
          </a:p>
          <a:p>
            <a:pPr>
              <a:lnSpc>
                <a:spcPct val="112000"/>
              </a:lnSpc>
              <a:spcAft>
                <a:spcPts val="400"/>
              </a:spcAft>
            </a:pPr>
            <a:r>
              <a:rPr sz="1150">
                <a:solidFill>
                  <a:srgbClr val="E1A339"/>
                </a:solidFill>
                <a:latin typeface="Calibri"/>
              </a:rPr>
              <a:t>• </a:t>
            </a:r>
            <a:r>
              <a:rPr sz="1150" b="0" i="0">
                <a:solidFill>
                  <a:srgbClr val="EDEAE1"/>
                </a:solidFill>
                <a:latin typeface="Calibri"/>
              </a:rPr>
              <a:t>500 warm-up steps, target entropy −1</a:t>
            </a:r>
          </a:p>
        </p:txBody>
      </p:sp>
      <p:sp>
        <p:nvSpPr>
          <p:cNvPr id="21" name="Rectangle 20"/>
          <p:cNvSpPr/>
          <p:nvPr/>
        </p:nvSpPr>
        <p:spPr>
          <a:xfrm>
            <a:off x="7589520" y="1463040"/>
            <a:ext cx="4053535" cy="26974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9520" y="1463040"/>
            <a:ext cx="54864" cy="269748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4112" y="155448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WHAT TO SAY ABOUT IT</a:t>
            </a:r>
          </a:p>
        </p:txBody>
      </p:sp>
      <p:sp>
        <p:nvSpPr>
          <p:cNvPr id="24" name="TextBox 23"/>
          <p:cNvSpPr txBox="1"/>
          <p:nvPr/>
        </p:nvSpPr>
        <p:spPr>
          <a:xfrm>
            <a:off x="7726680" y="1920240"/>
            <a:ext cx="3779215" cy="214884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Chosen for the low-traffic problem: keeps exploring nearby prices while uncertain, no noise schedule to tune</a:t>
            </a:r>
          </a:p>
          <a:p>
            <a:pPr>
              <a:lnSpc>
                <a:spcPct val="112000"/>
              </a:lnSpc>
              <a:spcAft>
                <a:spcPts val="400"/>
              </a:spcAft>
            </a:pPr>
            <a:r>
              <a:rPr sz="1200">
                <a:solidFill>
                  <a:srgbClr val="E1A339"/>
                </a:solidFill>
                <a:latin typeface="Calibri"/>
              </a:rPr>
              <a:t>• </a:t>
            </a:r>
            <a:r>
              <a:rPr sz="1200" b="0" i="0">
                <a:solidFill>
                  <a:srgbClr val="EDEAE1"/>
                </a:solidFill>
                <a:latin typeface="Calibri"/>
              </a:rPr>
              <a:t>Tests whether DDPG's exact price can be had with better stability</a:t>
            </a:r>
          </a:p>
          <a:p>
            <a:pPr>
              <a:lnSpc>
                <a:spcPct val="112000"/>
              </a:lnSpc>
              <a:spcAft>
                <a:spcPts val="400"/>
              </a:spcAft>
            </a:pPr>
            <a:r>
              <a:rPr sz="1200">
                <a:solidFill>
                  <a:srgbClr val="E1A339"/>
                </a:solidFill>
                <a:latin typeface="Calibri"/>
              </a:rPr>
              <a:t>• </a:t>
            </a:r>
            <a:r>
              <a:rPr sz="1200" b="0" i="0">
                <a:solidFill>
                  <a:srgbClr val="EDEAE1"/>
                </a:solidFill>
                <a:latin typeface="Calibri"/>
              </a:rPr>
              <a:t>Result: best held-out DRCR and the tightest spread across seeds (5× tighter than DDPG)</a:t>
            </a:r>
          </a:p>
          <a:p>
            <a:pPr>
              <a:lnSpc>
                <a:spcPct val="112000"/>
              </a:lnSpc>
              <a:spcAft>
                <a:spcPts val="400"/>
              </a:spcAft>
            </a:pPr>
            <a:r>
              <a:rPr sz="1200">
                <a:solidFill>
                  <a:srgbClr val="E1A339"/>
                </a:solidFill>
                <a:latin typeface="Calibri"/>
              </a:rPr>
              <a:t>• </a:t>
            </a:r>
            <a:r>
              <a:rPr sz="1200" b="0" i="0">
                <a:solidFill>
                  <a:srgbClr val="EDEAE1"/>
                </a:solidFill>
                <a:latin typeface="Calibri"/>
              </a:rPr>
              <a:t>Update order: critics → actor → temperature → target critics; α detached everywhere but its own loss</a:t>
            </a:r>
          </a:p>
        </p:txBody>
      </p:sp>
      <p:sp>
        <p:nvSpPr>
          <p:cNvPr id="25" name="Rectangle 24"/>
          <p:cNvSpPr/>
          <p:nvPr/>
        </p:nvSpPr>
        <p:spPr>
          <a:xfrm>
            <a:off x="7589520" y="4297680"/>
            <a:ext cx="4053535" cy="132588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89520" y="4297680"/>
            <a:ext cx="54864" cy="1325880"/>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54112" y="4389120"/>
            <a:ext cx="377921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6E8FB0"/>
                </a:solidFill>
                <a:latin typeface="Consolas"/>
              </a:rPr>
              <a:t>IMPLEMENTATION CHECK</a:t>
            </a:r>
          </a:p>
        </p:txBody>
      </p:sp>
      <p:sp>
        <p:nvSpPr>
          <p:cNvPr id="28" name="TextBox 27"/>
          <p:cNvSpPr txBox="1"/>
          <p:nvPr/>
        </p:nvSpPr>
        <p:spPr>
          <a:xfrm>
            <a:off x="7726680" y="4754880"/>
            <a:ext cx="3779215" cy="777240"/>
          </a:xfrm>
          <a:prstGeom prst="rect">
            <a:avLst/>
          </a:prstGeom>
          <a:noFill/>
        </p:spPr>
        <p:txBody>
          <a:bodyPr wrap="square" lIns="45720" rIns="45720">
            <a:spAutoFit/>
          </a:bodyPr>
          <a:lstStyle/>
          <a:p>
            <a:pPr>
              <a:lnSpc>
                <a:spcPct val="112000"/>
              </a:lnSpc>
              <a:spcAft>
                <a:spcPts val="400"/>
              </a:spcAft>
            </a:pPr>
            <a:r>
              <a:rPr sz="1150">
                <a:solidFill>
                  <a:srgbClr val="E1A339"/>
                </a:solidFill>
                <a:latin typeface="Calibri"/>
              </a:rPr>
              <a:t>• </a:t>
            </a:r>
            <a:r>
              <a:rPr sz="1150" b="0" i="0">
                <a:solidFill>
                  <a:srgbClr val="EDEAE1"/>
                </a:solidFill>
                <a:latin typeface="Calibri"/>
              </a:rPr>
              <a:t>Learned Pendulum-v1 in 6,000 steps with finite critic loss and a finite, moving α throughout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4 · COMPARISON</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Four designs side by side</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15</a:t>
            </a:r>
          </a:p>
        </p:txBody>
      </p:sp>
      <p:graphicFrame>
        <p:nvGraphicFramePr>
          <p:cNvPr id="8" name="Table 7"/>
          <p:cNvGraphicFramePr>
            <a:graphicFrameLocks noGrp="1"/>
          </p:cNvGraphicFramePr>
          <p:nvPr/>
        </p:nvGraphicFramePr>
        <p:xfrm>
          <a:off x="548640" y="1463040"/>
          <a:ext cx="11094410" cy="3200400"/>
        </p:xfrm>
        <a:graphic>
          <a:graphicData uri="http://schemas.openxmlformats.org/drawingml/2006/table">
            <a:tbl>
              <a:tblPr firstRow="1" bandRow="1">
                <a:tableStyleId>{5C22544A-7EE6-4342-B048-85BDC9FD1C3A}</a:tableStyleId>
              </a:tblPr>
              <a:tblGrid>
                <a:gridCol w="672388"/>
                <a:gridCol w="1008583"/>
                <a:gridCol w="1260728"/>
                <a:gridCol w="1008583"/>
                <a:gridCol w="1512874"/>
                <a:gridCol w="2185263"/>
                <a:gridCol w="2185263"/>
                <a:gridCol w="1260728"/>
              </a:tblGrid>
              <a:tr h="640080">
                <a:tc>
                  <a:txBody>
                    <a:bodyPr wrap="square"/>
                    <a:lstStyle/>
                    <a:p>
                      <a:r>
                        <a:rPr sz="1000" b="1">
                          <a:solidFill>
                            <a:srgbClr val="E1A339"/>
                          </a:solidFill>
                          <a:latin typeface="Consolas"/>
                        </a:rPr>
                        <a:t/>
                      </a:r>
                    </a:p>
                  </a:txBody>
                  <a:tcPr marL="73152" marR="73152" marT="36576" marB="36576" anchor="ctr">
                    <a:solidFill>
                      <a:srgbClr val="181D24"/>
                    </a:solidFill>
                  </a:tcPr>
                </a:tc>
                <a:tc>
                  <a:txBody>
                    <a:bodyPr wrap="square"/>
                    <a:lstStyle/>
                    <a:p>
                      <a:r>
                        <a:rPr sz="1000" b="1">
                          <a:solidFill>
                            <a:srgbClr val="E1A339"/>
                          </a:solidFill>
                          <a:latin typeface="Consolas"/>
                        </a:rPr>
                        <a:t>Type</a:t>
                      </a:r>
                    </a:p>
                  </a:txBody>
                  <a:tcPr marL="73152" marR="73152" marT="36576" marB="36576" anchor="ctr">
                    <a:solidFill>
                      <a:srgbClr val="181D24"/>
                    </a:solidFill>
                  </a:tcPr>
                </a:tc>
                <a:tc>
                  <a:txBody>
                    <a:bodyPr wrap="square"/>
                    <a:lstStyle/>
                    <a:p>
                      <a:r>
                        <a:rPr sz="1000" b="1">
                          <a:solidFill>
                            <a:srgbClr val="E1A339"/>
                          </a:solidFill>
                          <a:latin typeface="Consolas"/>
                        </a:rPr>
                        <a:t>Action space</a:t>
                      </a:r>
                    </a:p>
                  </a:txBody>
                  <a:tcPr marL="73152" marR="73152" marT="36576" marB="36576" anchor="ctr">
                    <a:solidFill>
                      <a:srgbClr val="181D24"/>
                    </a:solidFill>
                  </a:tcPr>
                </a:tc>
                <a:tc>
                  <a:txBody>
                    <a:bodyPr wrap="square"/>
                    <a:lstStyle/>
                    <a:p>
                      <a:r>
                        <a:rPr sz="1000" b="1">
                          <a:solidFill>
                            <a:srgbClr val="E1A339"/>
                          </a:solidFill>
                          <a:latin typeface="Consolas"/>
                        </a:rPr>
                        <a:t>On / off-policy</a:t>
                      </a:r>
                    </a:p>
                  </a:txBody>
                  <a:tcPr marL="73152" marR="73152" marT="36576" marB="36576" anchor="ctr">
                    <a:solidFill>
                      <a:srgbClr val="181D24"/>
                    </a:solidFill>
                  </a:tcPr>
                </a:tc>
                <a:tc>
                  <a:txBody>
                    <a:bodyPr wrap="square"/>
                    <a:lstStyle/>
                    <a:p>
                      <a:r>
                        <a:rPr sz="1000" b="1">
                          <a:solidFill>
                            <a:srgbClr val="E1A339"/>
                          </a:solidFill>
                          <a:latin typeface="Consolas"/>
                        </a:rPr>
                        <a:t>Exploration</a:t>
                      </a:r>
                    </a:p>
                  </a:txBody>
                  <a:tcPr marL="73152" marR="73152" marT="36576" marB="36576" anchor="ctr">
                    <a:solidFill>
                      <a:srgbClr val="181D24"/>
                    </a:solidFill>
                  </a:tcPr>
                </a:tc>
                <a:tc>
                  <a:txBody>
                    <a:bodyPr wrap="square"/>
                    <a:lstStyle/>
                    <a:p>
                      <a:r>
                        <a:rPr sz="1000" b="1">
                          <a:solidFill>
                            <a:srgbClr val="E1A339"/>
                          </a:solidFill>
                          <a:latin typeface="Consolas"/>
                        </a:rPr>
                        <a:t>Key strength</a:t>
                      </a:r>
                    </a:p>
                  </a:txBody>
                  <a:tcPr marL="73152" marR="73152" marT="36576" marB="36576" anchor="ctr">
                    <a:solidFill>
                      <a:srgbClr val="181D24"/>
                    </a:solidFill>
                  </a:tcPr>
                </a:tc>
                <a:tc>
                  <a:txBody>
                    <a:bodyPr wrap="square"/>
                    <a:lstStyle/>
                    <a:p>
                      <a:r>
                        <a:rPr sz="1000" b="1">
                          <a:solidFill>
                            <a:srgbClr val="E1A339"/>
                          </a:solidFill>
                          <a:latin typeface="Consolas"/>
                        </a:rPr>
                        <a:t>Key limitation</a:t>
                      </a:r>
                    </a:p>
                  </a:txBody>
                  <a:tcPr marL="73152" marR="73152" marT="36576" marB="36576" anchor="ctr">
                    <a:solidFill>
                      <a:srgbClr val="181D24"/>
                    </a:solidFill>
                  </a:tcPr>
                </a:tc>
                <a:tc>
                  <a:txBody>
                    <a:bodyPr wrap="square"/>
                    <a:lstStyle/>
                    <a:p>
                      <a:r>
                        <a:rPr sz="1000" b="1">
                          <a:solidFill>
                            <a:srgbClr val="E1A339"/>
                          </a:solidFill>
                          <a:latin typeface="Consolas"/>
                        </a:rPr>
                        <a:t>Test DRCR</a:t>
                      </a:r>
                    </a:p>
                  </a:txBody>
                  <a:tcPr marL="73152" marR="73152" marT="36576" marB="36576" anchor="ctr">
                    <a:solidFill>
                      <a:srgbClr val="181D24"/>
                    </a:solidFill>
                  </a:tcPr>
                </a:tc>
              </a:tr>
              <a:tr h="640080">
                <a:tc>
                  <a:txBody>
                    <a:bodyPr wrap="square"/>
                    <a:lstStyle/>
                    <a:p>
                      <a:r>
                        <a:rPr sz="1100" b="1">
                          <a:solidFill>
                            <a:srgbClr val="5B8DEF"/>
                          </a:solidFill>
                          <a:latin typeface="Calibri"/>
                        </a:rPr>
                        <a:t>DQN</a:t>
                      </a:r>
                    </a:p>
                  </a:txBody>
                  <a:tcPr marL="73152" marR="73152" marT="36576" marB="36576" anchor="ctr">
                    <a:solidFill>
                      <a:srgbClr val="12161B"/>
                    </a:solidFill>
                  </a:tcPr>
                </a:tc>
                <a:tc>
                  <a:txBody>
                    <a:bodyPr wrap="square"/>
                    <a:lstStyle/>
                    <a:p>
                      <a:r>
                        <a:rPr sz="1100" b="0">
                          <a:solidFill>
                            <a:srgbClr val="EDEAE1"/>
                          </a:solidFill>
                          <a:latin typeface="Calibri"/>
                        </a:rPr>
                        <a:t>Value-based</a:t>
                      </a:r>
                    </a:p>
                  </a:txBody>
                  <a:tcPr marL="73152" marR="73152" marT="36576" marB="36576" anchor="ctr">
                    <a:solidFill>
                      <a:srgbClr val="12161B"/>
                    </a:solidFill>
                  </a:tcPr>
                </a:tc>
                <a:tc>
                  <a:txBody>
                    <a:bodyPr wrap="square"/>
                    <a:lstStyle/>
                    <a:p>
                      <a:r>
                        <a:rPr sz="1100" b="0">
                          <a:solidFill>
                            <a:srgbClr val="EDEAE1"/>
                          </a:solidFill>
                          <a:latin typeface="Calibri"/>
                        </a:rPr>
                        <a:t>Discrete (11 buckets)</a:t>
                      </a:r>
                    </a:p>
                  </a:txBody>
                  <a:tcPr marL="73152" marR="73152" marT="36576" marB="36576" anchor="ctr">
                    <a:solidFill>
                      <a:srgbClr val="12161B"/>
                    </a:solidFill>
                  </a:tcPr>
                </a:tc>
                <a:tc>
                  <a:txBody>
                    <a:bodyPr wrap="square"/>
                    <a:lstStyle/>
                    <a:p>
                      <a:r>
                        <a:rPr sz="1100" b="0">
                          <a:solidFill>
                            <a:srgbClr val="EDEAE1"/>
                          </a:solidFill>
                          <a:latin typeface="Calibri"/>
                        </a:rPr>
                        <a:t>Off-policy</a:t>
                      </a:r>
                    </a:p>
                  </a:txBody>
                  <a:tcPr marL="73152" marR="73152" marT="36576" marB="36576" anchor="ctr">
                    <a:solidFill>
                      <a:srgbClr val="12161B"/>
                    </a:solidFill>
                  </a:tcPr>
                </a:tc>
                <a:tc>
                  <a:txBody>
                    <a:bodyPr wrap="square"/>
                    <a:lstStyle/>
                    <a:p>
                      <a:r>
                        <a:rPr sz="1100" b="0">
                          <a:solidFill>
                            <a:srgbClr val="EDEAE1"/>
                          </a:solidFill>
                          <a:latin typeface="Calibri"/>
                        </a:rPr>
                        <a:t>ε-greedy schedule</a:t>
                      </a:r>
                    </a:p>
                  </a:txBody>
                  <a:tcPr marL="73152" marR="73152" marT="36576" marB="36576" anchor="ctr">
                    <a:solidFill>
                      <a:srgbClr val="12161B"/>
                    </a:solidFill>
                  </a:tcPr>
                </a:tc>
                <a:tc>
                  <a:txBody>
                    <a:bodyPr wrap="square"/>
                    <a:lstStyle/>
                    <a:p>
                      <a:r>
                        <a:rPr sz="1100" b="0">
                          <a:solidFill>
                            <a:srgbClr val="EDEAE1"/>
                          </a:solidFill>
                          <a:latin typeface="Calibri"/>
                        </a:rPr>
                        <a:t>Simple, stable, sample-efficient with replay</a:t>
                      </a:r>
                    </a:p>
                  </a:txBody>
                  <a:tcPr marL="73152" marR="73152" marT="36576" marB="36576" anchor="ctr">
                    <a:solidFill>
                      <a:srgbClr val="12161B"/>
                    </a:solidFill>
                  </a:tcPr>
                </a:tc>
                <a:tc>
                  <a:txBody>
                    <a:bodyPr wrap="square"/>
                    <a:lstStyle/>
                    <a:p>
                      <a:r>
                        <a:rPr sz="1100" b="0">
                          <a:solidFill>
                            <a:srgbClr val="EDEAE1"/>
                          </a:solidFill>
                          <a:latin typeface="Calibri"/>
                        </a:rPr>
                        <a:t>Buckets cap price precision</a:t>
                      </a:r>
                    </a:p>
                  </a:txBody>
                  <a:tcPr marL="73152" marR="73152" marT="36576" marB="36576" anchor="ctr">
                    <a:solidFill>
                      <a:srgbClr val="12161B"/>
                    </a:solidFill>
                  </a:tcPr>
                </a:tc>
                <a:tc>
                  <a:txBody>
                    <a:bodyPr wrap="square"/>
                    <a:lstStyle/>
                    <a:p>
                      <a:r>
                        <a:rPr sz="1100" b="0">
                          <a:solidFill>
                            <a:srgbClr val="EDEAE1"/>
                          </a:solidFill>
                          <a:latin typeface="Calibri"/>
                        </a:rPr>
                        <a:t>0.0313 ± 0.0236</a:t>
                      </a:r>
                    </a:p>
                  </a:txBody>
                  <a:tcPr marL="73152" marR="73152" marT="36576" marB="36576" anchor="ctr">
                    <a:solidFill>
                      <a:srgbClr val="12161B"/>
                    </a:solidFill>
                  </a:tcPr>
                </a:tc>
              </a:tr>
              <a:tr h="640080">
                <a:tc>
                  <a:txBody>
                    <a:bodyPr wrap="square"/>
                    <a:lstStyle/>
                    <a:p>
                      <a:r>
                        <a:rPr sz="1100" b="1">
                          <a:solidFill>
                            <a:srgbClr val="E1A339"/>
                          </a:solidFill>
                          <a:latin typeface="Calibri"/>
                        </a:rPr>
                        <a:t>DDPG</a:t>
                      </a:r>
                    </a:p>
                  </a:txBody>
                  <a:tcPr marL="73152" marR="73152" marT="36576" marB="36576" anchor="ctr">
                    <a:solidFill>
                      <a:srgbClr val="1E242C"/>
                    </a:solidFill>
                  </a:tcPr>
                </a:tc>
                <a:tc>
                  <a:txBody>
                    <a:bodyPr wrap="square"/>
                    <a:lstStyle/>
                    <a:p>
                      <a:r>
                        <a:rPr sz="1100" b="0">
                          <a:solidFill>
                            <a:srgbClr val="EDEAE1"/>
                          </a:solidFill>
                          <a:latin typeface="Calibri"/>
                        </a:rPr>
                        <a:t>Actor-critic</a:t>
                      </a:r>
                    </a:p>
                  </a:txBody>
                  <a:tcPr marL="73152" marR="73152" marT="36576" marB="36576" anchor="ctr">
                    <a:solidFill>
                      <a:srgbClr val="1E242C"/>
                    </a:solidFill>
                  </a:tcPr>
                </a:tc>
                <a:tc>
                  <a:txBody>
                    <a:bodyPr wrap="square"/>
                    <a:lstStyle/>
                    <a:p>
                      <a:r>
                        <a:rPr sz="1100" b="0">
                          <a:solidFill>
                            <a:srgbClr val="EDEAE1"/>
                          </a:solidFill>
                          <a:latin typeface="Calibri"/>
                        </a:rPr>
                        <a:t>Continuous</a:t>
                      </a:r>
                    </a:p>
                  </a:txBody>
                  <a:tcPr marL="73152" marR="73152" marT="36576" marB="36576" anchor="ctr">
                    <a:solidFill>
                      <a:srgbClr val="1E242C"/>
                    </a:solidFill>
                  </a:tcPr>
                </a:tc>
                <a:tc>
                  <a:txBody>
                    <a:bodyPr wrap="square"/>
                    <a:lstStyle/>
                    <a:p>
                      <a:r>
                        <a:rPr sz="1100" b="0">
                          <a:solidFill>
                            <a:srgbClr val="EDEAE1"/>
                          </a:solidFill>
                          <a:latin typeface="Calibri"/>
                        </a:rPr>
                        <a:t>Off-policy</a:t>
                      </a:r>
                    </a:p>
                  </a:txBody>
                  <a:tcPr marL="73152" marR="73152" marT="36576" marB="36576" anchor="ctr">
                    <a:solidFill>
                      <a:srgbClr val="1E242C"/>
                    </a:solidFill>
                  </a:tcPr>
                </a:tc>
                <a:tc>
                  <a:txBody>
                    <a:bodyPr wrap="square"/>
                    <a:lstStyle/>
                    <a:p>
                      <a:r>
                        <a:rPr sz="1100" b="0">
                          <a:solidFill>
                            <a:srgbClr val="EDEAE1"/>
                          </a:solidFill>
                          <a:latin typeface="Calibri"/>
                        </a:rPr>
                        <a:t>External OU noise</a:t>
                      </a:r>
                    </a:p>
                  </a:txBody>
                  <a:tcPr marL="73152" marR="73152" marT="36576" marB="36576" anchor="ctr">
                    <a:solidFill>
                      <a:srgbClr val="1E242C"/>
                    </a:solidFill>
                  </a:tcPr>
                </a:tc>
                <a:tc>
                  <a:txBody>
                    <a:bodyPr wrap="square"/>
                    <a:lstStyle/>
                    <a:p>
                      <a:r>
                        <a:rPr sz="1100" b="0">
                          <a:solidFill>
                            <a:srgbClr val="EDEAE1"/>
                          </a:solidFill>
                          <a:latin typeface="Calibri"/>
                        </a:rPr>
                        <a:t>Exact price, no discretisation trade-off</a:t>
                      </a:r>
                    </a:p>
                  </a:txBody>
                  <a:tcPr marL="73152" marR="73152" marT="36576" marB="36576" anchor="ctr">
                    <a:solidFill>
                      <a:srgbClr val="1E242C"/>
                    </a:solidFill>
                  </a:tcPr>
                </a:tc>
                <a:tc>
                  <a:txBody>
                    <a:bodyPr wrap="square"/>
                    <a:lstStyle/>
                    <a:p>
                      <a:r>
                        <a:rPr sz="1100" b="0">
                          <a:solidFill>
                            <a:srgbClr val="EDEAE1"/>
                          </a:solidFill>
                          <a:latin typeface="Calibri"/>
                        </a:rPr>
                        <a:t>Sensitive to hyperparameters and noise schedule</a:t>
                      </a:r>
                    </a:p>
                  </a:txBody>
                  <a:tcPr marL="73152" marR="73152" marT="36576" marB="36576" anchor="ctr">
                    <a:solidFill>
                      <a:srgbClr val="1E242C"/>
                    </a:solidFill>
                  </a:tcPr>
                </a:tc>
                <a:tc>
                  <a:txBody>
                    <a:bodyPr wrap="square"/>
                    <a:lstStyle/>
                    <a:p>
                      <a:r>
                        <a:rPr sz="1100" b="0">
                          <a:solidFill>
                            <a:srgbClr val="EDEAE1"/>
                          </a:solidFill>
                          <a:latin typeface="Calibri"/>
                        </a:rPr>
                        <a:t>0.0748 ± 0.0044</a:t>
                      </a:r>
                    </a:p>
                  </a:txBody>
                  <a:tcPr marL="73152" marR="73152" marT="36576" marB="36576" anchor="ctr">
                    <a:solidFill>
                      <a:srgbClr val="1E242C"/>
                    </a:solidFill>
                  </a:tcPr>
                </a:tc>
              </a:tr>
              <a:tr h="640080">
                <a:tc>
                  <a:txBody>
                    <a:bodyPr wrap="square"/>
                    <a:lstStyle/>
                    <a:p>
                      <a:r>
                        <a:rPr sz="1100" b="1">
                          <a:solidFill>
                            <a:srgbClr val="C77DFF"/>
                          </a:solidFill>
                          <a:latin typeface="Calibri"/>
                        </a:rPr>
                        <a:t>PPO</a:t>
                      </a:r>
                    </a:p>
                  </a:txBody>
                  <a:tcPr marL="73152" marR="73152" marT="36576" marB="36576" anchor="ctr">
                    <a:solidFill>
                      <a:srgbClr val="12161B"/>
                    </a:solidFill>
                  </a:tcPr>
                </a:tc>
                <a:tc>
                  <a:txBody>
                    <a:bodyPr wrap="square"/>
                    <a:lstStyle/>
                    <a:p>
                      <a:r>
                        <a:rPr sz="1100" b="0">
                          <a:solidFill>
                            <a:srgbClr val="EDEAE1"/>
                          </a:solidFill>
                          <a:latin typeface="Calibri"/>
                        </a:rPr>
                        <a:t>Actor-critic</a:t>
                      </a:r>
                    </a:p>
                  </a:txBody>
                  <a:tcPr marL="73152" marR="73152" marT="36576" marB="36576" anchor="ctr">
                    <a:solidFill>
                      <a:srgbClr val="12161B"/>
                    </a:solidFill>
                  </a:tcPr>
                </a:tc>
                <a:tc>
                  <a:txBody>
                    <a:bodyPr wrap="square"/>
                    <a:lstStyle/>
                    <a:p>
                      <a:r>
                        <a:rPr sz="1100" b="0">
                          <a:solidFill>
                            <a:srgbClr val="EDEAE1"/>
                          </a:solidFill>
                          <a:latin typeface="Calibri"/>
                        </a:rPr>
                        <a:t>Continuous</a:t>
                      </a:r>
                    </a:p>
                  </a:txBody>
                  <a:tcPr marL="73152" marR="73152" marT="36576" marB="36576" anchor="ctr">
                    <a:solidFill>
                      <a:srgbClr val="12161B"/>
                    </a:solidFill>
                  </a:tcPr>
                </a:tc>
                <a:tc>
                  <a:txBody>
                    <a:bodyPr wrap="square"/>
                    <a:lstStyle/>
                    <a:p>
                      <a:r>
                        <a:rPr sz="1100" b="0">
                          <a:solidFill>
                            <a:srgbClr val="EDEAE1"/>
                          </a:solidFill>
                          <a:latin typeface="Calibri"/>
                        </a:rPr>
                        <a:t>On-policy</a:t>
                      </a:r>
                    </a:p>
                  </a:txBody>
                  <a:tcPr marL="73152" marR="73152" marT="36576" marB="36576" anchor="ctr">
                    <a:solidFill>
                      <a:srgbClr val="12161B"/>
                    </a:solidFill>
                  </a:tcPr>
                </a:tc>
                <a:tc>
                  <a:txBody>
                    <a:bodyPr wrap="square"/>
                    <a:lstStyle/>
                    <a:p>
                      <a:r>
                        <a:rPr sz="1100" b="0">
                          <a:solidFill>
                            <a:srgbClr val="EDEAE1"/>
                          </a:solidFill>
                          <a:latin typeface="Calibri"/>
                        </a:rPr>
                        <a:t>Stochastic policy + entropy bonus</a:t>
                      </a:r>
                    </a:p>
                  </a:txBody>
                  <a:tcPr marL="73152" marR="73152" marT="36576" marB="36576" anchor="ctr">
                    <a:solidFill>
                      <a:srgbClr val="12161B"/>
                    </a:solidFill>
                  </a:tcPr>
                </a:tc>
                <a:tc>
                  <a:txBody>
                    <a:bodyPr wrap="square"/>
                    <a:lstStyle/>
                    <a:p>
                      <a:r>
                        <a:rPr sz="1100" b="0">
                          <a:solidFill>
                            <a:srgbClr val="EDEAE1"/>
                          </a:solidFill>
                          <a:latin typeface="Calibri"/>
                        </a:rPr>
                        <a:t>Clipped updates are robust to noisy rewards</a:t>
                      </a:r>
                    </a:p>
                  </a:txBody>
                  <a:tcPr marL="73152" marR="73152" marT="36576" marB="36576" anchor="ctr">
                    <a:solidFill>
                      <a:srgbClr val="12161B"/>
                    </a:solidFill>
                  </a:tcPr>
                </a:tc>
                <a:tc>
                  <a:txBody>
                    <a:bodyPr wrap="square"/>
                    <a:lstStyle/>
                    <a:p>
                      <a:r>
                        <a:rPr sz="1100" b="0">
                          <a:solidFill>
                            <a:srgbClr val="EDEAE1"/>
                          </a:solidFill>
                          <a:latin typeface="Calibri"/>
                        </a:rPr>
                        <a:t>Cannot reuse data → needs more steps</a:t>
                      </a:r>
                    </a:p>
                  </a:txBody>
                  <a:tcPr marL="73152" marR="73152" marT="36576" marB="36576" anchor="ctr">
                    <a:solidFill>
                      <a:srgbClr val="12161B"/>
                    </a:solidFill>
                  </a:tcPr>
                </a:tc>
                <a:tc>
                  <a:txBody>
                    <a:bodyPr wrap="square"/>
                    <a:lstStyle/>
                    <a:p>
                      <a:r>
                        <a:rPr sz="1100" b="0">
                          <a:solidFill>
                            <a:srgbClr val="EDEAE1"/>
                          </a:solidFill>
                          <a:latin typeface="Calibri"/>
                        </a:rPr>
                        <a:t>0.0778 ± 0.0046</a:t>
                      </a:r>
                    </a:p>
                  </a:txBody>
                  <a:tcPr marL="73152" marR="73152" marT="36576" marB="36576" anchor="ctr">
                    <a:solidFill>
                      <a:srgbClr val="12161B"/>
                    </a:solidFill>
                  </a:tcPr>
                </a:tc>
              </a:tr>
              <a:tr h="640080">
                <a:tc>
                  <a:txBody>
                    <a:bodyPr wrap="square"/>
                    <a:lstStyle/>
                    <a:p>
                      <a:r>
                        <a:rPr sz="1100" b="1">
                          <a:solidFill>
                            <a:srgbClr val="4FD1A5"/>
                          </a:solidFill>
                          <a:latin typeface="Calibri"/>
                        </a:rPr>
                        <a:t>SAC</a:t>
                      </a:r>
                    </a:p>
                  </a:txBody>
                  <a:tcPr marL="73152" marR="73152" marT="36576" marB="36576" anchor="ctr">
                    <a:solidFill>
                      <a:srgbClr val="1E242C"/>
                    </a:solidFill>
                  </a:tcPr>
                </a:tc>
                <a:tc>
                  <a:txBody>
                    <a:bodyPr wrap="square"/>
                    <a:lstStyle/>
                    <a:p>
                      <a:r>
                        <a:rPr sz="1100" b="0">
                          <a:solidFill>
                            <a:srgbClr val="EDEAE1"/>
                          </a:solidFill>
                          <a:latin typeface="Calibri"/>
                        </a:rPr>
                        <a:t>Actor-critic</a:t>
                      </a:r>
                    </a:p>
                  </a:txBody>
                  <a:tcPr marL="73152" marR="73152" marT="36576" marB="36576" anchor="ctr">
                    <a:solidFill>
                      <a:srgbClr val="1E242C"/>
                    </a:solidFill>
                  </a:tcPr>
                </a:tc>
                <a:tc>
                  <a:txBody>
                    <a:bodyPr wrap="square"/>
                    <a:lstStyle/>
                    <a:p>
                      <a:r>
                        <a:rPr sz="1100" b="0">
                          <a:solidFill>
                            <a:srgbClr val="EDEAE1"/>
                          </a:solidFill>
                          <a:latin typeface="Calibri"/>
                        </a:rPr>
                        <a:t>Continuous</a:t>
                      </a:r>
                    </a:p>
                  </a:txBody>
                  <a:tcPr marL="73152" marR="73152" marT="36576" marB="36576" anchor="ctr">
                    <a:solidFill>
                      <a:srgbClr val="1E242C"/>
                    </a:solidFill>
                  </a:tcPr>
                </a:tc>
                <a:tc>
                  <a:txBody>
                    <a:bodyPr wrap="square"/>
                    <a:lstStyle/>
                    <a:p>
                      <a:r>
                        <a:rPr sz="1100" b="0">
                          <a:solidFill>
                            <a:srgbClr val="EDEAE1"/>
                          </a:solidFill>
                          <a:latin typeface="Calibri"/>
                        </a:rPr>
                        <a:t>Off-policy</a:t>
                      </a:r>
                    </a:p>
                  </a:txBody>
                  <a:tcPr marL="73152" marR="73152" marT="36576" marB="36576" anchor="ctr">
                    <a:solidFill>
                      <a:srgbClr val="1E242C"/>
                    </a:solidFill>
                  </a:tcPr>
                </a:tc>
                <a:tc>
                  <a:txBody>
                    <a:bodyPr wrap="square"/>
                    <a:lstStyle/>
                    <a:p>
                      <a:r>
                        <a:rPr sz="1100" b="0">
                          <a:solidFill>
                            <a:srgbClr val="EDEAE1"/>
                          </a:solidFill>
                          <a:latin typeface="Calibri"/>
                        </a:rPr>
                        <a:t>Entropy term, self-tuned α</a:t>
                      </a:r>
                    </a:p>
                  </a:txBody>
                  <a:tcPr marL="73152" marR="73152" marT="36576" marB="36576" anchor="ctr">
                    <a:solidFill>
                      <a:srgbClr val="1E242C"/>
                    </a:solidFill>
                  </a:tcPr>
                </a:tc>
                <a:tc>
                  <a:txBody>
                    <a:bodyPr wrap="square"/>
                    <a:lstStyle/>
                    <a:p>
                      <a:r>
                        <a:rPr sz="1100" b="0">
                          <a:solidFill>
                            <a:srgbClr val="EDEAE1"/>
                          </a:solidFill>
                          <a:latin typeface="Calibri"/>
                        </a:rPr>
                        <a:t>Automatic exploration, twin critics, stable</a:t>
                      </a:r>
                    </a:p>
                  </a:txBody>
                  <a:tcPr marL="73152" marR="73152" marT="36576" marB="36576" anchor="ctr">
                    <a:solidFill>
                      <a:srgbClr val="1E242C"/>
                    </a:solidFill>
                  </a:tcPr>
                </a:tc>
                <a:tc>
                  <a:txBody>
                    <a:bodyPr wrap="square"/>
                    <a:lstStyle/>
                    <a:p>
                      <a:r>
                        <a:rPr sz="1100" b="0">
                          <a:solidFill>
                            <a:srgbClr val="EDEAE1"/>
                          </a:solidFill>
                          <a:latin typeface="Calibri"/>
                        </a:rPr>
                        <a:t>Extra temperature parameter and two critics</a:t>
                      </a:r>
                    </a:p>
                  </a:txBody>
                  <a:tcPr marL="73152" marR="73152" marT="36576" marB="36576" anchor="ctr">
                    <a:solidFill>
                      <a:srgbClr val="1E242C"/>
                    </a:solidFill>
                  </a:tcPr>
                </a:tc>
                <a:tc>
                  <a:txBody>
                    <a:bodyPr wrap="square"/>
                    <a:lstStyle/>
                    <a:p>
                      <a:r>
                        <a:rPr sz="1100" b="0">
                          <a:solidFill>
                            <a:srgbClr val="EDEAE1"/>
                          </a:solidFill>
                          <a:latin typeface="Calibri"/>
                        </a:rPr>
                        <a:t>0.0822 ± 0.0009</a:t>
                      </a:r>
                    </a:p>
                  </a:txBody>
                  <a:tcPr marL="73152" marR="73152" marT="36576" marB="36576" anchor="ctr">
                    <a:solidFill>
                      <a:srgbClr val="1E242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5 · PROTOCOL</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Fair-comparison protocol and baselines</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16</a:t>
            </a:r>
          </a:p>
        </p:txBody>
      </p:sp>
      <p:graphicFrame>
        <p:nvGraphicFramePr>
          <p:cNvPr id="8" name="Table 7"/>
          <p:cNvGraphicFramePr>
            <a:graphicFrameLocks noGrp="1"/>
          </p:cNvGraphicFramePr>
          <p:nvPr/>
        </p:nvGraphicFramePr>
        <p:xfrm>
          <a:off x="548640" y="1463040"/>
          <a:ext cx="5760718" cy="2267712"/>
        </p:xfrm>
        <a:graphic>
          <a:graphicData uri="http://schemas.openxmlformats.org/drawingml/2006/table">
            <a:tbl>
              <a:tblPr firstRow="1" bandRow="1">
                <a:tableStyleId>{5C22544A-7EE6-4342-B048-85BDC9FD1C3A}</a:tableStyleId>
              </a:tblPr>
              <a:tblGrid>
                <a:gridCol w="1005840"/>
                <a:gridCol w="2377439"/>
                <a:gridCol w="2377439"/>
              </a:tblGrid>
              <a:tr h="566928">
                <a:tc>
                  <a:txBody>
                    <a:bodyPr wrap="square"/>
                    <a:lstStyle/>
                    <a:p>
                      <a:r>
                        <a:rPr sz="1050" b="1">
                          <a:solidFill>
                            <a:srgbClr val="E1A339"/>
                          </a:solidFill>
                          <a:latin typeface="Consolas"/>
                        </a:rPr>
                        <a:t>Reference</a:t>
                      </a:r>
                    </a:p>
                  </a:txBody>
                  <a:tcPr marL="73152" marR="73152" marT="36576" marB="36576" anchor="ctr">
                    <a:solidFill>
                      <a:srgbClr val="181D24"/>
                    </a:solidFill>
                  </a:tcPr>
                </a:tc>
                <a:tc>
                  <a:txBody>
                    <a:bodyPr wrap="square"/>
                    <a:lstStyle/>
                    <a:p>
                      <a:r>
                        <a:rPr sz="1050" b="1">
                          <a:solidFill>
                            <a:srgbClr val="E1A339"/>
                          </a:solidFill>
                          <a:latin typeface="Consolas"/>
                        </a:rPr>
                        <a:t>What it does</a:t>
                      </a:r>
                    </a:p>
                  </a:txBody>
                  <a:tcPr marL="73152" marR="73152" marT="36576" marB="36576" anchor="ctr">
                    <a:solidFill>
                      <a:srgbClr val="181D24"/>
                    </a:solidFill>
                  </a:tcPr>
                </a:tc>
                <a:tc>
                  <a:txBody>
                    <a:bodyPr wrap="square"/>
                    <a:lstStyle/>
                    <a:p>
                      <a:r>
                        <a:rPr sz="1050" b="1">
                          <a:solidFill>
                            <a:srgbClr val="E1A339"/>
                          </a:solidFill>
                          <a:latin typeface="Consolas"/>
                        </a:rPr>
                        <a:t>Why it is there</a:t>
                      </a:r>
                    </a:p>
                  </a:txBody>
                  <a:tcPr marL="73152" marR="73152" marT="36576" marB="36576" anchor="ctr">
                    <a:solidFill>
                      <a:srgbClr val="181D24"/>
                    </a:solidFill>
                  </a:tcPr>
                </a:tc>
              </a:tr>
              <a:tr h="566928">
                <a:tc>
                  <a:txBody>
                    <a:bodyPr wrap="square"/>
                    <a:lstStyle/>
                    <a:p>
                      <a:r>
                        <a:rPr sz="1150" b="0">
                          <a:solidFill>
                            <a:srgbClr val="EDEAE1"/>
                          </a:solidFill>
                          <a:latin typeface="Calibri"/>
                        </a:rPr>
                        <a:t>Static</a:t>
                      </a:r>
                    </a:p>
                  </a:txBody>
                  <a:tcPr marL="73152" marR="73152" marT="36576" marB="36576" anchor="ctr">
                    <a:solidFill>
                      <a:srgbClr val="12161B"/>
                    </a:solidFill>
                  </a:tcPr>
                </a:tc>
                <a:tc>
                  <a:txBody>
                    <a:bodyPr wrap="square"/>
                    <a:lstStyle/>
                    <a:p>
                      <a:r>
                        <a:rPr sz="1150" b="0">
                          <a:solidFill>
                            <a:srgbClr val="EDEAE1"/>
                          </a:solidFill>
                          <a:latin typeface="Calibri"/>
                        </a:rPr>
                        <a:t>keeps the entering price every month</a:t>
                      </a:r>
                    </a:p>
                  </a:txBody>
                  <a:tcPr marL="73152" marR="73152" marT="36576" marB="36576" anchor="ctr">
                    <a:solidFill>
                      <a:srgbClr val="12161B"/>
                    </a:solidFill>
                  </a:tcPr>
                </a:tc>
                <a:tc>
                  <a:txBody>
                    <a:bodyPr wrap="square"/>
                    <a:lstStyle/>
                    <a:p>
                      <a:r>
                        <a:rPr sz="1150" b="0">
                          <a:solidFill>
                            <a:srgbClr val="EDEAE1"/>
                          </a:solidFill>
                          <a:latin typeface="Calibri"/>
                        </a:rPr>
                        <a:t>'do nothing' — the floor a useful agent must beat</a:t>
                      </a:r>
                    </a:p>
                  </a:txBody>
                  <a:tcPr marL="73152" marR="73152" marT="36576" marB="36576" anchor="ctr">
                    <a:solidFill>
                      <a:srgbClr val="12161B"/>
                    </a:solidFill>
                  </a:tcPr>
                </a:tc>
              </a:tr>
              <a:tr h="566928">
                <a:tc>
                  <a:txBody>
                    <a:bodyPr wrap="square"/>
                    <a:lstStyle/>
                    <a:p>
                      <a:r>
                        <a:rPr sz="1150" b="0">
                          <a:solidFill>
                            <a:srgbClr val="EDEAE1"/>
                          </a:solidFill>
                          <a:latin typeface="Calibri"/>
                        </a:rPr>
                        <a:t>Random</a:t>
                      </a:r>
                    </a:p>
                  </a:txBody>
                  <a:tcPr marL="73152" marR="73152" marT="36576" marB="36576" anchor="ctr">
                    <a:solidFill>
                      <a:srgbClr val="1E242C"/>
                    </a:solidFill>
                  </a:tcPr>
                </a:tc>
                <a:tc>
                  <a:txBody>
                    <a:bodyPr wrap="square"/>
                    <a:lstStyle/>
                    <a:p>
                      <a:r>
                        <a:rPr sz="1150" b="0">
                          <a:solidFill>
                            <a:srgbClr val="EDEAE1"/>
                          </a:solidFill>
                          <a:latin typeface="Calibri"/>
                        </a:rPr>
                        <a:t>uniform random action each month</a:t>
                      </a:r>
                    </a:p>
                  </a:txBody>
                  <a:tcPr marL="73152" marR="73152" marT="36576" marB="36576" anchor="ctr">
                    <a:solidFill>
                      <a:srgbClr val="1E242C"/>
                    </a:solidFill>
                  </a:tcPr>
                </a:tc>
                <a:tc>
                  <a:txBody>
                    <a:bodyPr wrap="square"/>
                    <a:lstStyle/>
                    <a:p>
                      <a:r>
                        <a:rPr sz="1150" b="0">
                          <a:solidFill>
                            <a:srgbClr val="EDEAE1"/>
                          </a:solidFill>
                          <a:latin typeface="Calibri"/>
                        </a:rPr>
                        <a:t>how much the environment gives away by chance</a:t>
                      </a:r>
                    </a:p>
                  </a:txBody>
                  <a:tcPr marL="73152" marR="73152" marT="36576" marB="36576" anchor="ctr">
                    <a:solidFill>
                      <a:srgbClr val="1E242C"/>
                    </a:solidFill>
                  </a:tcPr>
                </a:tc>
              </a:tr>
              <a:tr h="566928">
                <a:tc>
                  <a:txBody>
                    <a:bodyPr wrap="square"/>
                    <a:lstStyle/>
                    <a:p>
                      <a:r>
                        <a:rPr sz="1150" b="0">
                          <a:solidFill>
                            <a:srgbClr val="EDEAE1"/>
                          </a:solidFill>
                          <a:latin typeface="Calibri"/>
                        </a:rPr>
                        <a:t>Historical</a:t>
                      </a:r>
                    </a:p>
                  </a:txBody>
                  <a:tcPr marL="73152" marR="73152" marT="36576" marB="36576" anchor="ctr">
                    <a:solidFill>
                      <a:srgbClr val="12161B"/>
                    </a:solidFill>
                  </a:tcPr>
                </a:tc>
                <a:tc>
                  <a:txBody>
                    <a:bodyPr wrap="square"/>
                    <a:lstStyle/>
                    <a:p>
                      <a:r>
                        <a:rPr sz="1150" b="0">
                          <a:solidFill>
                            <a:srgbClr val="EDEAE1"/>
                          </a:solidFill>
                          <a:latin typeface="Calibri"/>
                        </a:rPr>
                        <a:t>the seller's actual prices, through the same model</a:t>
                      </a:r>
                    </a:p>
                  </a:txBody>
                  <a:tcPr marL="73152" marR="73152" marT="36576" marB="36576" anchor="ctr">
                    <a:solidFill>
                      <a:srgbClr val="12161B"/>
                    </a:solidFill>
                  </a:tcPr>
                </a:tc>
                <a:tc>
                  <a:txBody>
                    <a:bodyPr wrap="square"/>
                    <a:lstStyle/>
                    <a:p>
                      <a:r>
                        <a:rPr sz="1150" b="0">
                          <a:solidFill>
                            <a:srgbClr val="EDEAE1"/>
                          </a:solidFill>
                          <a:latin typeface="Calibri"/>
                        </a:rPr>
                        <a:t>the human pricer; basis of 'uplift vs. seller'</a:t>
                      </a:r>
                    </a:p>
                  </a:txBody>
                  <a:tcPr marL="73152" marR="73152" marT="36576" marB="36576" anchor="ctr">
                    <a:solidFill>
                      <a:srgbClr val="12161B"/>
                    </a:solidFill>
                  </a:tcPr>
                </a:tc>
              </a:tr>
            </a:tbl>
          </a:graphicData>
        </a:graphic>
      </p:graphicFrame>
      <p:sp>
        <p:nvSpPr>
          <p:cNvPr id="9" name="Rectangle 8"/>
          <p:cNvSpPr/>
          <p:nvPr/>
        </p:nvSpPr>
        <p:spPr>
          <a:xfrm>
            <a:off x="6583680" y="1463040"/>
            <a:ext cx="5059375" cy="370332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1463040"/>
            <a:ext cx="54864" cy="370332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48272" y="1554480"/>
            <a:ext cx="478505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HELD EQUAL FOR EVERY AGENT</a:t>
            </a:r>
          </a:p>
        </p:txBody>
      </p:sp>
      <p:sp>
        <p:nvSpPr>
          <p:cNvPr id="12" name="TextBox 11"/>
          <p:cNvSpPr txBox="1"/>
          <p:nvPr/>
        </p:nvSpPr>
        <p:spPr>
          <a:xfrm>
            <a:off x="6720840" y="1920240"/>
            <a:ext cx="4785055" cy="315468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Environment, demand model, feature scaler, 60 / 20 product split</a:t>
            </a:r>
          </a:p>
          <a:p>
            <a:pPr>
              <a:lnSpc>
                <a:spcPct val="112000"/>
              </a:lnSpc>
              <a:spcAft>
                <a:spcPts val="400"/>
              </a:spcAft>
            </a:pPr>
            <a:r>
              <a:rPr sz="1200">
                <a:solidFill>
                  <a:srgbClr val="E1A339"/>
                </a:solidFill>
                <a:latin typeface="Calibri"/>
              </a:rPr>
              <a:t>• </a:t>
            </a:r>
            <a:r>
              <a:rPr sz="1200" b="0" i="0">
                <a:solidFill>
                  <a:srgbClr val="EDEAE1"/>
                </a:solidFill>
                <a:latin typeface="Calibri"/>
              </a:rPr>
              <a:t>Network size 2 × 128 ReLU in every actor, critic and Q network; Adam</a:t>
            </a:r>
          </a:p>
          <a:p>
            <a:pPr>
              <a:lnSpc>
                <a:spcPct val="112000"/>
              </a:lnSpc>
              <a:spcAft>
                <a:spcPts val="400"/>
              </a:spcAft>
            </a:pPr>
            <a:r>
              <a:rPr sz="1200">
                <a:solidFill>
                  <a:srgbClr val="E1A339"/>
                </a:solidFill>
                <a:latin typeface="Calibri"/>
              </a:rPr>
              <a:t>• </a:t>
            </a:r>
            <a:r>
              <a:rPr sz="1200" b="0" i="0">
                <a:solidFill>
                  <a:srgbClr val="EDEAE1"/>
                </a:solidFill>
                <a:latin typeface="Calibri"/>
              </a:rPr>
              <a:t>Budget in environment steps (15,000 per run) — fair across on- and off-policy</a:t>
            </a:r>
          </a:p>
          <a:p>
            <a:pPr>
              <a:lnSpc>
                <a:spcPct val="112000"/>
              </a:lnSpc>
              <a:spcAft>
                <a:spcPts val="400"/>
              </a:spcAft>
            </a:pPr>
            <a:r>
              <a:rPr sz="1200">
                <a:solidFill>
                  <a:srgbClr val="E1A339"/>
                </a:solidFill>
                <a:latin typeface="Calibri"/>
              </a:rPr>
              <a:t>• </a:t>
            </a:r>
            <a:r>
              <a:rPr sz="1200" b="0" i="0">
                <a:solidFill>
                  <a:srgbClr val="EDEAE1"/>
                </a:solidFill>
                <a:latin typeface="Calibri"/>
              </a:rPr>
              <a:t>Seeds 0, 1, 2 for every agent and baseline; mean ± std reported</a:t>
            </a:r>
          </a:p>
          <a:p>
            <a:pPr>
              <a:lnSpc>
                <a:spcPct val="112000"/>
              </a:lnSpc>
              <a:spcAft>
                <a:spcPts val="400"/>
              </a:spcAft>
            </a:pPr>
            <a:r>
              <a:rPr sz="1200">
                <a:solidFill>
                  <a:srgbClr val="E1A339"/>
                </a:solidFill>
                <a:latin typeface="Calibri"/>
              </a:rPr>
              <a:t>• </a:t>
            </a:r>
            <a:r>
              <a:rPr sz="1200" b="0" i="0">
                <a:solidFill>
                  <a:srgbClr val="EDEAE1"/>
                </a:solidFill>
                <a:latin typeface="Calibri"/>
              </a:rPr>
              <a:t>Evaluation: deterministic actions, 20 held-out products, real months only</a:t>
            </a:r>
          </a:p>
          <a:p>
            <a:pPr>
              <a:lnSpc>
                <a:spcPct val="112000"/>
              </a:lnSpc>
              <a:spcAft>
                <a:spcPts val="400"/>
              </a:spcAft>
            </a:pPr>
            <a:r>
              <a:rPr sz="1200">
                <a:solidFill>
                  <a:srgbClr val="E1A339"/>
                </a:solidFill>
                <a:latin typeface="Calibri"/>
              </a:rPr>
              <a:t>• </a:t>
            </a:r>
            <a:r>
              <a:rPr sz="1200" b="0" i="0">
                <a:solidFill>
                  <a:srgbClr val="E1A339"/>
                </a:solidFill>
                <a:latin typeface="Calibri"/>
              </a:rPr>
              <a:t>Smoke tests first: DQN on CartPole-v1, DDPG/PPO/SAC on Pendulum-v1 — caught a PPO gradient-clip bug and a wrong-sign pooled elasticity</a:t>
            </a:r>
          </a:p>
        </p:txBody>
      </p:sp>
      <p:sp>
        <p:nvSpPr>
          <p:cNvPr id="13" name="TextBox 12"/>
          <p:cNvSpPr txBox="1"/>
          <p:nvPr/>
        </p:nvSpPr>
        <p:spPr>
          <a:xfrm>
            <a:off x="548640" y="3977640"/>
            <a:ext cx="5760720" cy="12801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DEAE1"/>
                </a:solidFill>
                <a:latin typeface="Calibri"/>
              </a:rPr>
              <a:t>Shared contract. </a:t>
            </a:r>
            <a:r>
              <a:rPr sz="1300" b="0" i="0">
                <a:solidFill>
                  <a:srgbClr val="8C97A3"/>
                </a:solidFill>
                <a:latin typeface="Calibri"/>
              </a:rPr>
              <a:t>Every agent implements the same four methods — select_action, observe, update, save/load — so training and evaluation loops are identical code. The comparison is of algorithm design, not of setup.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6 · RESULTS</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Results: SAC leads, all three continuous agents beat the seller</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17</a:t>
            </a:r>
          </a:p>
        </p:txBody>
      </p:sp>
      <p:graphicFrame>
        <p:nvGraphicFramePr>
          <p:cNvPr id="8" name="Table 7"/>
          <p:cNvGraphicFramePr>
            <a:graphicFrameLocks noGrp="1"/>
          </p:cNvGraphicFramePr>
          <p:nvPr/>
        </p:nvGraphicFramePr>
        <p:xfrm>
          <a:off x="548640" y="1463040"/>
          <a:ext cx="7498076" cy="3072384"/>
        </p:xfrm>
        <a:graphic>
          <a:graphicData uri="http://schemas.openxmlformats.org/drawingml/2006/table">
            <a:tbl>
              <a:tblPr firstRow="1" bandRow="1">
                <a:tableStyleId>{5C22544A-7EE6-4342-B048-85BDC9FD1C3A}</a:tableStyleId>
              </a:tblPr>
              <a:tblGrid>
                <a:gridCol w="1785256"/>
                <a:gridCol w="1338942"/>
                <a:gridCol w="1338942"/>
                <a:gridCol w="1428205"/>
                <a:gridCol w="1606731"/>
              </a:tblGrid>
              <a:tr h="438912">
                <a:tc>
                  <a:txBody>
                    <a:bodyPr wrap="square"/>
                    <a:lstStyle/>
                    <a:p>
                      <a:r>
                        <a:rPr sz="1150" b="1">
                          <a:solidFill>
                            <a:srgbClr val="E1A339"/>
                          </a:solidFill>
                          <a:latin typeface="Consolas"/>
                        </a:rPr>
                        <a:t>Policy</a:t>
                      </a:r>
                    </a:p>
                  </a:txBody>
                  <a:tcPr marL="73152" marR="73152" marT="36576" marB="36576" anchor="ctr">
                    <a:solidFill>
                      <a:srgbClr val="181D24"/>
                    </a:solidFill>
                  </a:tcPr>
                </a:tc>
                <a:tc>
                  <a:txBody>
                    <a:bodyPr wrap="square"/>
                    <a:lstStyle/>
                    <a:p>
                      <a:r>
                        <a:rPr sz="1150" b="1">
                          <a:solidFill>
                            <a:srgbClr val="E1A339"/>
                          </a:solidFill>
                          <a:latin typeface="Consolas"/>
                        </a:rPr>
                        <a:t>Mean test DRCR</a:t>
                      </a:r>
                    </a:p>
                  </a:txBody>
                  <a:tcPr marL="73152" marR="73152" marT="36576" marB="36576" anchor="ctr">
                    <a:solidFill>
                      <a:srgbClr val="181D24"/>
                    </a:solidFill>
                  </a:tcPr>
                </a:tc>
                <a:tc>
                  <a:txBody>
                    <a:bodyPr wrap="square"/>
                    <a:lstStyle/>
                    <a:p>
                      <a:r>
                        <a:rPr sz="1150" b="1">
                          <a:solidFill>
                            <a:srgbClr val="E1A339"/>
                          </a:solidFill>
                          <a:latin typeface="Consolas"/>
                        </a:rPr>
                        <a:t>Std across seeds</a:t>
                      </a:r>
                    </a:p>
                  </a:txBody>
                  <a:tcPr marL="73152" marR="73152" marT="36576" marB="36576" anchor="ctr">
                    <a:solidFill>
                      <a:srgbClr val="181D24"/>
                    </a:solidFill>
                  </a:tcPr>
                </a:tc>
                <a:tc>
                  <a:txBody>
                    <a:bodyPr wrap="square"/>
                    <a:lstStyle/>
                    <a:p>
                      <a:r>
                        <a:rPr sz="1150" b="1">
                          <a:solidFill>
                            <a:srgbClr val="E1A339"/>
                          </a:solidFill>
                          <a:latin typeface="Consolas"/>
                        </a:rPr>
                        <a:t>Revenue vs. seller</a:t>
                      </a:r>
                    </a:p>
                  </a:txBody>
                  <a:tcPr marL="73152" marR="73152" marT="36576" marB="36576" anchor="ctr">
                    <a:solidFill>
                      <a:srgbClr val="181D24"/>
                    </a:solidFill>
                  </a:tcPr>
                </a:tc>
                <a:tc>
                  <a:txBody>
                    <a:bodyPr wrap="square"/>
                    <a:lstStyle/>
                    <a:p>
                      <a:r>
                        <a:rPr sz="1150" b="1">
                          <a:solidFill>
                            <a:srgbClr val="E1A339"/>
                          </a:solidFill>
                          <a:latin typeface="Consolas"/>
                        </a:rPr>
                        <a:t>Training-tail reward</a:t>
                      </a:r>
                    </a:p>
                  </a:txBody>
                  <a:tcPr marL="73152" marR="73152" marT="36576" marB="36576" anchor="ctr">
                    <a:solidFill>
                      <a:srgbClr val="181D24"/>
                    </a:solidFill>
                  </a:tcPr>
                </a:tc>
              </a:tr>
              <a:tr h="438912">
                <a:tc>
                  <a:txBody>
                    <a:bodyPr wrap="square"/>
                    <a:lstStyle/>
                    <a:p>
                      <a:r>
                        <a:rPr sz="1250" b="1">
                          <a:solidFill>
                            <a:srgbClr val="4FD1A5"/>
                          </a:solidFill>
                          <a:latin typeface="Calibri"/>
                        </a:rPr>
                        <a:t>SAC</a:t>
                      </a:r>
                    </a:p>
                  </a:txBody>
                  <a:tcPr marL="73152" marR="73152" marT="36576" marB="36576" anchor="ctr">
                    <a:solidFill>
                      <a:srgbClr val="12161B"/>
                    </a:solidFill>
                  </a:tcPr>
                </a:tc>
                <a:tc>
                  <a:txBody>
                    <a:bodyPr wrap="square"/>
                    <a:lstStyle/>
                    <a:p>
                      <a:r>
                        <a:rPr sz="1250" b="0">
                          <a:solidFill>
                            <a:srgbClr val="EDEAE1"/>
                          </a:solidFill>
                          <a:latin typeface="Calibri"/>
                        </a:rPr>
                        <a:t>0.0822</a:t>
                      </a:r>
                    </a:p>
                  </a:txBody>
                  <a:tcPr marL="73152" marR="73152" marT="36576" marB="36576" anchor="ctr">
                    <a:solidFill>
                      <a:srgbClr val="12161B"/>
                    </a:solidFill>
                  </a:tcPr>
                </a:tc>
                <a:tc>
                  <a:txBody>
                    <a:bodyPr wrap="square"/>
                    <a:lstStyle/>
                    <a:p>
                      <a:r>
                        <a:rPr sz="1250" b="0">
                          <a:solidFill>
                            <a:srgbClr val="EDEAE1"/>
                          </a:solidFill>
                          <a:latin typeface="Calibri"/>
                        </a:rPr>
                        <a:t>0.0009</a:t>
                      </a:r>
                    </a:p>
                  </a:txBody>
                  <a:tcPr marL="73152" marR="73152" marT="36576" marB="36576" anchor="ctr">
                    <a:solidFill>
                      <a:srgbClr val="12161B"/>
                    </a:solidFill>
                  </a:tcPr>
                </a:tc>
                <a:tc>
                  <a:txBody>
                    <a:bodyPr wrap="square"/>
                    <a:lstStyle/>
                    <a:p>
                      <a:r>
                        <a:rPr sz="1250" b="0">
                          <a:solidFill>
                            <a:srgbClr val="EDEAE1"/>
                          </a:solidFill>
                          <a:latin typeface="Calibri"/>
                        </a:rPr>
                        <a:t>+3.9 %</a:t>
                      </a:r>
                    </a:p>
                  </a:txBody>
                  <a:tcPr marL="73152" marR="73152" marT="36576" marB="36576" anchor="ctr">
                    <a:solidFill>
                      <a:srgbClr val="12161B"/>
                    </a:solidFill>
                  </a:tcPr>
                </a:tc>
                <a:tc>
                  <a:txBody>
                    <a:bodyPr wrap="square"/>
                    <a:lstStyle/>
                    <a:p>
                      <a:r>
                        <a:rPr sz="1250" b="0">
                          <a:solidFill>
                            <a:srgbClr val="EDEAE1"/>
                          </a:solidFill>
                          <a:latin typeface="Calibri"/>
                        </a:rPr>
                        <a:t>2.32 ± 0.67</a:t>
                      </a:r>
                    </a:p>
                  </a:txBody>
                  <a:tcPr marL="73152" marR="73152" marT="36576" marB="36576" anchor="ctr">
                    <a:solidFill>
                      <a:srgbClr val="12161B"/>
                    </a:solidFill>
                  </a:tcPr>
                </a:tc>
              </a:tr>
              <a:tr h="438912">
                <a:tc>
                  <a:txBody>
                    <a:bodyPr wrap="square"/>
                    <a:lstStyle/>
                    <a:p>
                      <a:r>
                        <a:rPr sz="1250" b="1">
                          <a:solidFill>
                            <a:srgbClr val="C77DFF"/>
                          </a:solidFill>
                          <a:latin typeface="Calibri"/>
                        </a:rPr>
                        <a:t>PPO</a:t>
                      </a:r>
                    </a:p>
                  </a:txBody>
                  <a:tcPr marL="73152" marR="73152" marT="36576" marB="36576" anchor="ctr">
                    <a:solidFill>
                      <a:srgbClr val="1E242C"/>
                    </a:solidFill>
                  </a:tcPr>
                </a:tc>
                <a:tc>
                  <a:txBody>
                    <a:bodyPr wrap="square"/>
                    <a:lstStyle/>
                    <a:p>
                      <a:r>
                        <a:rPr sz="1250" b="0">
                          <a:solidFill>
                            <a:srgbClr val="EDEAE1"/>
                          </a:solidFill>
                          <a:latin typeface="Calibri"/>
                        </a:rPr>
                        <a:t>0.0778</a:t>
                      </a:r>
                    </a:p>
                  </a:txBody>
                  <a:tcPr marL="73152" marR="73152" marT="36576" marB="36576" anchor="ctr">
                    <a:solidFill>
                      <a:srgbClr val="1E242C"/>
                    </a:solidFill>
                  </a:tcPr>
                </a:tc>
                <a:tc>
                  <a:txBody>
                    <a:bodyPr wrap="square"/>
                    <a:lstStyle/>
                    <a:p>
                      <a:r>
                        <a:rPr sz="1250" b="0">
                          <a:solidFill>
                            <a:srgbClr val="EDEAE1"/>
                          </a:solidFill>
                          <a:latin typeface="Calibri"/>
                        </a:rPr>
                        <a:t>0.0046</a:t>
                      </a:r>
                    </a:p>
                  </a:txBody>
                  <a:tcPr marL="73152" marR="73152" marT="36576" marB="36576" anchor="ctr">
                    <a:solidFill>
                      <a:srgbClr val="1E242C"/>
                    </a:solidFill>
                  </a:tcPr>
                </a:tc>
                <a:tc>
                  <a:txBody>
                    <a:bodyPr wrap="square"/>
                    <a:lstStyle/>
                    <a:p>
                      <a:r>
                        <a:rPr sz="1250" b="0">
                          <a:solidFill>
                            <a:srgbClr val="EDEAE1"/>
                          </a:solidFill>
                          <a:latin typeface="Calibri"/>
                        </a:rPr>
                        <a:t>+3.0 %</a:t>
                      </a:r>
                    </a:p>
                  </a:txBody>
                  <a:tcPr marL="73152" marR="73152" marT="36576" marB="36576" anchor="ctr">
                    <a:solidFill>
                      <a:srgbClr val="1E242C"/>
                    </a:solidFill>
                  </a:tcPr>
                </a:tc>
                <a:tc>
                  <a:txBody>
                    <a:bodyPr wrap="square"/>
                    <a:lstStyle/>
                    <a:p>
                      <a:r>
                        <a:rPr sz="1250" b="0">
                          <a:solidFill>
                            <a:srgbClr val="EDEAE1"/>
                          </a:solidFill>
                          <a:latin typeface="Calibri"/>
                        </a:rPr>
                        <a:t>1.61 ± 0.84</a:t>
                      </a:r>
                    </a:p>
                  </a:txBody>
                  <a:tcPr marL="73152" marR="73152" marT="36576" marB="36576" anchor="ctr">
                    <a:solidFill>
                      <a:srgbClr val="1E242C"/>
                    </a:solidFill>
                  </a:tcPr>
                </a:tc>
              </a:tr>
              <a:tr h="438912">
                <a:tc>
                  <a:txBody>
                    <a:bodyPr wrap="square"/>
                    <a:lstStyle/>
                    <a:p>
                      <a:r>
                        <a:rPr sz="1250" b="1">
                          <a:solidFill>
                            <a:srgbClr val="E1A339"/>
                          </a:solidFill>
                          <a:latin typeface="Calibri"/>
                        </a:rPr>
                        <a:t>DDPG</a:t>
                      </a:r>
                    </a:p>
                  </a:txBody>
                  <a:tcPr marL="73152" marR="73152" marT="36576" marB="36576" anchor="ctr">
                    <a:solidFill>
                      <a:srgbClr val="12161B"/>
                    </a:solidFill>
                  </a:tcPr>
                </a:tc>
                <a:tc>
                  <a:txBody>
                    <a:bodyPr wrap="square"/>
                    <a:lstStyle/>
                    <a:p>
                      <a:r>
                        <a:rPr sz="1250" b="0">
                          <a:solidFill>
                            <a:srgbClr val="EDEAE1"/>
                          </a:solidFill>
                          <a:latin typeface="Calibri"/>
                        </a:rPr>
                        <a:t>0.0748</a:t>
                      </a:r>
                    </a:p>
                  </a:txBody>
                  <a:tcPr marL="73152" marR="73152" marT="36576" marB="36576" anchor="ctr">
                    <a:solidFill>
                      <a:srgbClr val="12161B"/>
                    </a:solidFill>
                  </a:tcPr>
                </a:tc>
                <a:tc>
                  <a:txBody>
                    <a:bodyPr wrap="square"/>
                    <a:lstStyle/>
                    <a:p>
                      <a:r>
                        <a:rPr sz="1250" b="0">
                          <a:solidFill>
                            <a:srgbClr val="EDEAE1"/>
                          </a:solidFill>
                          <a:latin typeface="Calibri"/>
                        </a:rPr>
                        <a:t>0.0044</a:t>
                      </a:r>
                    </a:p>
                  </a:txBody>
                  <a:tcPr marL="73152" marR="73152" marT="36576" marB="36576" anchor="ctr">
                    <a:solidFill>
                      <a:srgbClr val="12161B"/>
                    </a:solidFill>
                  </a:tcPr>
                </a:tc>
                <a:tc>
                  <a:txBody>
                    <a:bodyPr wrap="square"/>
                    <a:lstStyle/>
                    <a:p>
                      <a:r>
                        <a:rPr sz="1250" b="0">
                          <a:solidFill>
                            <a:srgbClr val="EDEAE1"/>
                          </a:solidFill>
                          <a:latin typeface="Calibri"/>
                        </a:rPr>
                        <a:t>+3.0 %</a:t>
                      </a:r>
                    </a:p>
                  </a:txBody>
                  <a:tcPr marL="73152" marR="73152" marT="36576" marB="36576" anchor="ctr">
                    <a:solidFill>
                      <a:srgbClr val="12161B"/>
                    </a:solidFill>
                  </a:tcPr>
                </a:tc>
                <a:tc>
                  <a:txBody>
                    <a:bodyPr wrap="square"/>
                    <a:lstStyle/>
                    <a:p>
                      <a:r>
                        <a:rPr sz="1250" b="0">
                          <a:solidFill>
                            <a:srgbClr val="EDEAE1"/>
                          </a:solidFill>
                          <a:latin typeface="Calibri"/>
                        </a:rPr>
                        <a:t>2.30 ± 0.67</a:t>
                      </a:r>
                    </a:p>
                  </a:txBody>
                  <a:tcPr marL="73152" marR="73152" marT="36576" marB="36576" anchor="ctr">
                    <a:solidFill>
                      <a:srgbClr val="12161B"/>
                    </a:solidFill>
                  </a:tcPr>
                </a:tc>
              </a:tr>
              <a:tr h="438912">
                <a:tc>
                  <a:txBody>
                    <a:bodyPr wrap="square"/>
                    <a:lstStyle/>
                    <a:p>
                      <a:r>
                        <a:rPr sz="1250" b="0">
                          <a:solidFill>
                            <a:srgbClr val="EDEAE1"/>
                          </a:solidFill>
                          <a:latin typeface="Calibri"/>
                        </a:rPr>
                        <a:t>Static (no change)</a:t>
                      </a:r>
                    </a:p>
                  </a:txBody>
                  <a:tcPr marL="73152" marR="73152" marT="36576" marB="36576" anchor="ctr">
                    <a:solidFill>
                      <a:srgbClr val="1E242C"/>
                    </a:solidFill>
                  </a:tcPr>
                </a:tc>
                <a:tc>
                  <a:txBody>
                    <a:bodyPr wrap="square"/>
                    <a:lstStyle/>
                    <a:p>
                      <a:r>
                        <a:rPr sz="1250" b="0">
                          <a:solidFill>
                            <a:srgbClr val="EDEAE1"/>
                          </a:solidFill>
                          <a:latin typeface="Calibri"/>
                        </a:rPr>
                        <a:t>0.0537</a:t>
                      </a:r>
                    </a:p>
                  </a:txBody>
                  <a:tcPr marL="73152" marR="73152" marT="36576" marB="36576" anchor="ctr">
                    <a:solidFill>
                      <a:srgbClr val="1E242C"/>
                    </a:solidFill>
                  </a:tcPr>
                </a:tc>
                <a:tc>
                  <a:txBody>
                    <a:bodyPr wrap="square"/>
                    <a:lstStyle/>
                    <a:p>
                      <a:r>
                        <a:rPr sz="1250" b="0">
                          <a:solidFill>
                            <a:srgbClr val="EDEAE1"/>
                          </a:solidFill>
                          <a:latin typeface="Calibri"/>
                        </a:rPr>
                        <a:t>0.0000</a:t>
                      </a:r>
                    </a:p>
                  </a:txBody>
                  <a:tcPr marL="73152" marR="73152" marT="36576" marB="36576" anchor="ctr">
                    <a:solidFill>
                      <a:srgbClr val="1E242C"/>
                    </a:solidFill>
                  </a:tcPr>
                </a:tc>
                <a:tc>
                  <a:txBody>
                    <a:bodyPr wrap="square"/>
                    <a:lstStyle/>
                    <a:p>
                      <a:r>
                        <a:rPr sz="1250" b="0">
                          <a:solidFill>
                            <a:srgbClr val="EDEAE1"/>
                          </a:solidFill>
                          <a:latin typeface="Calibri"/>
                        </a:rPr>
                        <a:t>+0.1 %</a:t>
                      </a:r>
                    </a:p>
                  </a:txBody>
                  <a:tcPr marL="73152" marR="73152" marT="36576" marB="36576" anchor="ctr">
                    <a:solidFill>
                      <a:srgbClr val="1E242C"/>
                    </a:solidFill>
                  </a:tcPr>
                </a:tc>
                <a:tc>
                  <a:txBody>
                    <a:bodyPr wrap="square"/>
                    <a:lstStyle/>
                    <a:p>
                      <a:r>
                        <a:rPr sz="1250" b="0">
                          <a:solidFill>
                            <a:srgbClr val="EDEAE1"/>
                          </a:solidFill>
                          <a:latin typeface="Calibri"/>
                        </a:rPr>
                        <a:t>—</a:t>
                      </a:r>
                    </a:p>
                  </a:txBody>
                  <a:tcPr marL="73152" marR="73152" marT="36576" marB="36576" anchor="ctr">
                    <a:solidFill>
                      <a:srgbClr val="1E242C"/>
                    </a:solidFill>
                  </a:tcPr>
                </a:tc>
              </a:tr>
              <a:tr h="438912">
                <a:tc>
                  <a:txBody>
                    <a:bodyPr wrap="square"/>
                    <a:lstStyle/>
                    <a:p>
                      <a:r>
                        <a:rPr sz="1250" b="0">
                          <a:solidFill>
                            <a:srgbClr val="EDEAE1"/>
                          </a:solidFill>
                          <a:latin typeface="Calibri"/>
                        </a:rPr>
                        <a:t>Random</a:t>
                      </a:r>
                    </a:p>
                  </a:txBody>
                  <a:tcPr marL="73152" marR="73152" marT="36576" marB="36576" anchor="ctr">
                    <a:solidFill>
                      <a:srgbClr val="12161B"/>
                    </a:solidFill>
                  </a:tcPr>
                </a:tc>
                <a:tc>
                  <a:txBody>
                    <a:bodyPr wrap="square"/>
                    <a:lstStyle/>
                    <a:p>
                      <a:r>
                        <a:rPr sz="1250" b="0">
                          <a:solidFill>
                            <a:srgbClr val="EDEAE1"/>
                          </a:solidFill>
                          <a:latin typeface="Calibri"/>
                        </a:rPr>
                        <a:t>0.0443</a:t>
                      </a:r>
                    </a:p>
                  </a:txBody>
                  <a:tcPr marL="73152" marR="73152" marT="36576" marB="36576" anchor="ctr">
                    <a:solidFill>
                      <a:srgbClr val="12161B"/>
                    </a:solidFill>
                  </a:tcPr>
                </a:tc>
                <a:tc>
                  <a:txBody>
                    <a:bodyPr wrap="square"/>
                    <a:lstStyle/>
                    <a:p>
                      <a:r>
                        <a:rPr sz="1250" b="0">
                          <a:solidFill>
                            <a:srgbClr val="EDEAE1"/>
                          </a:solidFill>
                          <a:latin typeface="Calibri"/>
                        </a:rPr>
                        <a:t>0.0026</a:t>
                      </a:r>
                    </a:p>
                  </a:txBody>
                  <a:tcPr marL="73152" marR="73152" marT="36576" marB="36576" anchor="ctr">
                    <a:solidFill>
                      <a:srgbClr val="12161B"/>
                    </a:solidFill>
                  </a:tcPr>
                </a:tc>
                <a:tc>
                  <a:txBody>
                    <a:bodyPr wrap="square"/>
                    <a:lstStyle/>
                    <a:p>
                      <a:r>
                        <a:rPr sz="1250" b="0">
                          <a:solidFill>
                            <a:srgbClr val="EDEAE1"/>
                          </a:solidFill>
                          <a:latin typeface="Calibri"/>
                        </a:rPr>
                        <a:t>-0.9 %</a:t>
                      </a:r>
                    </a:p>
                  </a:txBody>
                  <a:tcPr marL="73152" marR="73152" marT="36576" marB="36576" anchor="ctr">
                    <a:solidFill>
                      <a:srgbClr val="12161B"/>
                    </a:solidFill>
                  </a:tcPr>
                </a:tc>
                <a:tc>
                  <a:txBody>
                    <a:bodyPr wrap="square"/>
                    <a:lstStyle/>
                    <a:p>
                      <a:r>
                        <a:rPr sz="1250" b="0">
                          <a:solidFill>
                            <a:srgbClr val="EDEAE1"/>
                          </a:solidFill>
                          <a:latin typeface="Calibri"/>
                        </a:rPr>
                        <a:t>—</a:t>
                      </a:r>
                    </a:p>
                  </a:txBody>
                  <a:tcPr marL="73152" marR="73152" marT="36576" marB="36576" anchor="ctr">
                    <a:solidFill>
                      <a:srgbClr val="12161B"/>
                    </a:solidFill>
                  </a:tcPr>
                </a:tc>
              </a:tr>
              <a:tr h="438912">
                <a:tc>
                  <a:txBody>
                    <a:bodyPr wrap="square"/>
                    <a:lstStyle/>
                    <a:p>
                      <a:r>
                        <a:rPr sz="1250" b="1">
                          <a:solidFill>
                            <a:srgbClr val="5B8DEF"/>
                          </a:solidFill>
                          <a:latin typeface="Calibri"/>
                        </a:rPr>
                        <a:t>DQN</a:t>
                      </a:r>
                    </a:p>
                  </a:txBody>
                  <a:tcPr marL="73152" marR="73152" marT="36576" marB="36576" anchor="ctr">
                    <a:solidFill>
                      <a:srgbClr val="1E242C"/>
                    </a:solidFill>
                  </a:tcPr>
                </a:tc>
                <a:tc>
                  <a:txBody>
                    <a:bodyPr wrap="square"/>
                    <a:lstStyle/>
                    <a:p>
                      <a:r>
                        <a:rPr sz="1250" b="0">
                          <a:solidFill>
                            <a:srgbClr val="EDEAE1"/>
                          </a:solidFill>
                          <a:latin typeface="Calibri"/>
                        </a:rPr>
                        <a:t>0.0313</a:t>
                      </a:r>
                    </a:p>
                  </a:txBody>
                  <a:tcPr marL="73152" marR="73152" marT="36576" marB="36576" anchor="ctr">
                    <a:solidFill>
                      <a:srgbClr val="1E242C"/>
                    </a:solidFill>
                  </a:tcPr>
                </a:tc>
                <a:tc>
                  <a:txBody>
                    <a:bodyPr wrap="square"/>
                    <a:lstStyle/>
                    <a:p>
                      <a:r>
                        <a:rPr sz="1250" b="0">
                          <a:solidFill>
                            <a:srgbClr val="EDEAE1"/>
                          </a:solidFill>
                          <a:latin typeface="Calibri"/>
                        </a:rPr>
                        <a:t>0.0236</a:t>
                      </a:r>
                    </a:p>
                  </a:txBody>
                  <a:tcPr marL="73152" marR="73152" marT="36576" marB="36576" anchor="ctr">
                    <a:solidFill>
                      <a:srgbClr val="1E242C"/>
                    </a:solidFill>
                  </a:tcPr>
                </a:tc>
                <a:tc>
                  <a:txBody>
                    <a:bodyPr wrap="square"/>
                    <a:lstStyle/>
                    <a:p>
                      <a:r>
                        <a:rPr sz="1250" b="0">
                          <a:solidFill>
                            <a:srgbClr val="EDEAE1"/>
                          </a:solidFill>
                          <a:latin typeface="Calibri"/>
                        </a:rPr>
                        <a:t>-3.0 %</a:t>
                      </a:r>
                    </a:p>
                  </a:txBody>
                  <a:tcPr marL="73152" marR="73152" marT="36576" marB="36576" anchor="ctr">
                    <a:solidFill>
                      <a:srgbClr val="1E242C"/>
                    </a:solidFill>
                  </a:tcPr>
                </a:tc>
                <a:tc>
                  <a:txBody>
                    <a:bodyPr wrap="square"/>
                    <a:lstStyle/>
                    <a:p>
                      <a:r>
                        <a:rPr sz="1250" b="0">
                          <a:solidFill>
                            <a:srgbClr val="EDEAE1"/>
                          </a:solidFill>
                          <a:latin typeface="Calibri"/>
                        </a:rPr>
                        <a:t>-0.95 ± 0.80</a:t>
                      </a:r>
                    </a:p>
                  </a:txBody>
                  <a:tcPr marL="73152" marR="73152" marT="36576" marB="36576" anchor="ctr">
                    <a:solidFill>
                      <a:srgbClr val="1E242C"/>
                    </a:solidFill>
                  </a:tcPr>
                </a:tc>
              </a:tr>
            </a:tbl>
          </a:graphicData>
        </a:graphic>
      </p:graphicFrame>
      <p:sp>
        <p:nvSpPr>
          <p:cNvPr id="9" name="Rectangle 8"/>
          <p:cNvSpPr/>
          <p:nvPr/>
        </p:nvSpPr>
        <p:spPr>
          <a:xfrm>
            <a:off x="8321040" y="1463040"/>
            <a:ext cx="3322015" cy="3749039"/>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0" y="1463040"/>
            <a:ext cx="54864" cy="3749039"/>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85632" y="1554480"/>
            <a:ext cx="3047695"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HOW TO READ IT</a:t>
            </a:r>
          </a:p>
        </p:txBody>
      </p:sp>
      <p:sp>
        <p:nvSpPr>
          <p:cNvPr id="12" name="TextBox 11"/>
          <p:cNvSpPr txBox="1"/>
          <p:nvPr/>
        </p:nvSpPr>
        <p:spPr>
          <a:xfrm>
            <a:off x="8458200" y="1920240"/>
            <a:ext cx="3047695" cy="3200399"/>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Test DRCR: the reward the agents trained on, averaged per month — the report's metric</a:t>
            </a:r>
          </a:p>
          <a:p>
            <a:pPr>
              <a:lnSpc>
                <a:spcPct val="112000"/>
              </a:lnSpc>
              <a:spcAft>
                <a:spcPts val="400"/>
              </a:spcAft>
            </a:pPr>
            <a:r>
              <a:rPr sz="1200">
                <a:solidFill>
                  <a:srgbClr val="E1A339"/>
                </a:solidFill>
                <a:latin typeface="Calibri"/>
              </a:rPr>
              <a:t>• </a:t>
            </a:r>
            <a:r>
              <a:rPr sz="1200" b="0" i="0">
                <a:solidFill>
                  <a:srgbClr val="EDEAE1"/>
                </a:solidFill>
                <a:latin typeface="Calibri"/>
              </a:rPr>
              <a:t>Revenue vs. seller: total predicted revenue under the policy minus under the seller's own prices, same model, all 20 products</a:t>
            </a:r>
          </a:p>
          <a:p>
            <a:pPr>
              <a:lnSpc>
                <a:spcPct val="112000"/>
              </a:lnSpc>
              <a:spcAft>
                <a:spcPts val="400"/>
              </a:spcAft>
            </a:pPr>
            <a:r>
              <a:rPr sz="1200">
                <a:solidFill>
                  <a:srgbClr val="E1A339"/>
                </a:solidFill>
                <a:latin typeface="Calibri"/>
              </a:rPr>
              <a:t>• </a:t>
            </a:r>
            <a:r>
              <a:rPr sz="1200" b="0" i="0">
                <a:solidFill>
                  <a:srgbClr val="EDEAE1"/>
                </a:solidFill>
                <a:latin typeface="Calibri"/>
              </a:rPr>
              <a:t>Training-tail: on the 100× scale, training products, last 20 % of steps — not comparable to test DRCR</a:t>
            </a:r>
          </a:p>
          <a:p>
            <a:pPr>
              <a:lnSpc>
                <a:spcPct val="112000"/>
              </a:lnSpc>
              <a:spcAft>
                <a:spcPts val="400"/>
              </a:spcAft>
            </a:pPr>
            <a:r>
              <a:rPr sz="1200">
                <a:solidFill>
                  <a:srgbClr val="E1A339"/>
                </a:solidFill>
                <a:latin typeface="Calibri"/>
              </a:rPr>
              <a:t>• </a:t>
            </a:r>
            <a:r>
              <a:rPr sz="1200" b="0" i="0">
                <a:solidFill>
                  <a:srgbClr val="E1A339"/>
                </a:solidFill>
                <a:latin typeface="Calibri"/>
              </a:rPr>
              <a:t>Continuous &gt; bucketed, reproducing the paper's DDPG &gt; DQN. SAC's spread is 5× tighter than DDPG's.</a:t>
            </a:r>
          </a:p>
        </p:txBody>
      </p:sp>
      <p:sp>
        <p:nvSpPr>
          <p:cNvPr id="13" name="TextBox 12"/>
          <p:cNvSpPr txBox="1"/>
          <p:nvPr/>
        </p:nvSpPr>
        <p:spPr>
          <a:xfrm>
            <a:off x="548640" y="4709160"/>
            <a:ext cx="7498079" cy="548640"/>
          </a:xfrm>
          <a:prstGeom prst="rect">
            <a:avLst/>
          </a:prstGeom>
          <a:noFill/>
        </p:spPr>
        <p:txBody>
          <a:bodyPr wrap="square" anchor="t" lIns="45720" rIns="45720" tIns="27432" bIns="27432">
            <a:spAutoFit/>
          </a:bodyPr>
          <a:lstStyle/>
          <a:p>
            <a:pPr algn="l">
              <a:lnSpc>
                <a:spcPct val="115000"/>
              </a:lnSpc>
              <a:spcAft>
                <a:spcPts val="600"/>
              </a:spcAft>
            </a:pPr>
            <a:r>
              <a:rPr sz="1100" b="0" i="0">
                <a:solidFill>
                  <a:srgbClr val="5B6570"/>
                </a:solidFill>
                <a:latin typeface="Consolas"/>
              </a:rPr>
              <a:t>3 seeds × 15,000 environment steps per run · 20 held-out products · results/comparison_summary.csv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6 · RESULTS</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Held-out DRCR and cross-seed stability</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18</a:t>
            </a:r>
          </a:p>
        </p:txBody>
      </p:sp>
      <p:sp>
        <p:nvSpPr>
          <p:cNvPr id="8" name="Rectangle 7"/>
          <p:cNvSpPr/>
          <p:nvPr/>
        </p:nvSpPr>
        <p:spPr>
          <a:xfrm>
            <a:off x="539640" y="1637920"/>
            <a:ext cx="5428047" cy="3399279"/>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est_drcr_comparison.png"/>
          <p:cNvPicPr>
            <a:picLocks noChangeAspect="1"/>
          </p:cNvPicPr>
          <p:nvPr/>
        </p:nvPicPr>
        <p:blipFill>
          <a:blip r:embed="rId3"/>
          <a:stretch>
            <a:fillRect/>
          </a:stretch>
        </p:blipFill>
        <p:spPr>
          <a:xfrm>
            <a:off x="548640" y="1646920"/>
            <a:ext cx="5410047" cy="3381279"/>
          </a:xfrm>
          <a:prstGeom prst="rect">
            <a:avLst/>
          </a:prstGeom>
        </p:spPr>
      </p:pic>
      <p:sp>
        <p:nvSpPr>
          <p:cNvPr id="10" name="Rectangle 9"/>
          <p:cNvSpPr/>
          <p:nvPr/>
        </p:nvSpPr>
        <p:spPr>
          <a:xfrm>
            <a:off x="6224007" y="1637920"/>
            <a:ext cx="5428047" cy="3399279"/>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rcr_stability.png"/>
          <p:cNvPicPr>
            <a:picLocks noChangeAspect="1"/>
          </p:cNvPicPr>
          <p:nvPr/>
        </p:nvPicPr>
        <p:blipFill>
          <a:blip r:embed="rId4"/>
          <a:stretch>
            <a:fillRect/>
          </a:stretch>
        </p:blipFill>
        <p:spPr>
          <a:xfrm>
            <a:off x="6233007" y="1646920"/>
            <a:ext cx="5410047" cy="338127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6 · TRAINING</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Training behaviour: off-policy settles early, PPO is still climbing</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19</a:t>
            </a:r>
          </a:p>
        </p:txBody>
      </p:sp>
      <p:sp>
        <p:nvSpPr>
          <p:cNvPr id="8" name="Rectangle 7"/>
          <p:cNvSpPr/>
          <p:nvPr/>
        </p:nvSpPr>
        <p:spPr>
          <a:xfrm>
            <a:off x="2847888" y="1454040"/>
            <a:ext cx="6495918" cy="3858479"/>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training.png"/>
          <p:cNvPicPr>
            <a:picLocks noChangeAspect="1"/>
          </p:cNvPicPr>
          <p:nvPr/>
        </p:nvPicPr>
        <p:blipFill>
          <a:blip r:embed="rId3"/>
          <a:stretch>
            <a:fillRect/>
          </a:stretch>
        </p:blipFill>
        <p:spPr>
          <a:xfrm>
            <a:off x="2856888" y="1463040"/>
            <a:ext cx="6477918" cy="384047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6 · DASHBOARD</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Live demo: the month-by-month race</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20</a:t>
            </a:r>
          </a:p>
        </p:txBody>
      </p:sp>
      <p:sp>
        <p:nvSpPr>
          <p:cNvPr id="8" name="Rectangle 7"/>
          <p:cNvSpPr/>
          <p:nvPr/>
        </p:nvSpPr>
        <p:spPr>
          <a:xfrm>
            <a:off x="1659780" y="1454040"/>
            <a:ext cx="5458680" cy="3904200"/>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simulate.png"/>
          <p:cNvPicPr>
            <a:picLocks noChangeAspect="1"/>
          </p:cNvPicPr>
          <p:nvPr/>
        </p:nvPicPr>
        <p:blipFill>
          <a:blip r:embed="rId3"/>
          <a:stretch>
            <a:fillRect/>
          </a:stretch>
        </p:blipFill>
        <p:spPr>
          <a:xfrm>
            <a:off x="1668780" y="1463040"/>
            <a:ext cx="5440680" cy="3886200"/>
          </a:xfrm>
          <a:prstGeom prst="rect">
            <a:avLst/>
          </a:prstGeom>
        </p:spPr>
      </p:pic>
      <p:sp>
        <p:nvSpPr>
          <p:cNvPr id="10" name="Rectangle 9"/>
          <p:cNvSpPr/>
          <p:nvPr/>
        </p:nvSpPr>
        <p:spPr>
          <a:xfrm>
            <a:off x="8503919" y="1463040"/>
            <a:ext cx="3139136" cy="3886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19" y="1463040"/>
            <a:ext cx="54864" cy="388620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68511" y="1554480"/>
            <a:ext cx="2864816"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WHAT TO POINT AT</a:t>
            </a:r>
          </a:p>
        </p:txBody>
      </p:sp>
      <p:sp>
        <p:nvSpPr>
          <p:cNvPr id="13" name="TextBox 12"/>
          <p:cNvSpPr txBox="1"/>
          <p:nvPr/>
        </p:nvSpPr>
        <p:spPr>
          <a:xfrm>
            <a:off x="8641079" y="1920240"/>
            <a:ext cx="2864816" cy="333756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Watchlist: 20 held-out products, ranked</a:t>
            </a:r>
          </a:p>
          <a:p>
            <a:pPr>
              <a:lnSpc>
                <a:spcPct val="112000"/>
              </a:lnSpc>
              <a:spcAft>
                <a:spcPts val="400"/>
              </a:spcAft>
            </a:pPr>
            <a:r>
              <a:rPr sz="1200">
                <a:solidFill>
                  <a:srgbClr val="E1A339"/>
                </a:solidFill>
                <a:latin typeface="Calibri"/>
              </a:rPr>
              <a:t>• </a:t>
            </a:r>
            <a:r>
              <a:rPr sz="1200" b="0" i="0">
                <a:solidFill>
                  <a:srgbClr val="EDEAE1"/>
                </a:solidFill>
                <a:latin typeface="Calibri"/>
              </a:rPr>
              <a:t>Dashed line = the seller's actual price</a:t>
            </a:r>
          </a:p>
          <a:p>
            <a:pPr>
              <a:lnSpc>
                <a:spcPct val="112000"/>
              </a:lnSpc>
              <a:spcAft>
                <a:spcPts val="400"/>
              </a:spcAft>
            </a:pPr>
            <a:r>
              <a:rPr sz="1200">
                <a:solidFill>
                  <a:srgbClr val="E1A339"/>
                </a:solidFill>
                <a:latin typeface="Calibri"/>
              </a:rPr>
              <a:t>• </a:t>
            </a:r>
            <a:r>
              <a:rPr sz="1200" b="0" i="0">
                <a:solidFill>
                  <a:srgbClr val="EDEAE1"/>
                </a:solidFill>
                <a:latin typeface="Calibri"/>
              </a:rPr>
              <a:t>Hollow dots = the price guard was hit</a:t>
            </a:r>
          </a:p>
          <a:p>
            <a:pPr>
              <a:lnSpc>
                <a:spcPct val="112000"/>
              </a:lnSpc>
              <a:spcAft>
                <a:spcPts val="400"/>
              </a:spcAft>
            </a:pPr>
            <a:r>
              <a:rPr sz="1200">
                <a:solidFill>
                  <a:srgbClr val="E1A339"/>
                </a:solidFill>
                <a:latin typeface="Calibri"/>
              </a:rPr>
              <a:t>• </a:t>
            </a:r>
            <a:r>
              <a:rPr sz="1200" b="0" i="0">
                <a:solidFill>
                  <a:srgbClr val="EDEAE1"/>
                </a:solidFill>
                <a:latin typeface="Calibri"/>
              </a:rPr>
              <a:t>▶ Play steps month by month; stat cards are cumulative-to-date</a:t>
            </a:r>
          </a:p>
          <a:p>
            <a:pPr>
              <a:lnSpc>
                <a:spcPct val="112000"/>
              </a:lnSpc>
              <a:spcAft>
                <a:spcPts val="400"/>
              </a:spcAft>
            </a:pPr>
            <a:r>
              <a:rPr sz="1200">
                <a:solidFill>
                  <a:srgbClr val="E1A339"/>
                </a:solidFill>
                <a:latin typeface="Calibri"/>
              </a:rPr>
              <a:t>• </a:t>
            </a:r>
            <a:r>
              <a:rPr sz="1200" b="0" i="0">
                <a:solidFill>
                  <a:srgbClr val="EDEAE1"/>
                </a:solidFill>
                <a:latin typeface="Calibri"/>
              </a:rPr>
              <a:t>P0050: SAC +5.0 % vs. the seller</a:t>
            </a:r>
          </a:p>
          <a:p>
            <a:pPr>
              <a:lnSpc>
                <a:spcPct val="112000"/>
              </a:lnSpc>
              <a:spcAft>
                <a:spcPts val="400"/>
              </a:spcAft>
            </a:pPr>
            <a:r>
              <a:rPr sz="1200">
                <a:solidFill>
                  <a:srgbClr val="E1A339"/>
                </a:solidFill>
                <a:latin typeface="Calibri"/>
              </a:rPr>
              <a:t>• </a:t>
            </a:r>
            <a:r>
              <a:rPr sz="1200" b="0" i="0">
                <a:solidFill>
                  <a:srgbClr val="EDEAE1"/>
                </a:solidFill>
                <a:latin typeface="Calibri"/>
              </a:rPr>
              <a:t>Then the aggregate-uplift bars: the headline slide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6 · DASHBOARD</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Cumulative revenue gained vs. the seller (P0050, furniture)</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21</a:t>
            </a:r>
          </a:p>
        </p:txBody>
      </p:sp>
      <p:sp>
        <p:nvSpPr>
          <p:cNvPr id="8" name="Rectangle 7"/>
          <p:cNvSpPr/>
          <p:nvPr/>
        </p:nvSpPr>
        <p:spPr>
          <a:xfrm>
            <a:off x="539640" y="1721920"/>
            <a:ext cx="11112415" cy="3322719"/>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race.png"/>
          <p:cNvPicPr>
            <a:picLocks noChangeAspect="1"/>
          </p:cNvPicPr>
          <p:nvPr/>
        </p:nvPicPr>
        <p:blipFill>
          <a:blip r:embed="rId3"/>
          <a:stretch>
            <a:fillRect/>
          </a:stretch>
        </p:blipFill>
        <p:spPr>
          <a:xfrm>
            <a:off x="548640" y="1730920"/>
            <a:ext cx="11094415" cy="330471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6 · DASHBOARD</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Live demo: what the demand model believes</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22</a:t>
            </a:r>
          </a:p>
        </p:txBody>
      </p:sp>
      <p:sp>
        <p:nvSpPr>
          <p:cNvPr id="8" name="Rectangle 7"/>
          <p:cNvSpPr/>
          <p:nvPr/>
        </p:nvSpPr>
        <p:spPr>
          <a:xfrm>
            <a:off x="892505" y="1454040"/>
            <a:ext cx="6993230" cy="3904200"/>
          </a:xfrm>
          <a:prstGeom prst="rect">
            <a:avLst/>
          </a:prstGeom>
          <a:solidFill>
            <a:srgbClr val="1E242C"/>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whatif.png"/>
          <p:cNvPicPr>
            <a:picLocks noChangeAspect="1"/>
          </p:cNvPicPr>
          <p:nvPr/>
        </p:nvPicPr>
        <p:blipFill>
          <a:blip r:embed="rId3"/>
          <a:stretch>
            <a:fillRect/>
          </a:stretch>
        </p:blipFill>
        <p:spPr>
          <a:xfrm>
            <a:off x="901505" y="1463040"/>
            <a:ext cx="6975230" cy="3886200"/>
          </a:xfrm>
          <a:prstGeom prst="rect">
            <a:avLst/>
          </a:prstGeom>
        </p:spPr>
      </p:pic>
      <p:sp>
        <p:nvSpPr>
          <p:cNvPr id="10" name="Rectangle 9"/>
          <p:cNvSpPr/>
          <p:nvPr/>
        </p:nvSpPr>
        <p:spPr>
          <a:xfrm>
            <a:off x="8503919" y="1463040"/>
            <a:ext cx="3139136" cy="388620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19" y="1463040"/>
            <a:ext cx="54864" cy="388620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68511" y="1554480"/>
            <a:ext cx="2864816"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WHAT TO POINT AT</a:t>
            </a:r>
          </a:p>
        </p:txBody>
      </p:sp>
      <p:sp>
        <p:nvSpPr>
          <p:cNvPr id="13" name="TextBox 12"/>
          <p:cNvSpPr txBox="1"/>
          <p:nvPr/>
        </p:nvSpPr>
        <p:spPr>
          <a:xfrm>
            <a:off x="8641079" y="1920240"/>
            <a:ext cx="2864816" cy="333756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Drag the slider: units fall, revenue rises, DRCR updates live</a:t>
            </a:r>
          </a:p>
          <a:p>
            <a:pPr>
              <a:lnSpc>
                <a:spcPct val="112000"/>
              </a:lnSpc>
              <a:spcAft>
                <a:spcPts val="400"/>
              </a:spcAft>
            </a:pPr>
            <a:r>
              <a:rPr sz="1200">
                <a:solidFill>
                  <a:srgbClr val="E1A339"/>
                </a:solidFill>
                <a:latin typeface="Calibri"/>
              </a:rPr>
              <a:t>• </a:t>
            </a:r>
            <a:r>
              <a:rPr sz="1200" b="0" i="0">
                <a:solidFill>
                  <a:srgbClr val="EDEAE1"/>
                </a:solidFill>
                <a:latin typeface="Calibri"/>
              </a:rPr>
              <a:t>Grey dot = seller's price; coloured dots = each agent's price that month</a:t>
            </a:r>
          </a:p>
          <a:p>
            <a:pPr>
              <a:lnSpc>
                <a:spcPct val="112000"/>
              </a:lnSpc>
              <a:spcAft>
                <a:spcPts val="400"/>
              </a:spcAft>
            </a:pPr>
            <a:r>
              <a:rPr sz="1200">
                <a:solidFill>
                  <a:srgbClr val="E1A339"/>
                </a:solidFill>
                <a:latin typeface="Calibri"/>
              </a:rPr>
              <a:t>• </a:t>
            </a:r>
            <a:r>
              <a:rPr sz="1200" b="0" i="0">
                <a:solidFill>
                  <a:srgbClr val="EDEAE1"/>
                </a:solidFill>
                <a:latin typeface="Calibri"/>
              </a:rPr>
              <a:t>Shaded = outside the ±25 % per-month move</a:t>
            </a:r>
          </a:p>
          <a:p>
            <a:pPr>
              <a:lnSpc>
                <a:spcPct val="112000"/>
              </a:lnSpc>
              <a:spcAft>
                <a:spcPts val="400"/>
              </a:spcAft>
            </a:pPr>
            <a:r>
              <a:rPr sz="1200">
                <a:solidFill>
                  <a:srgbClr val="E1A339"/>
                </a:solidFill>
                <a:latin typeface="Calibri"/>
              </a:rPr>
              <a:t>• </a:t>
            </a:r>
            <a:r>
              <a:rPr sz="1200" b="0" i="0">
                <a:solidFill>
                  <a:srgbClr val="EDEAE1"/>
                </a:solidFill>
                <a:latin typeface="Calibri"/>
              </a:rPr>
              <a:t>Elasticity -0.89: inelastic → revenue keeps rising with price</a:t>
            </a:r>
          </a:p>
          <a:p>
            <a:pPr>
              <a:lnSpc>
                <a:spcPct val="112000"/>
              </a:lnSpc>
              <a:spcAft>
                <a:spcPts val="400"/>
              </a:spcAft>
            </a:pPr>
            <a:r>
              <a:rPr sz="1200">
                <a:solidFill>
                  <a:srgbClr val="E1A339"/>
                </a:solidFill>
                <a:latin typeface="Calibri"/>
              </a:rPr>
              <a:t>• </a:t>
            </a:r>
            <a:r>
              <a:rPr sz="1200" b="0" i="0">
                <a:solidFill>
                  <a:srgbClr val="EDEAE1"/>
                </a:solidFill>
                <a:latin typeface="Calibri"/>
              </a:rPr>
              <a:t>This is why the continuous agents push up to the guard</a:t>
            </a:r>
          </a:p>
          <a:p>
            <a:pPr>
              <a:lnSpc>
                <a:spcPct val="112000"/>
              </a:lnSpc>
              <a:spcAft>
                <a:spcPts val="400"/>
              </a:spcAft>
            </a:pPr>
            <a:r>
              <a:rPr sz="1200">
                <a:solidFill>
                  <a:srgbClr val="E1A339"/>
                </a:solidFill>
                <a:latin typeface="Calibri"/>
              </a:rPr>
              <a:t>• </a:t>
            </a:r>
            <a:r>
              <a:rPr sz="1200" b="0" i="0">
                <a:solidFill>
                  <a:srgbClr val="EDEAE1"/>
                </a:solidFill>
                <a:latin typeface="Calibri"/>
              </a:rPr>
              <a:t>Streamlit app runs the same query live for any product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7 · INTERPRETATION</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What the ranking supports</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23</a:t>
            </a:r>
          </a:p>
        </p:txBody>
      </p:sp>
      <p:sp>
        <p:nvSpPr>
          <p:cNvPr id="8" name="Rectangle 7"/>
          <p:cNvSpPr/>
          <p:nvPr/>
        </p:nvSpPr>
        <p:spPr>
          <a:xfrm>
            <a:off x="548640" y="1463040"/>
            <a:ext cx="3576218" cy="23774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54864" cy="237744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554480"/>
            <a:ext cx="3301898"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E1A339"/>
                </a:solidFill>
                <a:latin typeface="Consolas"/>
              </a:rPr>
              <a:t>CONTINUOUS &gt; BUCKETED</a:t>
            </a:r>
          </a:p>
        </p:txBody>
      </p:sp>
      <p:sp>
        <p:nvSpPr>
          <p:cNvPr id="11" name="TextBox 10"/>
          <p:cNvSpPr txBox="1"/>
          <p:nvPr/>
        </p:nvSpPr>
        <p:spPr>
          <a:xfrm>
            <a:off x="685800" y="1920240"/>
            <a:ext cx="3301898" cy="182880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DDPG, PPO and SAC all beat the seller by 3–4 %</a:t>
            </a:r>
          </a:p>
          <a:p>
            <a:pPr>
              <a:lnSpc>
                <a:spcPct val="112000"/>
              </a:lnSpc>
              <a:spcAft>
                <a:spcPts val="400"/>
              </a:spcAft>
            </a:pPr>
            <a:r>
              <a:rPr sz="1200">
                <a:solidFill>
                  <a:srgbClr val="E1A339"/>
                </a:solidFill>
                <a:latin typeface="Calibri"/>
              </a:rPr>
              <a:t>• </a:t>
            </a:r>
            <a:r>
              <a:rPr sz="1200" b="0" i="0">
                <a:solidFill>
                  <a:srgbClr val="EDEAE1"/>
                </a:solidFill>
                <a:latin typeface="Calibri"/>
              </a:rPr>
              <a:t>DQN's finest move is 5 % and it landed below the do-nothing baseline</a:t>
            </a:r>
          </a:p>
          <a:p>
            <a:pPr>
              <a:lnSpc>
                <a:spcPct val="112000"/>
              </a:lnSpc>
              <a:spcAft>
                <a:spcPts val="400"/>
              </a:spcAft>
            </a:pPr>
            <a:r>
              <a:rPr sz="1200">
                <a:solidFill>
                  <a:srgbClr val="E1A339"/>
                </a:solidFill>
                <a:latin typeface="Calibri"/>
              </a:rPr>
              <a:t>• </a:t>
            </a:r>
            <a:r>
              <a:rPr sz="1200" b="0" i="0">
                <a:solidFill>
                  <a:srgbClr val="EDEAE1"/>
                </a:solidFill>
                <a:latin typeface="Calibri"/>
              </a:rPr>
              <a:t>Reproduces the paper's DDPG &gt; DQN</a:t>
            </a:r>
          </a:p>
        </p:txBody>
      </p:sp>
      <p:sp>
        <p:nvSpPr>
          <p:cNvPr id="12" name="Rectangle 11"/>
          <p:cNvSpPr/>
          <p:nvPr/>
        </p:nvSpPr>
        <p:spPr>
          <a:xfrm>
            <a:off x="4307738" y="1463040"/>
            <a:ext cx="3576218" cy="23774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7738" y="1463040"/>
            <a:ext cx="54864" cy="2377440"/>
          </a:xfrm>
          <a:prstGeom prst="rect">
            <a:avLst/>
          </a:prstGeom>
          <a:solidFill>
            <a:srgbClr val="4FD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2330" y="1554480"/>
            <a:ext cx="3301898"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4FD1A5"/>
                </a:solidFill>
                <a:latin typeface="Consolas"/>
              </a:rPr>
              <a:t>SELF-TUNED EXPLORATION IS STEADIER</a:t>
            </a:r>
          </a:p>
        </p:txBody>
      </p:sp>
      <p:sp>
        <p:nvSpPr>
          <p:cNvPr id="15" name="TextBox 14"/>
          <p:cNvSpPr txBox="1"/>
          <p:nvPr/>
        </p:nvSpPr>
        <p:spPr>
          <a:xfrm>
            <a:off x="4444898" y="1920240"/>
            <a:ext cx="3301898" cy="182880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SAC and DDPG reach the same training level (2.32 vs 2.30)</a:t>
            </a:r>
          </a:p>
          <a:p>
            <a:pPr>
              <a:lnSpc>
                <a:spcPct val="112000"/>
              </a:lnSpc>
              <a:spcAft>
                <a:spcPts val="400"/>
              </a:spcAft>
            </a:pPr>
            <a:r>
              <a:rPr sz="1200">
                <a:solidFill>
                  <a:srgbClr val="E1A339"/>
                </a:solidFill>
                <a:latin typeface="Calibri"/>
              </a:rPr>
              <a:t>• </a:t>
            </a:r>
            <a:r>
              <a:rPr sz="1200" b="0" i="0">
                <a:solidFill>
                  <a:srgbClr val="EDEAE1"/>
                </a:solidFill>
                <a:latin typeface="Calibri"/>
              </a:rPr>
              <a:t>SAC's held-out spread across seeds: ±0.0009 vs DDPG ±0.0044</a:t>
            </a:r>
          </a:p>
          <a:p>
            <a:pPr>
              <a:lnSpc>
                <a:spcPct val="112000"/>
              </a:lnSpc>
              <a:spcAft>
                <a:spcPts val="400"/>
              </a:spcAft>
            </a:pPr>
            <a:r>
              <a:rPr sz="1200">
                <a:solidFill>
                  <a:srgbClr val="E1A339"/>
                </a:solidFill>
                <a:latin typeface="Calibri"/>
              </a:rPr>
              <a:t>• </a:t>
            </a:r>
            <a:r>
              <a:rPr sz="1200" b="0" i="0">
                <a:solidFill>
                  <a:srgbClr val="EDEAE1"/>
                </a:solidFill>
                <a:latin typeface="Calibri"/>
              </a:rPr>
              <a:t>No noise schedule to get wrong</a:t>
            </a:r>
          </a:p>
        </p:txBody>
      </p:sp>
      <p:sp>
        <p:nvSpPr>
          <p:cNvPr id="16" name="Rectangle 15"/>
          <p:cNvSpPr/>
          <p:nvPr/>
        </p:nvSpPr>
        <p:spPr>
          <a:xfrm>
            <a:off x="8066836" y="1463040"/>
            <a:ext cx="3576218" cy="2377440"/>
          </a:xfrm>
          <a:prstGeom prst="rect">
            <a:avLst/>
          </a:prstGeom>
          <a:solidFill>
            <a:srgbClr val="181D24"/>
          </a:solidFill>
          <a:ln w="9525">
            <a:solidFill>
              <a:srgbClr val="2B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66836" y="1463040"/>
            <a:ext cx="54864" cy="2377440"/>
          </a:xfrm>
          <a:prstGeom prst="rect">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1428" y="1554480"/>
            <a:ext cx="3301898" cy="36576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C77DFF"/>
                </a:solidFill>
                <a:latin typeface="Consolas"/>
              </a:rPr>
              <a:t>ON-POLICY COSTS SAMPLES</a:t>
            </a:r>
          </a:p>
        </p:txBody>
      </p:sp>
      <p:sp>
        <p:nvSpPr>
          <p:cNvPr id="19" name="TextBox 18"/>
          <p:cNvSpPr txBox="1"/>
          <p:nvPr/>
        </p:nvSpPr>
        <p:spPr>
          <a:xfrm>
            <a:off x="8203996" y="1920240"/>
            <a:ext cx="3301898" cy="1828800"/>
          </a:xfrm>
          <a:prstGeom prst="rect">
            <a:avLst/>
          </a:prstGeom>
          <a:noFill/>
        </p:spPr>
        <p:txBody>
          <a:bodyPr wrap="square" lIns="45720" rIns="45720">
            <a:spAutoFit/>
          </a:bodyPr>
          <a:lstStyle/>
          <a:p>
            <a:pPr>
              <a:lnSpc>
                <a:spcPct val="112000"/>
              </a:lnSpc>
              <a:spcAft>
                <a:spcPts val="400"/>
              </a:spcAft>
            </a:pPr>
            <a:r>
              <a:rPr sz="1200">
                <a:solidFill>
                  <a:srgbClr val="E1A339"/>
                </a:solidFill>
                <a:latin typeface="Calibri"/>
              </a:rPr>
              <a:t>• </a:t>
            </a:r>
            <a:r>
              <a:rPr sz="1200" b="0" i="0">
                <a:solidFill>
                  <a:srgbClr val="EDEAE1"/>
                </a:solidFill>
                <a:latin typeface="Calibri"/>
              </a:rPr>
              <a:t>PPO competitive at 0.0778 but still improving at 15k steps</a:t>
            </a:r>
          </a:p>
          <a:p>
            <a:pPr>
              <a:lnSpc>
                <a:spcPct val="112000"/>
              </a:lnSpc>
              <a:spcAft>
                <a:spcPts val="400"/>
              </a:spcAft>
            </a:pPr>
            <a:r>
              <a:rPr sz="1200">
                <a:solidFill>
                  <a:srgbClr val="E1A339"/>
                </a:solidFill>
                <a:latin typeface="Calibri"/>
              </a:rPr>
              <a:t>• </a:t>
            </a:r>
            <a:r>
              <a:rPr sz="1200" b="0" i="0">
                <a:solidFill>
                  <a:srgbClr val="EDEAE1"/>
                </a:solidFill>
                <a:latin typeface="Calibri"/>
              </a:rPr>
              <a:t>It cannot reuse data; off-policy agents settled by ~3k</a:t>
            </a:r>
          </a:p>
          <a:p>
            <a:pPr>
              <a:lnSpc>
                <a:spcPct val="112000"/>
              </a:lnSpc>
              <a:spcAft>
                <a:spcPts val="400"/>
              </a:spcAft>
            </a:pPr>
            <a:r>
              <a:rPr sz="1200">
                <a:solidFill>
                  <a:srgbClr val="E1A339"/>
                </a:solidFill>
                <a:latin typeface="Calibri"/>
              </a:rPr>
              <a:t>• </a:t>
            </a:r>
            <a:r>
              <a:rPr sz="1200" b="0" i="0">
                <a:solidFill>
                  <a:srgbClr val="EDEAE1"/>
                </a:solidFill>
                <a:latin typeface="Calibri"/>
              </a:rPr>
              <a:t>Exactly the trade-off the report predicts</a:t>
            </a:r>
          </a:p>
        </p:txBody>
      </p:sp>
      <p:sp>
        <p:nvSpPr>
          <p:cNvPr id="20" name="TextBox 19"/>
          <p:cNvSpPr txBox="1"/>
          <p:nvPr/>
        </p:nvSpPr>
        <p:spPr>
          <a:xfrm>
            <a:off x="548640" y="4114800"/>
            <a:ext cx="11094415" cy="1188720"/>
          </a:xfrm>
          <a:prstGeom prst="rect">
            <a:avLst/>
          </a:prstGeom>
          <a:noFill/>
        </p:spPr>
        <p:txBody>
          <a:bodyPr wrap="square" anchor="t" lIns="45720" rIns="45720" tIns="27432" bIns="27432">
            <a:spAutoFit/>
          </a:bodyPr>
          <a:lstStyle/>
          <a:p>
            <a:pPr algn="l">
              <a:lnSpc>
                <a:spcPct val="115000"/>
              </a:lnSpc>
              <a:spcAft>
                <a:spcPts val="600"/>
              </a:spcAft>
            </a:pPr>
            <a:r>
              <a:rPr sz="1300" b="1" i="0">
                <a:solidFill>
                  <a:srgbClr val="C4685A"/>
                </a:solidFill>
                <a:latin typeface="Calibri"/>
              </a:rPr>
              <a:t>What it does not show. </a:t>
            </a:r>
            <a:r>
              <a:rPr sz="1300" b="0" i="0">
                <a:solidFill>
                  <a:srgbClr val="8C97A3"/>
                </a:solidFill>
                <a:latin typeface="Calibri"/>
              </a:rPr>
              <a:t>That pushing prices to the guard would pay on Tmall. Inside this simulator demand is inelastic, so it is the right move; on a real market that depends on the true elasticity. The paper's 30-day field test is the evidence that RL pricing pays; this project is the evidence about which algorithm learns it best under a fair protocol.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7 · LIMITATIONS</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Caveats we state before anyone asks</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24</a:t>
            </a:r>
          </a:p>
        </p:txBody>
      </p:sp>
      <p:sp>
        <p:nvSpPr>
          <p:cNvPr id="8" name="Rectangle 7"/>
          <p:cNvSpPr/>
          <p:nvPr/>
        </p:nvSpPr>
        <p:spPr>
          <a:xfrm>
            <a:off x="548640" y="1463040"/>
            <a:ext cx="54864" cy="658368"/>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44752"/>
            <a:ext cx="393192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DQN is under-trained, not only bucket-limited</a:t>
            </a:r>
          </a:p>
        </p:txBody>
      </p:sp>
      <p:sp>
        <p:nvSpPr>
          <p:cNvPr id="10" name="TextBox 9"/>
          <p:cNvSpPr txBox="1"/>
          <p:nvPr/>
        </p:nvSpPr>
        <p:spPr>
          <a:xfrm>
            <a:off x="4754880" y="1444752"/>
            <a:ext cx="688817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ε anneals over 25,000 steps; the run gave it 15,000, so the saved checkpoint still acted randomly 43 % of the time. Seed 2 scored 0.0005. A 50k-step run removes this confound; the bucket penalty stays.</a:t>
            </a:r>
          </a:p>
        </p:txBody>
      </p:sp>
      <p:sp>
        <p:nvSpPr>
          <p:cNvPr id="11" name="Rectangle 10"/>
          <p:cNvSpPr/>
          <p:nvPr/>
        </p:nvSpPr>
        <p:spPr>
          <a:xfrm>
            <a:off x="548640" y="2212848"/>
            <a:ext cx="54864" cy="658368"/>
          </a:xfrm>
          <a:prstGeom prst="rect">
            <a:avLst/>
          </a:prstGeom>
          <a:solidFill>
            <a:srgbClr val="C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194560"/>
            <a:ext cx="393192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The agents mostly raise prices and hit the guard</a:t>
            </a:r>
          </a:p>
        </p:txBody>
      </p:sp>
      <p:sp>
        <p:nvSpPr>
          <p:cNvPr id="13" name="TextBox 12"/>
          <p:cNvSpPr txBox="1"/>
          <p:nvPr/>
        </p:nvSpPr>
        <p:spPr>
          <a:xfrm>
            <a:off x="4754880" y="2194560"/>
            <a:ext cx="688817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Fitted elasticity -0.89 is inelastic, so predicted revenue rises with price up to the 1.5× guard. Correct inside the simulator; not evidence about a real market.</a:t>
            </a:r>
          </a:p>
        </p:txBody>
      </p:sp>
      <p:sp>
        <p:nvSpPr>
          <p:cNvPr id="14" name="Rectangle 13"/>
          <p:cNvSpPr/>
          <p:nvPr/>
        </p:nvSpPr>
        <p:spPr>
          <a:xfrm>
            <a:off x="548640" y="2962656"/>
            <a:ext cx="54864" cy="658368"/>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44368"/>
            <a:ext cx="393192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The demand model under-estimates the generating elasticity</a:t>
            </a:r>
          </a:p>
        </p:txBody>
      </p:sp>
      <p:sp>
        <p:nvSpPr>
          <p:cNvPr id="16" name="TextBox 15"/>
          <p:cNvSpPr txBox="1"/>
          <p:nvPr/>
        </p:nvSpPr>
        <p:spPr>
          <a:xfrm>
            <a:off x="4754880" y="2944368"/>
            <a:ext cx="688817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Synthetic categories were built with elasticity 1.0–2.5; monthly price moves are only ~3 %, so there is little within-product variation and ridge shrinks the slope.</a:t>
            </a:r>
          </a:p>
        </p:txBody>
      </p:sp>
      <p:sp>
        <p:nvSpPr>
          <p:cNvPr id="17" name="Rectangle 16"/>
          <p:cNvSpPr/>
          <p:nvPr/>
        </p:nvSpPr>
        <p:spPr>
          <a:xfrm>
            <a:off x="548640" y="3712464"/>
            <a:ext cx="54864" cy="658368"/>
          </a:xfrm>
          <a:prstGeom prst="rect">
            <a:avLst/>
          </a:prstGeom>
          <a:solidFill>
            <a:srgbClr val="6E8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694176"/>
            <a:ext cx="393192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The data is synthetic</a:t>
            </a:r>
          </a:p>
        </p:txBody>
      </p:sp>
      <p:sp>
        <p:nvSpPr>
          <p:cNvPr id="19" name="TextBox 18"/>
          <p:cNvSpPr txBox="1"/>
          <p:nvPr/>
        </p:nvSpPr>
        <p:spPr>
          <a:xfrm>
            <a:off x="4754880" y="3694176"/>
            <a:ext cx="688817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Schema-identical to Kaggle's Retail Price Optimization with a known demand law, which is what lets the simulator be validated (R² 0.94). Real data changes every number, not the method.</a:t>
            </a:r>
          </a:p>
        </p:txBody>
      </p:sp>
      <p:sp>
        <p:nvSpPr>
          <p:cNvPr id="20" name="Rectangle 19"/>
          <p:cNvSpPr/>
          <p:nvPr/>
        </p:nvSpPr>
        <p:spPr>
          <a:xfrm>
            <a:off x="548640" y="4462272"/>
            <a:ext cx="54864" cy="658368"/>
          </a:xfrm>
          <a:prstGeom prst="rect">
            <a:avLst/>
          </a:prstGeom>
          <a:solidFill>
            <a:srgbClr val="8C9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43984"/>
            <a:ext cx="393192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20 products, 3 seeds</a:t>
            </a:r>
          </a:p>
        </p:txBody>
      </p:sp>
      <p:sp>
        <p:nvSpPr>
          <p:cNvPr id="22" name="TextBox 21"/>
          <p:cNvSpPr txBox="1"/>
          <p:nvPr/>
        </p:nvSpPr>
        <p:spPr>
          <a:xfrm>
            <a:off x="4754880" y="4443984"/>
            <a:ext cx="688817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Enough to rank, not for tight confidence intervals; the per-seed dots show the honest spread.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7 · FUTURE WORK</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Next steps</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25</a:t>
            </a:r>
          </a:p>
        </p:txBody>
      </p:sp>
      <p:sp>
        <p:nvSpPr>
          <p:cNvPr id="8" name="TextBox 7"/>
          <p:cNvSpPr txBox="1"/>
          <p:nvPr/>
        </p:nvSpPr>
        <p:spPr>
          <a:xfrm>
            <a:off x="548640" y="1463040"/>
            <a:ext cx="457200" cy="54864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E1A339"/>
                </a:solidFill>
                <a:latin typeface="Georgia"/>
              </a:rPr>
              <a:t>1</a:t>
            </a:r>
          </a:p>
        </p:txBody>
      </p:sp>
      <p:sp>
        <p:nvSpPr>
          <p:cNvPr id="9" name="TextBox 8"/>
          <p:cNvSpPr txBox="1"/>
          <p:nvPr/>
        </p:nvSpPr>
        <p:spPr>
          <a:xfrm>
            <a:off x="1005840" y="1444752"/>
            <a:ext cx="356616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Re-run at the full budget</a:t>
            </a:r>
          </a:p>
        </p:txBody>
      </p:sp>
      <p:sp>
        <p:nvSpPr>
          <p:cNvPr id="10" name="TextBox 9"/>
          <p:cNvSpPr txBox="1"/>
          <p:nvPr/>
        </p:nvSpPr>
        <p:spPr>
          <a:xfrm>
            <a:off x="4663440" y="1444752"/>
            <a:ext cx="697961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TOTAL_STEPS=50000 SEEDS="0 1 2 3 4" bash scripts/run_full_comparison.sh — lets DQN's ε schedule finish; 5 seeds for tighter intervals</a:t>
            </a:r>
          </a:p>
        </p:txBody>
      </p:sp>
      <p:sp>
        <p:nvSpPr>
          <p:cNvPr id="11" name="TextBox 10"/>
          <p:cNvSpPr txBox="1"/>
          <p:nvPr/>
        </p:nvSpPr>
        <p:spPr>
          <a:xfrm>
            <a:off x="548640" y="2212848"/>
            <a:ext cx="457200" cy="54864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4FD1A5"/>
                </a:solidFill>
                <a:latin typeface="Georgia"/>
              </a:rPr>
              <a:t>2</a:t>
            </a:r>
          </a:p>
        </p:txBody>
      </p:sp>
      <p:sp>
        <p:nvSpPr>
          <p:cNvPr id="12" name="TextBox 11"/>
          <p:cNvSpPr txBox="1"/>
          <p:nvPr/>
        </p:nvSpPr>
        <p:spPr>
          <a:xfrm>
            <a:off x="1005840" y="2194560"/>
            <a:ext cx="356616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Swap in the real Kaggle data</a:t>
            </a:r>
          </a:p>
        </p:txBody>
      </p:sp>
      <p:sp>
        <p:nvSpPr>
          <p:cNvPr id="13" name="TextBox 12"/>
          <p:cNvSpPr txBox="1"/>
          <p:nvPr/>
        </p:nvSpPr>
        <p:spPr>
          <a:xfrm>
            <a:off x="4663440" y="2194560"/>
            <a:ext cx="697961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Drop the CSV into data/raw/, refit the demand model, rerun; the pipeline is schema-driven end to end</a:t>
            </a:r>
          </a:p>
        </p:txBody>
      </p:sp>
      <p:sp>
        <p:nvSpPr>
          <p:cNvPr id="14" name="TextBox 13"/>
          <p:cNvSpPr txBox="1"/>
          <p:nvPr/>
        </p:nvSpPr>
        <p:spPr>
          <a:xfrm>
            <a:off x="548640" y="2962656"/>
            <a:ext cx="457200" cy="54864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6E8FB0"/>
                </a:solidFill>
                <a:latin typeface="Georgia"/>
              </a:rPr>
              <a:t>3</a:t>
            </a:r>
          </a:p>
        </p:txBody>
      </p:sp>
      <p:sp>
        <p:nvSpPr>
          <p:cNvPr id="15" name="TextBox 14"/>
          <p:cNvSpPr txBox="1"/>
          <p:nvPr/>
        </p:nvSpPr>
        <p:spPr>
          <a:xfrm>
            <a:off x="1005840" y="2944368"/>
            <a:ext cx="356616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Per-category elasticity</a:t>
            </a:r>
          </a:p>
        </p:txBody>
      </p:sp>
      <p:sp>
        <p:nvSpPr>
          <p:cNvPr id="16" name="TextBox 15"/>
          <p:cNvSpPr txBox="1"/>
          <p:nvPr/>
        </p:nvSpPr>
        <p:spPr>
          <a:xfrm>
            <a:off x="4663440" y="2944368"/>
            <a:ext cx="697961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Let β vary by category in the baseline; the synthetic generator already does, the fit does not yet</a:t>
            </a:r>
          </a:p>
        </p:txBody>
      </p:sp>
      <p:sp>
        <p:nvSpPr>
          <p:cNvPr id="17" name="TextBox 16"/>
          <p:cNvSpPr txBox="1"/>
          <p:nvPr/>
        </p:nvSpPr>
        <p:spPr>
          <a:xfrm>
            <a:off x="548640" y="3712464"/>
            <a:ext cx="457200" cy="54864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6E8FB0"/>
                </a:solidFill>
                <a:latin typeface="Georgia"/>
              </a:rPr>
              <a:t>4</a:t>
            </a:r>
          </a:p>
        </p:txBody>
      </p:sp>
      <p:sp>
        <p:nvSpPr>
          <p:cNvPr id="18" name="TextBox 17"/>
          <p:cNvSpPr txBox="1"/>
          <p:nvPr/>
        </p:nvSpPr>
        <p:spPr>
          <a:xfrm>
            <a:off x="1005840" y="3694176"/>
            <a:ext cx="356616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Log losses and re-plot</a:t>
            </a:r>
          </a:p>
        </p:txBody>
      </p:sp>
      <p:sp>
        <p:nvSpPr>
          <p:cNvPr id="19" name="TextBox 18"/>
          <p:cNvSpPr txBox="1"/>
          <p:nvPr/>
        </p:nvSpPr>
        <p:spPr>
          <a:xfrm>
            <a:off x="4663440" y="3694176"/>
            <a:ext cx="697961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train.py now records each agent's update metrics; the next run lights up the critic/value-loss panel automatically</a:t>
            </a:r>
          </a:p>
        </p:txBody>
      </p:sp>
      <p:sp>
        <p:nvSpPr>
          <p:cNvPr id="20" name="TextBox 19"/>
          <p:cNvSpPr txBox="1"/>
          <p:nvPr/>
        </p:nvSpPr>
        <p:spPr>
          <a:xfrm>
            <a:off x="548640" y="4462272"/>
            <a:ext cx="457200" cy="54864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C77DFF"/>
                </a:solidFill>
                <a:latin typeface="Georgia"/>
              </a:rPr>
              <a:t>5</a:t>
            </a:r>
          </a:p>
        </p:txBody>
      </p:sp>
      <p:sp>
        <p:nvSpPr>
          <p:cNvPr id="21" name="TextBox 20"/>
          <p:cNvSpPr txBox="1"/>
          <p:nvPr/>
        </p:nvSpPr>
        <p:spPr>
          <a:xfrm>
            <a:off x="1005840" y="4443984"/>
            <a:ext cx="3566160" cy="685800"/>
          </a:xfrm>
          <a:prstGeom prst="rect">
            <a:avLst/>
          </a:prstGeom>
          <a:noFill/>
        </p:spPr>
        <p:txBody>
          <a:bodyPr wrap="square" anchor="t" lIns="45720" rIns="45720" tIns="27432" bIns="27432">
            <a:spAutoFit/>
          </a:bodyPr>
          <a:lstStyle/>
          <a:p>
            <a:pPr algn="l">
              <a:lnSpc>
                <a:spcPct val="115000"/>
              </a:lnSpc>
              <a:spcAft>
                <a:spcPts val="600"/>
              </a:spcAft>
            </a:pPr>
            <a:r>
              <a:rPr sz="1400" b="1" i="0">
                <a:solidFill>
                  <a:srgbClr val="EDEAE1"/>
                </a:solidFill>
                <a:latin typeface="Calibri"/>
              </a:rPr>
              <a:t>Offline RL for cold-start products</a:t>
            </a:r>
          </a:p>
        </p:txBody>
      </p:sp>
      <p:sp>
        <p:nvSpPr>
          <p:cNvPr id="22" name="TextBox 21"/>
          <p:cNvSpPr txBox="1"/>
          <p:nvPr/>
        </p:nvSpPr>
        <p:spPr>
          <a:xfrm>
            <a:off x="4663440" y="4443984"/>
            <a:ext cx="6979615" cy="731520"/>
          </a:xfrm>
          <a:prstGeom prst="rect">
            <a:avLst/>
          </a:prstGeom>
          <a:noFill/>
        </p:spPr>
        <p:txBody>
          <a:bodyPr wrap="square" anchor="t" lIns="45720" rIns="45720" tIns="27432" bIns="27432">
            <a:spAutoFit/>
          </a:bodyPr>
          <a:lstStyle/>
          <a:p>
            <a:pPr algn="l">
              <a:lnSpc>
                <a:spcPct val="115000"/>
              </a:lnSpc>
              <a:spcAft>
                <a:spcPts val="600"/>
              </a:spcAft>
            </a:pPr>
            <a:r>
              <a:rPr sz="1200" b="0" i="0">
                <a:solidFill>
                  <a:srgbClr val="8C97A3"/>
                </a:solidFill>
                <a:latin typeface="Calibri"/>
              </a:rPr>
              <a:t>The paper pre-trains on human prices; conservative offline methods (CQL, IQL) are the modern version of that idea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SUMMARY</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Conclusion</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26</a:t>
            </a:r>
          </a:p>
        </p:txBody>
      </p:sp>
      <p:sp>
        <p:nvSpPr>
          <p:cNvPr id="8" name="TextBox 7"/>
          <p:cNvSpPr txBox="1"/>
          <p:nvPr/>
        </p:nvSpPr>
        <p:spPr>
          <a:xfrm>
            <a:off x="548640" y="1463040"/>
            <a:ext cx="11094415" cy="914400"/>
          </a:xfrm>
          <a:prstGeom prst="rect">
            <a:avLst/>
          </a:prstGeom>
          <a:noFill/>
        </p:spPr>
        <p:txBody>
          <a:bodyPr wrap="square" anchor="t" lIns="45720" rIns="45720" tIns="27432" bIns="27432">
            <a:spAutoFit/>
          </a:bodyPr>
          <a:lstStyle/>
          <a:p>
            <a:pPr algn="l">
              <a:lnSpc>
                <a:spcPct val="115000"/>
              </a:lnSpc>
              <a:spcAft>
                <a:spcPts val="600"/>
              </a:spcAft>
            </a:pPr>
            <a:r>
              <a:rPr sz="2200" b="0" i="0">
                <a:solidFill>
                  <a:srgbClr val="EDEAE1"/>
                </a:solidFill>
                <a:latin typeface="Georgia"/>
              </a:rPr>
              <a:t>Same states, same actions, same reward — only the learner changed. SAC set the best prices and did so most consistently.</a:t>
            </a:r>
          </a:p>
        </p:txBody>
      </p:sp>
      <p:sp>
        <p:nvSpPr>
          <p:cNvPr id="9" name="TextBox 8"/>
          <p:cNvSpPr txBox="1"/>
          <p:nvPr/>
        </p:nvSpPr>
        <p:spPr>
          <a:xfrm>
            <a:off x="548640" y="2560320"/>
            <a:ext cx="11094415" cy="2743200"/>
          </a:xfrm>
          <a:prstGeom prst="rect">
            <a:avLst/>
          </a:prstGeom>
          <a:noFill/>
        </p:spPr>
        <p:txBody>
          <a:bodyPr wrap="square" lIns="45720" rIns="45720">
            <a:spAutoFit/>
          </a:bodyPr>
          <a:lstStyle/>
          <a:p>
            <a:pPr>
              <a:lnSpc>
                <a:spcPct val="112000"/>
              </a:lnSpc>
              <a:spcAft>
                <a:spcPts val="800"/>
              </a:spcAft>
            </a:pPr>
            <a:r>
              <a:rPr sz="1500">
                <a:solidFill>
                  <a:srgbClr val="E1A339"/>
                </a:solidFill>
                <a:latin typeface="Calibri"/>
              </a:rPr>
              <a:t>• </a:t>
            </a:r>
            <a:r>
              <a:rPr sz="1500" b="1" i="0">
                <a:solidFill>
                  <a:srgbClr val="EDEAE1"/>
                </a:solidFill>
                <a:latin typeface="Calibri"/>
              </a:rPr>
              <a:t>Continuous pricing beats bucketed pricing</a:t>
            </a:r>
            <a:r>
              <a:rPr sz="1500" b="0" i="0">
                <a:solidFill>
                  <a:srgbClr val="8C97A3"/>
                </a:solidFill>
                <a:latin typeface="Calibri"/>
              </a:rPr>
              <a:t> — DDPG, PPO and SAC all beat the seller's own prices by 3–4 %; DQN, with 5 % steps and an unfinished exploration schedule, did not.</a:t>
            </a:r>
          </a:p>
          <a:p>
            <a:pPr>
              <a:lnSpc>
                <a:spcPct val="112000"/>
              </a:lnSpc>
              <a:spcAft>
                <a:spcPts val="800"/>
              </a:spcAft>
            </a:pPr>
            <a:r>
              <a:rPr sz="1500">
                <a:solidFill>
                  <a:srgbClr val="E1A339"/>
                </a:solidFill>
                <a:latin typeface="Calibri"/>
              </a:rPr>
              <a:t>• </a:t>
            </a:r>
            <a:r>
              <a:rPr sz="1500" b="1" i="0">
                <a:solidFill>
                  <a:srgbClr val="EDEAE1"/>
                </a:solidFill>
                <a:latin typeface="Calibri"/>
              </a:rPr>
              <a:t>Entropy-regularised exploration is the stable one</a:t>
            </a:r>
            <a:r>
              <a:rPr sz="1500" b="0" i="0">
                <a:solidFill>
                  <a:srgbClr val="8C97A3"/>
                </a:solidFill>
                <a:latin typeface="Calibri"/>
              </a:rPr>
              <a:t> — SAC matched DDPG's level with a 5× tighter spread across seeds and nothing scheduled by hand.</a:t>
            </a:r>
          </a:p>
          <a:p>
            <a:pPr>
              <a:lnSpc>
                <a:spcPct val="112000"/>
              </a:lnSpc>
              <a:spcAft>
                <a:spcPts val="800"/>
              </a:spcAft>
            </a:pPr>
            <a:r>
              <a:rPr sz="1500">
                <a:solidFill>
                  <a:srgbClr val="E1A339"/>
                </a:solidFill>
                <a:latin typeface="Calibri"/>
              </a:rPr>
              <a:t>• </a:t>
            </a:r>
            <a:r>
              <a:rPr sz="1500" b="1" i="0">
                <a:solidFill>
                  <a:srgbClr val="EDEAE1"/>
                </a:solidFill>
                <a:latin typeface="Calibri"/>
              </a:rPr>
              <a:t>On-policy robustness costs samples</a:t>
            </a:r>
            <a:r>
              <a:rPr sz="1500" b="0" i="0">
                <a:solidFill>
                  <a:srgbClr val="8C97A3"/>
                </a:solidFill>
                <a:latin typeface="Calibri"/>
              </a:rPr>
              <a:t> — PPO was competitive and still climbing when the budget ran out.</a:t>
            </a:r>
          </a:p>
          <a:p>
            <a:pPr>
              <a:lnSpc>
                <a:spcPct val="112000"/>
              </a:lnSpc>
              <a:spcAft>
                <a:spcPts val="800"/>
              </a:spcAft>
            </a:pPr>
            <a:r>
              <a:rPr sz="1500">
                <a:solidFill>
                  <a:srgbClr val="E1A339"/>
                </a:solidFill>
                <a:latin typeface="Calibri"/>
              </a:rPr>
              <a:t>• </a:t>
            </a:r>
            <a:r>
              <a:rPr sz="1500" b="1" i="0">
                <a:solidFill>
                  <a:srgbClr val="EDEAE1"/>
                </a:solidFill>
                <a:latin typeface="Calibri"/>
              </a:rPr>
              <a:t>The comparison is honest and reproducible</a:t>
            </a:r>
            <a:r>
              <a:rPr sz="1500" b="0" i="0">
                <a:solidFill>
                  <a:srgbClr val="8C97A3"/>
                </a:solidFill>
                <a:latin typeface="Calibri"/>
              </a:rPr>
              <a:t> — a validated counterfactual demand model with guard rails, held-out products, identical budgets, smoke-tested learners, and a dashboard where every number traces to a checkpoint.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274320"/>
          </a:xfrm>
          <a:prstGeom prst="rect">
            <a:avLst/>
          </a:prstGeom>
          <a:noFill/>
        </p:spPr>
        <p:txBody>
          <a:bodyPr wrap="square" anchor="t" lIns="45720" rIns="45720" tIns="27432" bIns="27432">
            <a:spAutoFit/>
          </a:bodyPr>
          <a:lstStyle/>
          <a:p>
            <a:pPr algn="l">
              <a:lnSpc>
                <a:spcPct val="115000"/>
              </a:lnSpc>
              <a:spcAft>
                <a:spcPts val="600"/>
              </a:spcAft>
            </a:pPr>
            <a:r>
              <a:rPr sz="1050" b="0" i="0">
                <a:solidFill>
                  <a:srgbClr val="E1A339"/>
                </a:solidFill>
                <a:latin typeface="Consolas"/>
              </a:rPr>
              <a:t>SOURCES</a:t>
            </a:r>
          </a:p>
        </p:txBody>
      </p:sp>
      <p:sp>
        <p:nvSpPr>
          <p:cNvPr id="4" name="TextBox 3"/>
          <p:cNvSpPr txBox="1"/>
          <p:nvPr/>
        </p:nvSpPr>
        <p:spPr>
          <a:xfrm>
            <a:off x="548640" y="548640"/>
            <a:ext cx="11094415" cy="731520"/>
          </a:xfrm>
          <a:prstGeom prst="rect">
            <a:avLst/>
          </a:prstGeom>
          <a:noFill/>
        </p:spPr>
        <p:txBody>
          <a:bodyPr wrap="square" anchor="t" lIns="45720" rIns="45720" tIns="27432" bIns="27432">
            <a:spAutoFit/>
          </a:bodyPr>
          <a:lstStyle/>
          <a:p>
            <a:pPr algn="l">
              <a:lnSpc>
                <a:spcPct val="115000"/>
              </a:lnSpc>
              <a:spcAft>
                <a:spcPts val="600"/>
              </a:spcAft>
            </a:pPr>
            <a:r>
              <a:rPr sz="2800" b="0" i="0">
                <a:solidFill>
                  <a:srgbClr val="EDEAE1"/>
                </a:solidFill>
                <a:latin typeface="Georgia"/>
              </a:rPr>
              <a:t>References</a:t>
            </a:r>
          </a:p>
        </p:txBody>
      </p:sp>
      <p:sp>
        <p:nvSpPr>
          <p:cNvPr id="5" name="Rectangle 4"/>
          <p:cNvSpPr/>
          <p:nvPr/>
        </p:nvSpPr>
        <p:spPr>
          <a:xfrm>
            <a:off x="548640" y="1261872"/>
            <a:ext cx="11094415" cy="9525"/>
          </a:xfrm>
          <a:prstGeom prst="rect">
            <a:avLst/>
          </a:prstGeom>
          <a:solidFill>
            <a:srgbClr val="2B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7" name="TextBox 6"/>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27</a:t>
            </a:r>
          </a:p>
        </p:txBody>
      </p:sp>
      <p:sp>
        <p:nvSpPr>
          <p:cNvPr id="8" name="TextBox 7"/>
          <p:cNvSpPr txBox="1"/>
          <p:nvPr/>
        </p:nvSpPr>
        <p:spPr>
          <a:xfrm>
            <a:off x="548640" y="1463040"/>
            <a:ext cx="11094415" cy="4754880"/>
          </a:xfrm>
          <a:prstGeom prst="rect">
            <a:avLst/>
          </a:prstGeom>
          <a:noFill/>
        </p:spPr>
        <p:txBody>
          <a:bodyPr wrap="square" lIns="45720" rIns="45720">
            <a:spAutoFit/>
          </a:bodyPr>
          <a:lstStyle/>
          <a:p>
            <a:pPr>
              <a:lnSpc>
                <a:spcPct val="112000"/>
              </a:lnSpc>
              <a:spcAft>
                <a:spcPts val="1000"/>
              </a:spcAft>
            </a:pPr>
            <a:r>
              <a:rPr sz="1300">
                <a:solidFill>
                  <a:srgbClr val="E1A339"/>
                </a:solidFill>
                <a:latin typeface="Calibri"/>
              </a:rPr>
              <a:t>• </a:t>
            </a:r>
            <a:r>
              <a:rPr sz="1300" b="0" i="0">
                <a:solidFill>
                  <a:srgbClr val="EDEAE1"/>
                </a:solidFill>
                <a:latin typeface="Calibri"/>
              </a:rPr>
              <a:t>Liu, J., Zhang, Y., Wang, X., Deng, Y., &amp; Wu, X. (2019). Dynamic Pricing on E-commerce Platform with Deep Reinforcement Learning: A Field Experiment. arXiv:1912.02572.</a:t>
            </a:r>
          </a:p>
          <a:p>
            <a:pPr>
              <a:lnSpc>
                <a:spcPct val="112000"/>
              </a:lnSpc>
              <a:spcAft>
                <a:spcPts val="1000"/>
              </a:spcAft>
            </a:pPr>
            <a:r>
              <a:rPr sz="1300">
                <a:solidFill>
                  <a:srgbClr val="E1A339"/>
                </a:solidFill>
                <a:latin typeface="Calibri"/>
              </a:rPr>
              <a:t>• </a:t>
            </a:r>
            <a:r>
              <a:rPr sz="1300" b="0" i="0">
                <a:solidFill>
                  <a:srgbClr val="EDEAE1"/>
                </a:solidFill>
                <a:latin typeface="Calibri"/>
              </a:rPr>
              <a:t>Mnih, V., et al. (2015). Human-level control through deep reinforcement learning. Nature, 518(7540), 529–533.</a:t>
            </a:r>
          </a:p>
          <a:p>
            <a:pPr>
              <a:lnSpc>
                <a:spcPct val="112000"/>
              </a:lnSpc>
              <a:spcAft>
                <a:spcPts val="1000"/>
              </a:spcAft>
            </a:pPr>
            <a:r>
              <a:rPr sz="1300">
                <a:solidFill>
                  <a:srgbClr val="E1A339"/>
                </a:solidFill>
                <a:latin typeface="Calibri"/>
              </a:rPr>
              <a:t>• </a:t>
            </a:r>
            <a:r>
              <a:rPr sz="1300" b="0" i="0">
                <a:solidFill>
                  <a:srgbClr val="EDEAE1"/>
                </a:solidFill>
                <a:latin typeface="Calibri"/>
              </a:rPr>
              <a:t>Lillicrap, T. P., et al. (2015). Continuous control with deep reinforcement learning. arXiv:1509.02971.</a:t>
            </a:r>
          </a:p>
          <a:p>
            <a:pPr>
              <a:lnSpc>
                <a:spcPct val="112000"/>
              </a:lnSpc>
              <a:spcAft>
                <a:spcPts val="1000"/>
              </a:spcAft>
            </a:pPr>
            <a:r>
              <a:rPr sz="1300">
                <a:solidFill>
                  <a:srgbClr val="E1A339"/>
                </a:solidFill>
                <a:latin typeface="Calibri"/>
              </a:rPr>
              <a:t>• </a:t>
            </a:r>
            <a:r>
              <a:rPr sz="1300" b="0" i="0">
                <a:solidFill>
                  <a:srgbClr val="EDEAE1"/>
                </a:solidFill>
                <a:latin typeface="Calibri"/>
              </a:rPr>
              <a:t>Schulman, J., Wolski, F., Dhariwal, P., Radford, A., &amp; Klimov, O. (2017). Proximal Policy Optimization Algorithms. arXiv:1707.06347.</a:t>
            </a:r>
          </a:p>
          <a:p>
            <a:pPr>
              <a:lnSpc>
                <a:spcPct val="112000"/>
              </a:lnSpc>
              <a:spcAft>
                <a:spcPts val="1000"/>
              </a:spcAft>
            </a:pPr>
            <a:r>
              <a:rPr sz="1300">
                <a:solidFill>
                  <a:srgbClr val="E1A339"/>
                </a:solidFill>
                <a:latin typeface="Calibri"/>
              </a:rPr>
              <a:t>• </a:t>
            </a:r>
            <a:r>
              <a:rPr sz="1300" b="0" i="0">
                <a:solidFill>
                  <a:srgbClr val="EDEAE1"/>
                </a:solidFill>
                <a:latin typeface="Calibri"/>
              </a:rPr>
              <a:t>Haarnoja, T., Zhou, A., Abbeel, P., &amp; Levine, S. (2018). Soft Actor-Critic: Off-Policy Maximum Entropy Deep RL with a Stochastic Actor. arXiv:1801.01290.</a:t>
            </a:r>
          </a:p>
          <a:p>
            <a:pPr>
              <a:lnSpc>
                <a:spcPct val="112000"/>
              </a:lnSpc>
              <a:spcAft>
                <a:spcPts val="1000"/>
              </a:spcAft>
            </a:pPr>
            <a:r>
              <a:rPr sz="1300">
                <a:solidFill>
                  <a:srgbClr val="E1A339"/>
                </a:solidFill>
                <a:latin typeface="Calibri"/>
              </a:rPr>
              <a:t>• </a:t>
            </a:r>
            <a:r>
              <a:rPr sz="1300" b="0" i="0">
                <a:solidFill>
                  <a:srgbClr val="EDEAE1"/>
                </a:solidFill>
                <a:latin typeface="Calibri"/>
              </a:rPr>
              <a:t>Sutton, R. S., &amp; Barto, A. G. (2018). Reinforcement Learning: An Introduction (2nd ed.). MIT Press.</a:t>
            </a:r>
          </a:p>
          <a:p>
            <a:pPr>
              <a:lnSpc>
                <a:spcPct val="112000"/>
              </a:lnSpc>
              <a:spcAft>
                <a:spcPts val="1000"/>
              </a:spcAft>
            </a:pPr>
            <a:r>
              <a:rPr sz="1300">
                <a:solidFill>
                  <a:srgbClr val="E1A339"/>
                </a:solidFill>
                <a:latin typeface="Calibri"/>
              </a:rPr>
              <a:t>• </a:t>
            </a:r>
            <a:r>
              <a:rPr sz="1300" b="0" i="0">
                <a:solidFill>
                  <a:srgbClr val="EDEAE1"/>
                </a:solidFill>
                <a:latin typeface="Calibri"/>
              </a:rPr>
              <a:t>Kaggle: Retail Price Optimization dataset (Olist-derived). Code and dashboard: github.com/Feliz7000/rl-dynamic-pricing-comparison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15000"/>
              </a:lnSpc>
              <a:spcAft>
                <a:spcPts val="600"/>
              </a:spcAft>
            </a:pPr>
            <a:r>
              <a:rPr sz="950" b="0" i="0">
                <a:solidFill>
                  <a:srgbClr val="5B6570"/>
                </a:solidFill>
                <a:latin typeface="Consolas"/>
              </a:rPr>
              <a:t>CSEAM731 · CIA-3 · Dynamic pricing with DQN · DDPG · PPO · SAC</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lnSpc>
                <a:spcPct val="115000"/>
              </a:lnSpc>
              <a:spcAft>
                <a:spcPts val="600"/>
              </a:spcAft>
            </a:pPr>
            <a:r>
              <a:rPr sz="950" b="0" i="0">
                <a:solidFill>
                  <a:srgbClr val="5B6570"/>
                </a:solidFill>
                <a:latin typeface="Consolas"/>
              </a:rPr>
              <a:t>28</a:t>
            </a:r>
          </a:p>
        </p:txBody>
      </p:sp>
      <p:sp>
        <p:nvSpPr>
          <p:cNvPr id="5" name="TextBox 4"/>
          <p:cNvSpPr txBox="1"/>
          <p:nvPr/>
        </p:nvSpPr>
        <p:spPr>
          <a:xfrm>
            <a:off x="548640" y="2377440"/>
            <a:ext cx="11094415" cy="1097280"/>
          </a:xfrm>
          <a:prstGeom prst="rect">
            <a:avLst/>
          </a:prstGeom>
          <a:noFill/>
        </p:spPr>
        <p:txBody>
          <a:bodyPr wrap="square" anchor="t" lIns="45720" rIns="45720" tIns="27432" bIns="27432">
            <a:spAutoFit/>
          </a:bodyPr>
          <a:lstStyle/>
          <a:p>
            <a:pPr algn="l">
              <a:lnSpc>
                <a:spcPct val="115000"/>
              </a:lnSpc>
              <a:spcAft>
                <a:spcPts val="600"/>
              </a:spcAft>
            </a:pPr>
            <a:r>
              <a:rPr sz="4400" b="0" i="0">
                <a:solidFill>
                  <a:srgbClr val="EDEAE1"/>
                </a:solidFill>
                <a:latin typeface="Georgia"/>
              </a:rPr>
              <a:t>Questions</a:t>
            </a:r>
          </a:p>
        </p:txBody>
      </p:sp>
      <p:sp>
        <p:nvSpPr>
          <p:cNvPr id="6" name="Rectangle 5"/>
          <p:cNvSpPr/>
          <p:nvPr/>
        </p:nvSpPr>
        <p:spPr>
          <a:xfrm>
            <a:off x="548640" y="3383280"/>
            <a:ext cx="1097280" cy="28000"/>
          </a:xfrm>
          <a:prstGeom prst="rect">
            <a:avLst/>
          </a:prstGeom>
          <a:solidFill>
            <a:srgbClr val="E1A3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611880"/>
            <a:ext cx="11094415" cy="2011680"/>
          </a:xfrm>
          <a:prstGeom prst="rect">
            <a:avLst/>
          </a:prstGeom>
          <a:noFill/>
        </p:spPr>
        <p:txBody>
          <a:bodyPr wrap="square" anchor="t" lIns="45720" rIns="45720" tIns="27432" bIns="27432">
            <a:spAutoFit/>
          </a:bodyPr>
          <a:lstStyle/>
          <a:p>
            <a:pPr algn="l">
              <a:lnSpc>
                <a:spcPct val="115000"/>
              </a:lnSpc>
              <a:spcAft>
                <a:spcPts val="600"/>
              </a:spcAft>
            </a:pPr>
            <a:r>
              <a:rPr sz="1500" b="0" i="0">
                <a:solidFill>
                  <a:srgbClr val="8C97A3"/>
                </a:solidFill>
                <a:latin typeface="Consolas"/>
              </a:rPr>
              <a:t>Live dashboard: docs/index.html · Live models: streamlit run app/streamlit_app.py</a:t>
            </a:r>
          </a:p>
          <a:p>
            <a:pPr algn="l">
              <a:lnSpc>
                <a:spcPct val="115000"/>
              </a:lnSpc>
              <a:spcAft>
                <a:spcPts val="600"/>
              </a:spcAft>
            </a:pPr>
            <a:r>
              <a:rPr sz="1500" b="0" i="0">
                <a:solidFill>
                  <a:srgbClr val="8C97A3"/>
                </a:solidFill>
                <a:latin typeface="Consolas"/>
              </a:rPr>
              <a:t>github.com/Feliz7000/rl-dynamic-pricing-comparison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